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the title in one breath. Then give the 30-second pitch: about 17,000 IT graduates a year, nobody can see how long THEIR search will take, so I built an explainable survival-analysis system.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17,000 IT and computing graduates a year (SLASSCOM 2024). National statistics give unemployment rates, not individual timelines. Existing tools predict a category or match jobs, and they ignore graduates who are still searching - about a quarter of mine. That is why survival analysis, which handles censoring, fits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research question comes directly from the objective of the same number. Read them briefly; the details are in the thesis section 1.4. Mention that O4 includes the benchmark against ChatGPT, because that is the question the panel will ask.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Pragmatist philosophy, deductive and quantitative. Primary data: graduate and employer questionnaires. Secondary: 324 real job ads. Sampling was purposive, convenience and snowball, because no list of all IT graduates exists; I say so as a limitation. Target from Cochran's formula was 384; I collected 1,175 graduates. Validity: 6 experts, pilot, KMO/Bartlett, parallel analysis. Reliability: Cronbach's alpha and omega.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Fixed 70/15/15 split with nobody in two parts. Models: Cox PH, Elastic Net Cox, AFT (Weibull, log-normal, log-logistic) and DeepSurv. No forests or ensembles, as the supervisor directed. The model was chosen on the validation set by a rule fixed in advance. The test set was evaluated exactly once and never re-tuned. 29.2 events per parameter, so no overfitting from too many predictors.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Uno's C of the selected AFT log-normal was 0.693 (95% CI 0.636 to 0.745) with a low integrated Brier score of 0.171. The accuracy experiments also showed that more complex models did not beat it: neural networks, boosting and a forest were all at or below it. That is why I did not tune towards a target number.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132 graduates the model never saw: Uno's C 0.619 (95% CI 0.557 to 0.683), Harrell's C 0.626. Given two graduates it ranks correctly who finds work first about 62 times in 100. The integrated Brier score was 0.167 against 0.164 for Kaplan-Meier, so the probabilities are not better than a baseline. The model under-predicts employment by up to 17 points. Likely reasons: small evaluation sets, faster hiring of later cohorts, and one reference survey date. I report this instead of re-tuning on the test set. The app therefore leads with a range and labels probabilities as indicative.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Higher GPA and more internship experience were associated with clearly shorter searches: one standard deviation more was linked with about 20 percent and 16 percent shorter searches. Institution type and degree programme showed no clear difference. Associations only, not causes. Graduates rated themselves below employers' importance ratings on 25 of 26 skills, most in cloud computing, software testing and DevOps.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graduate enters a profile. The FastAPI service loads the saved survival model and returns a survival curve, then a most likely time, a typical range and a confidence label. It explains what is helping or holding the profile back, offers what-if sliders using associational wording, compares skills with real employer ads, and has a grounded chat that answers only from the system's own results. It stores no profile. 295 automated tests pass and the code is public on GitHub. Live demo here if the panel asks.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ChatGPT was given the same anonymous profiles of the 132 test graduates. Its Uno's C was 0.539, close to chance, against 0.619 for the model; the difference was 0.081 with a 95 percent confidence interval of 0.030 to 0.131. It was over-optimistic about employment within six months and gave different answers to the same profile on repeated runs. ChatGPT is a general language model trained on web text; it was never trained on Sri Lankan graduate outcomes and cannot use people still searching. It is better at general advice and wording - this system is better at an individual, consistent, evidence-based timeline.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final-year students and graduates used the app in one-to-one sessions on 14 October. Mean SUS 76.3 (95% CI 69.5 to 83.0), against the benchmark of 68; ten of twelve scored 68 or more; Cronbach's alpha 0.90. Comments asked for less on one screen, plainer explanations and a short guide - so I added a 'How to read this result' guide, a data-source line and a collapsible chat after the study. Limitations: peers, small sample, task completion not recorded task by task. The fixes were not re-tested.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direct about these before the panel raises them. Non-probability sample, about a third from one institution. Self-reported outcome with recalled dates. One reference survey date for every response, which may overstate follow-up for graduates still searching. Small evaluation sets (about 130). Probabilities not well calibrated. Observational, so correlation only. Employer ratings cluster at 4 and 5 (68 percent), so they were used to rank skills, not as absolute levels.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the first explainable survival-analysis system that predicts when Sri Lankan IT graduates find a first IT job, triangulated with employer and job-ad data and tested against a general LLM. Close with future work: more respondents from more institutions, real per-respondent survey dates, recalibration, and testing the changed app. Then invite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Viva Sheet open. If asked for evidence: the walkthrough notebook re-runs every number; 295 tests; the public repository.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10515600" cy="2194560"/>
          </a:xfrm>
          <a:prstGeom prst="rect">
            <a:avLst/>
          </a:prstGeom>
          <a:noFill/>
        </p:spPr>
        <p:txBody>
          <a:bodyPr wrap="square" anchor="t" lIns="45720" rIns="45720">
            <a:spAutoFit/>
          </a:bodyPr>
          <a:lstStyle/>
          <a:p>
            <a:pPr algn="l"/>
            <a:r>
              <a:rPr sz="3600" b="1">
                <a:solidFill>
                  <a:srgbClr val="FFFFFF"/>
                </a:solidFill>
                <a:latin typeface="Calibri"/>
              </a:rPr>
              <a:t>A Survival-Analysis Framework for Predicting and Explaining Time-to-Employment for Final-Year IT Undergraduates in Sri Lanka</a:t>
            </a:r>
          </a:p>
        </p:txBody>
      </p:sp>
      <p:sp>
        <p:nvSpPr>
          <p:cNvPr id="4" name="TextBox 3"/>
          <p:cNvSpPr txBox="1"/>
          <p:nvPr/>
        </p:nvSpPr>
        <p:spPr>
          <a:xfrm>
            <a:off x="822960" y="4023360"/>
            <a:ext cx="10058400" cy="457200"/>
          </a:xfrm>
          <a:prstGeom prst="rect">
            <a:avLst/>
          </a:prstGeom>
          <a:noFill/>
        </p:spPr>
        <p:txBody>
          <a:bodyPr wrap="square" anchor="t" lIns="45720" rIns="45720">
            <a:spAutoFit/>
          </a:bodyPr>
          <a:lstStyle/>
          <a:p>
            <a:pPr algn="l"/>
            <a:r>
              <a:rPr sz="2400" b="1">
                <a:solidFill>
                  <a:srgbClr val="86B6EF"/>
                </a:solidFill>
                <a:latin typeface="Calibri"/>
              </a:rPr>
              <a:t>M.S.F. Shazna</a:t>
            </a:r>
          </a:p>
        </p:txBody>
      </p:sp>
      <p:sp>
        <p:nvSpPr>
          <p:cNvPr id="5" name="TextBox 4"/>
          <p:cNvSpPr txBox="1"/>
          <p:nvPr/>
        </p:nvSpPr>
        <p:spPr>
          <a:xfrm>
            <a:off x="822960" y="4526280"/>
            <a:ext cx="10058400" cy="822960"/>
          </a:xfrm>
          <a:prstGeom prst="rect">
            <a:avLst/>
          </a:prstGeom>
          <a:noFill/>
        </p:spPr>
        <p:txBody>
          <a:bodyPr wrap="square" anchor="t" lIns="45720" rIns="45720">
            <a:spAutoFit/>
          </a:bodyPr>
          <a:lstStyle/>
          <a:p>
            <a:pPr algn="l"/>
            <a:r>
              <a:rPr sz="1800" b="0">
                <a:solidFill>
                  <a:srgbClr val="FFFFFF"/>
                </a:solidFill>
                <a:latin typeface="Calibri"/>
              </a:rPr>
              <a:t>NIBM · Coventry University
Supervisor: L. S. Chathurika · School of Computing and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D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777240"/>
          </a:xfrm>
          <a:prstGeom prst="rect">
            <a:avLst/>
          </a:prstGeom>
          <a:noFill/>
        </p:spPr>
        <p:txBody>
          <a:bodyPr wrap="square" anchor="ctr" lIns="45720" rIns="45720">
            <a:spAutoFit/>
          </a:bodyPr>
          <a:lstStyle/>
          <a:p>
            <a:pPr algn="l"/>
            <a:r>
              <a:rPr sz="3000" b="1">
                <a:solidFill>
                  <a:srgbClr val="FFFFFF"/>
                </a:solidFill>
                <a:latin typeface="Calibri"/>
              </a:rPr>
              <a:t>The problem: no graduate can see how long their own search will take</a:t>
            </a:r>
          </a:p>
        </p:txBody>
      </p:sp>
      <p:sp>
        <p:nvSpPr>
          <p:cNvPr id="4" name="TextBox 3"/>
          <p:cNvSpPr txBox="1"/>
          <p:nvPr/>
        </p:nvSpPr>
        <p:spPr>
          <a:xfrm>
            <a:off x="11155680" y="6446520"/>
            <a:ext cx="914400" cy="320040"/>
          </a:xfrm>
          <a:prstGeom prst="rect">
            <a:avLst/>
          </a:prstGeom>
          <a:noFill/>
        </p:spPr>
        <p:txBody>
          <a:bodyPr wrap="square" anchor="t" lIns="45720" rIns="45720">
            <a:spAutoFit/>
          </a:bodyPr>
          <a:lstStyle/>
          <a:p>
            <a:pPr algn="r"/>
            <a:r>
              <a:rPr sz="1200" b="0">
                <a:solidFill>
                  <a:srgbClr val="555555"/>
                </a:solidFill>
                <a:latin typeface="Calibri"/>
              </a:rPr>
              <a:t>2</a:t>
            </a:r>
          </a:p>
        </p:txBody>
      </p:sp>
      <p:sp>
        <p:nvSpPr>
          <p:cNvPr id="5" name="Rounded Rectangle 4"/>
          <p:cNvSpPr/>
          <p:nvPr/>
        </p:nvSpPr>
        <p:spPr>
          <a:xfrm>
            <a:off x="548640" y="1371600"/>
            <a:ext cx="3566160" cy="1920240"/>
          </a:xfrm>
          <a:prstGeom prst="roundRect">
            <a:avLst>
              <a:gd name="adj" fmla="val 8000"/>
            </a:avLst>
          </a:prstGeom>
          <a:solidFill>
            <a:srgbClr val="EEF3FA"/>
          </a:solidFill>
          <a:ln>
            <a:solidFill>
              <a:srgbClr val="C9D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81328"/>
            <a:ext cx="3566160" cy="731520"/>
          </a:xfrm>
          <a:prstGeom prst="rect">
            <a:avLst/>
          </a:prstGeom>
          <a:noFill/>
        </p:spPr>
        <p:txBody>
          <a:bodyPr wrap="square" anchor="t" lIns="45720" rIns="45720">
            <a:spAutoFit/>
          </a:bodyPr>
          <a:lstStyle/>
          <a:p>
            <a:pPr algn="ctr"/>
            <a:r>
              <a:rPr sz="3400" b="1">
                <a:solidFill>
                  <a:srgbClr val="2A78D6"/>
                </a:solidFill>
                <a:latin typeface="Calibri"/>
              </a:rPr>
              <a:t>17,000</a:t>
            </a:r>
          </a:p>
        </p:txBody>
      </p:sp>
      <p:sp>
        <p:nvSpPr>
          <p:cNvPr id="7" name="TextBox 6"/>
          <p:cNvSpPr txBox="1"/>
          <p:nvPr/>
        </p:nvSpPr>
        <p:spPr>
          <a:xfrm>
            <a:off x="640080" y="2240280"/>
            <a:ext cx="3383280" cy="1005840"/>
          </a:xfrm>
          <a:prstGeom prst="rect">
            <a:avLst/>
          </a:prstGeom>
          <a:noFill/>
        </p:spPr>
        <p:txBody>
          <a:bodyPr wrap="square" anchor="t" lIns="45720" rIns="45720">
            <a:spAutoFit/>
          </a:bodyPr>
          <a:lstStyle/>
          <a:p>
            <a:pPr algn="ctr"/>
            <a:r>
              <a:rPr sz="1500" b="0">
                <a:solidFill>
                  <a:srgbClr val="111111"/>
                </a:solidFill>
                <a:latin typeface="Calibri"/>
              </a:rPr>
              <a:t>IT graduates a year in Sri Lanka</a:t>
            </a:r>
          </a:p>
        </p:txBody>
      </p:sp>
      <p:sp>
        <p:nvSpPr>
          <p:cNvPr id="8" name="Rounded Rectangle 7"/>
          <p:cNvSpPr/>
          <p:nvPr/>
        </p:nvSpPr>
        <p:spPr>
          <a:xfrm>
            <a:off x="4297680" y="1371600"/>
            <a:ext cx="3566160" cy="1920240"/>
          </a:xfrm>
          <a:prstGeom prst="roundRect">
            <a:avLst>
              <a:gd name="adj" fmla="val 8000"/>
            </a:avLst>
          </a:prstGeom>
          <a:solidFill>
            <a:srgbClr val="EEF3FA"/>
          </a:solidFill>
          <a:ln>
            <a:solidFill>
              <a:srgbClr val="C9D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0" y="1481328"/>
            <a:ext cx="3566160" cy="731520"/>
          </a:xfrm>
          <a:prstGeom prst="rect">
            <a:avLst/>
          </a:prstGeom>
          <a:noFill/>
        </p:spPr>
        <p:txBody>
          <a:bodyPr wrap="square" anchor="t" lIns="45720" rIns="45720">
            <a:spAutoFit/>
          </a:bodyPr>
          <a:lstStyle/>
          <a:p>
            <a:pPr algn="ctr"/>
            <a:r>
              <a:rPr sz="3400" b="1">
                <a:solidFill>
                  <a:srgbClr val="EB6834"/>
                </a:solidFill>
                <a:latin typeface="Calibri"/>
              </a:rPr>
              <a:t>1 in 4</a:t>
            </a:r>
          </a:p>
        </p:txBody>
      </p:sp>
      <p:sp>
        <p:nvSpPr>
          <p:cNvPr id="10" name="TextBox 9"/>
          <p:cNvSpPr txBox="1"/>
          <p:nvPr/>
        </p:nvSpPr>
        <p:spPr>
          <a:xfrm>
            <a:off x="4389120" y="2240280"/>
            <a:ext cx="3383280" cy="1005840"/>
          </a:xfrm>
          <a:prstGeom prst="rect">
            <a:avLst/>
          </a:prstGeom>
          <a:noFill/>
        </p:spPr>
        <p:txBody>
          <a:bodyPr wrap="square" anchor="t" lIns="45720" rIns="45720">
            <a:spAutoFit/>
          </a:bodyPr>
          <a:lstStyle/>
          <a:p>
            <a:pPr algn="ctr"/>
            <a:r>
              <a:rPr sz="1500" b="0">
                <a:solidFill>
                  <a:srgbClr val="111111"/>
                </a:solidFill>
                <a:latin typeface="Calibri"/>
              </a:rPr>
              <a:t>still searching at the survey: 'censored', not 'failed'</a:t>
            </a:r>
          </a:p>
        </p:txBody>
      </p:sp>
      <p:sp>
        <p:nvSpPr>
          <p:cNvPr id="11" name="Rounded Rectangle 10"/>
          <p:cNvSpPr/>
          <p:nvPr/>
        </p:nvSpPr>
        <p:spPr>
          <a:xfrm>
            <a:off x="8046720" y="1371600"/>
            <a:ext cx="3566160" cy="1920240"/>
          </a:xfrm>
          <a:prstGeom prst="roundRect">
            <a:avLst>
              <a:gd name="adj" fmla="val 8000"/>
            </a:avLst>
          </a:prstGeom>
          <a:solidFill>
            <a:srgbClr val="EEF3FA"/>
          </a:solidFill>
          <a:ln>
            <a:solidFill>
              <a:srgbClr val="C9D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0" y="1481328"/>
            <a:ext cx="3566160" cy="731520"/>
          </a:xfrm>
          <a:prstGeom prst="rect">
            <a:avLst/>
          </a:prstGeom>
          <a:noFill/>
        </p:spPr>
        <p:txBody>
          <a:bodyPr wrap="square" anchor="t" lIns="45720" rIns="45720">
            <a:spAutoFit/>
          </a:bodyPr>
          <a:lstStyle/>
          <a:p>
            <a:pPr algn="ctr"/>
            <a:r>
              <a:rPr sz="3400" b="1">
                <a:solidFill>
                  <a:srgbClr val="2A78D6"/>
                </a:solidFill>
                <a:latin typeface="Calibri"/>
              </a:rPr>
              <a:t>None found</a:t>
            </a:r>
          </a:p>
        </p:txBody>
      </p:sp>
      <p:sp>
        <p:nvSpPr>
          <p:cNvPr id="13" name="TextBox 12"/>
          <p:cNvSpPr txBox="1"/>
          <p:nvPr/>
        </p:nvSpPr>
        <p:spPr>
          <a:xfrm>
            <a:off x="8138160" y="2240280"/>
            <a:ext cx="3383280" cy="1005840"/>
          </a:xfrm>
          <a:prstGeom prst="rect">
            <a:avLst/>
          </a:prstGeom>
          <a:noFill/>
        </p:spPr>
        <p:txBody>
          <a:bodyPr wrap="square" anchor="t" lIns="45720" rIns="45720">
            <a:spAutoFit/>
          </a:bodyPr>
          <a:lstStyle/>
          <a:p>
            <a:pPr algn="ctr"/>
            <a:r>
              <a:rPr sz="1500" b="0">
                <a:solidFill>
                  <a:srgbClr val="111111"/>
                </a:solidFill>
                <a:latin typeface="Calibri"/>
              </a:rPr>
              <a:t>in the literature review: a tool estimating WHEN a Sri Lankan IT graduate finds a first IT job</a:t>
            </a:r>
          </a:p>
        </p:txBody>
      </p:sp>
      <p:sp>
        <p:nvSpPr>
          <p:cNvPr id="14" name="TextBox 13"/>
          <p:cNvSpPr txBox="1"/>
          <p:nvPr/>
        </p:nvSpPr>
        <p:spPr>
          <a:xfrm>
            <a:off x="548640" y="3657600"/>
            <a:ext cx="11155680" cy="2743200"/>
          </a:xfrm>
          <a:prstGeom prst="rect">
            <a:avLst/>
          </a:prstGeom>
          <a:noFill/>
        </p:spPr>
        <p:txBody>
          <a:bodyPr wrap="square">
            <a:spAutoFit/>
          </a:bodyPr>
          <a:lstStyle/>
          <a:p>
            <a:pPr>
              <a:spcAft>
                <a:spcPts val="1000"/>
              </a:spcAft>
            </a:pPr>
            <a:r>
              <a:rPr sz="2200">
                <a:solidFill>
                  <a:srgbClr val="2A78D6"/>
                </a:solidFill>
                <a:latin typeface="Calibri"/>
              </a:rPr>
              <a:t>•  </a:t>
            </a:r>
            <a:r>
              <a:rPr b="1" sz="2200">
                <a:solidFill>
                  <a:srgbClr val="111111"/>
                </a:solidFill>
                <a:latin typeface="Calibri"/>
              </a:rPr>
              <a:t>Gap</a:t>
            </a:r>
            <a:r>
              <a:rPr sz="2200">
                <a:solidFill>
                  <a:srgbClr val="111111"/>
                </a:solidFill>
                <a:latin typeface="Calibri"/>
              </a:rPr>
              <a:t>: existing tools classify or match jobs, and discard graduates who are still searching</a:t>
            </a:r>
          </a:p>
          <a:p>
            <a:pPr>
              <a:spcAft>
                <a:spcPts val="1000"/>
              </a:spcAft>
            </a:pPr>
            <a:r>
              <a:rPr sz="2200">
                <a:solidFill>
                  <a:srgbClr val="2A78D6"/>
                </a:solidFill>
                <a:latin typeface="Calibri"/>
              </a:rPr>
              <a:t>•  </a:t>
            </a:r>
            <a:r>
              <a:rPr b="1" sz="2200">
                <a:solidFill>
                  <a:srgbClr val="111111"/>
                </a:solidFill>
                <a:latin typeface="Calibri"/>
              </a:rPr>
              <a:t>Why survival analysis</a:t>
            </a:r>
            <a:r>
              <a:rPr sz="2200">
                <a:solidFill>
                  <a:srgbClr val="111111"/>
                </a:solidFill>
                <a:latin typeface="Calibri"/>
              </a:rPr>
              <a:t>: it estimates when, and uses people who have not yet found a job</a:t>
            </a:r>
          </a:p>
          <a:p>
            <a:pPr>
              <a:spcAft>
                <a:spcPts val="1000"/>
              </a:spcAft>
            </a:pPr>
            <a:r>
              <a:rPr sz="2200">
                <a:solidFill>
                  <a:srgbClr val="2A78D6"/>
                </a:solidFill>
                <a:latin typeface="Calibri"/>
              </a:rPr>
              <a:t>•  </a:t>
            </a:r>
            <a:r>
              <a:rPr b="1" sz="2200">
                <a:solidFill>
                  <a:srgbClr val="111111"/>
                </a:solidFill>
                <a:latin typeface="Calibri"/>
              </a:rPr>
              <a:t>What was missing</a:t>
            </a:r>
            <a:r>
              <a:rPr sz="2200">
                <a:solidFill>
                  <a:srgbClr val="111111"/>
                </a:solidFill>
                <a:latin typeface="Calibri"/>
              </a:rPr>
              <a:t>: individual explanations, linked to what employers actually advertise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D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777240"/>
          </a:xfrm>
          <a:prstGeom prst="rect">
            <a:avLst/>
          </a:prstGeom>
          <a:noFill/>
        </p:spPr>
        <p:txBody>
          <a:bodyPr wrap="square" anchor="ctr" lIns="45720" rIns="45720">
            <a:spAutoFit/>
          </a:bodyPr>
          <a:lstStyle/>
          <a:p>
            <a:pPr algn="l"/>
            <a:r>
              <a:rPr sz="3000" b="1">
                <a:solidFill>
                  <a:srgbClr val="FFFFFF"/>
                </a:solidFill>
                <a:latin typeface="Calibri"/>
              </a:rPr>
              <a:t>Objectives and research questions</a:t>
            </a:r>
          </a:p>
        </p:txBody>
      </p:sp>
      <p:sp>
        <p:nvSpPr>
          <p:cNvPr id="4" name="TextBox 3"/>
          <p:cNvSpPr txBox="1"/>
          <p:nvPr/>
        </p:nvSpPr>
        <p:spPr>
          <a:xfrm>
            <a:off x="11155680" y="6446520"/>
            <a:ext cx="914400" cy="320040"/>
          </a:xfrm>
          <a:prstGeom prst="rect">
            <a:avLst/>
          </a:prstGeom>
          <a:noFill/>
        </p:spPr>
        <p:txBody>
          <a:bodyPr wrap="square" anchor="t" lIns="45720" rIns="45720">
            <a:spAutoFit/>
          </a:bodyPr>
          <a:lstStyle/>
          <a:p>
            <a:pPr algn="r"/>
            <a:r>
              <a:rPr sz="1200" b="0">
                <a:solidFill>
                  <a:srgbClr val="555555"/>
                </a:solidFill>
                <a:latin typeface="Calibri"/>
              </a:rPr>
              <a:t>3</a:t>
            </a:r>
          </a:p>
        </p:txBody>
      </p:sp>
      <p:sp>
        <p:nvSpPr>
          <p:cNvPr id="5" name="Rounded Rectangle 4"/>
          <p:cNvSpPr/>
          <p:nvPr/>
        </p:nvSpPr>
        <p:spPr>
          <a:xfrm>
            <a:off x="548640" y="1325880"/>
            <a:ext cx="2011680" cy="1005840"/>
          </a:xfrm>
          <a:prstGeom prst="roundRect">
            <a:avLst>
              <a:gd name="adj" fmla="val 12000"/>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25880"/>
            <a:ext cx="2011680" cy="1005840"/>
          </a:xfrm>
          <a:prstGeom prst="rect">
            <a:avLst/>
          </a:prstGeom>
          <a:noFill/>
        </p:spPr>
        <p:txBody>
          <a:bodyPr wrap="square" anchor="ctr" lIns="45720" rIns="45720">
            <a:spAutoFit/>
          </a:bodyPr>
          <a:lstStyle/>
          <a:p>
            <a:pPr algn="ctr"/>
            <a:r>
              <a:rPr sz="2200" b="1">
                <a:solidFill>
                  <a:srgbClr val="FFFFFF"/>
                </a:solidFill>
                <a:latin typeface="Calibri"/>
              </a:rPr>
              <a:t>O1 / RQ1</a:t>
            </a:r>
          </a:p>
        </p:txBody>
      </p:sp>
      <p:sp>
        <p:nvSpPr>
          <p:cNvPr id="7" name="TextBox 6"/>
          <p:cNvSpPr txBox="1"/>
          <p:nvPr/>
        </p:nvSpPr>
        <p:spPr>
          <a:xfrm>
            <a:off x="2743200" y="1325880"/>
            <a:ext cx="8961120" cy="1005840"/>
          </a:xfrm>
          <a:prstGeom prst="rect">
            <a:avLst/>
          </a:prstGeom>
          <a:noFill/>
        </p:spPr>
        <p:txBody>
          <a:bodyPr wrap="square" anchor="ctr" lIns="45720" rIns="45720">
            <a:spAutoFit/>
          </a:bodyPr>
          <a:lstStyle/>
          <a:p>
            <a:pPr algn="l"/>
            <a:r>
              <a:rPr sz="2200" b="0">
                <a:solidFill>
                  <a:srgbClr val="111111"/>
                </a:solidFill>
                <a:latin typeface="Calibri"/>
              </a:rPr>
              <a:t>Which factors are associated with time to employment?</a:t>
            </a:r>
          </a:p>
        </p:txBody>
      </p:sp>
      <p:sp>
        <p:nvSpPr>
          <p:cNvPr id="8" name="Rounded Rectangle 7"/>
          <p:cNvSpPr/>
          <p:nvPr/>
        </p:nvSpPr>
        <p:spPr>
          <a:xfrm>
            <a:off x="548640" y="2560320"/>
            <a:ext cx="2011680" cy="1005840"/>
          </a:xfrm>
          <a:prstGeom prst="roundRect">
            <a:avLst>
              <a:gd name="adj" fmla="val 12000"/>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560320"/>
            <a:ext cx="2011680" cy="1005840"/>
          </a:xfrm>
          <a:prstGeom prst="rect">
            <a:avLst/>
          </a:prstGeom>
          <a:noFill/>
        </p:spPr>
        <p:txBody>
          <a:bodyPr wrap="square" anchor="ctr" lIns="45720" rIns="45720">
            <a:spAutoFit/>
          </a:bodyPr>
          <a:lstStyle/>
          <a:p>
            <a:pPr algn="ctr"/>
            <a:r>
              <a:rPr sz="2200" b="1">
                <a:solidFill>
                  <a:srgbClr val="FFFFFF"/>
                </a:solidFill>
                <a:latin typeface="Calibri"/>
              </a:rPr>
              <a:t>O2 / RQ2</a:t>
            </a:r>
          </a:p>
        </p:txBody>
      </p:sp>
      <p:sp>
        <p:nvSpPr>
          <p:cNvPr id="10" name="TextBox 9"/>
          <p:cNvSpPr txBox="1"/>
          <p:nvPr/>
        </p:nvSpPr>
        <p:spPr>
          <a:xfrm>
            <a:off x="2743200" y="2560320"/>
            <a:ext cx="8961120" cy="1005840"/>
          </a:xfrm>
          <a:prstGeom prst="rect">
            <a:avLst/>
          </a:prstGeom>
          <a:noFill/>
        </p:spPr>
        <p:txBody>
          <a:bodyPr wrap="square" anchor="ctr" lIns="45720" rIns="45720">
            <a:spAutoFit/>
          </a:bodyPr>
          <a:lstStyle/>
          <a:p>
            <a:pPr algn="l"/>
            <a:r>
              <a:rPr sz="2200" b="0">
                <a:solidFill>
                  <a:srgbClr val="111111"/>
                </a:solidFill>
                <a:latin typeface="Calibri"/>
              </a:rPr>
              <a:t>How well do profiles align with employer requirements and job-market demand?</a:t>
            </a:r>
          </a:p>
        </p:txBody>
      </p:sp>
      <p:sp>
        <p:nvSpPr>
          <p:cNvPr id="11" name="Rounded Rectangle 10"/>
          <p:cNvSpPr/>
          <p:nvPr/>
        </p:nvSpPr>
        <p:spPr>
          <a:xfrm>
            <a:off x="548640" y="3794760"/>
            <a:ext cx="2011680" cy="1005840"/>
          </a:xfrm>
          <a:prstGeom prst="roundRect">
            <a:avLst>
              <a:gd name="adj" fmla="val 12000"/>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794760"/>
            <a:ext cx="2011680" cy="1005840"/>
          </a:xfrm>
          <a:prstGeom prst="rect">
            <a:avLst/>
          </a:prstGeom>
          <a:noFill/>
        </p:spPr>
        <p:txBody>
          <a:bodyPr wrap="square" anchor="ctr" lIns="45720" rIns="45720">
            <a:spAutoFit/>
          </a:bodyPr>
          <a:lstStyle/>
          <a:p>
            <a:pPr algn="ctr"/>
            <a:r>
              <a:rPr sz="2200" b="1">
                <a:solidFill>
                  <a:srgbClr val="FFFFFF"/>
                </a:solidFill>
                <a:latin typeface="Calibri"/>
              </a:rPr>
              <a:t>O3 / RQ3</a:t>
            </a:r>
          </a:p>
        </p:txBody>
      </p:sp>
      <p:sp>
        <p:nvSpPr>
          <p:cNvPr id="13" name="TextBox 12"/>
          <p:cNvSpPr txBox="1"/>
          <p:nvPr/>
        </p:nvSpPr>
        <p:spPr>
          <a:xfrm>
            <a:off x="2743200" y="3794760"/>
            <a:ext cx="8961120" cy="1005840"/>
          </a:xfrm>
          <a:prstGeom prst="rect">
            <a:avLst/>
          </a:prstGeom>
          <a:noFill/>
        </p:spPr>
        <p:txBody>
          <a:bodyPr wrap="square" anchor="ctr" lIns="45720" rIns="45720">
            <a:spAutoFit/>
          </a:bodyPr>
          <a:lstStyle/>
          <a:p>
            <a:pPr algn="l"/>
            <a:r>
              <a:rPr sz="2200" b="0">
                <a:solidFill>
                  <a:srgbClr val="111111"/>
                </a:solidFill>
                <a:latin typeface="Calibri"/>
              </a:rPr>
              <a:t>How accurately can a survival-analysis framework predict time to employment, and how do the models compare?</a:t>
            </a:r>
          </a:p>
        </p:txBody>
      </p:sp>
      <p:sp>
        <p:nvSpPr>
          <p:cNvPr id="14" name="Rounded Rectangle 13"/>
          <p:cNvSpPr/>
          <p:nvPr/>
        </p:nvSpPr>
        <p:spPr>
          <a:xfrm>
            <a:off x="548640" y="5029200"/>
            <a:ext cx="2011680" cy="1005840"/>
          </a:xfrm>
          <a:prstGeom prst="roundRect">
            <a:avLst>
              <a:gd name="adj" fmla="val 12000"/>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5029200"/>
            <a:ext cx="2011680" cy="1005840"/>
          </a:xfrm>
          <a:prstGeom prst="rect">
            <a:avLst/>
          </a:prstGeom>
          <a:noFill/>
        </p:spPr>
        <p:txBody>
          <a:bodyPr wrap="square" anchor="ctr" lIns="45720" rIns="45720">
            <a:spAutoFit/>
          </a:bodyPr>
          <a:lstStyle/>
          <a:p>
            <a:pPr algn="ctr"/>
            <a:r>
              <a:rPr sz="2200" b="1">
                <a:solidFill>
                  <a:srgbClr val="FFFFFF"/>
                </a:solidFill>
                <a:latin typeface="Calibri"/>
              </a:rPr>
              <a:t>O4 / RQ4</a:t>
            </a:r>
          </a:p>
        </p:txBody>
      </p:sp>
      <p:sp>
        <p:nvSpPr>
          <p:cNvPr id="16" name="TextBox 15"/>
          <p:cNvSpPr txBox="1"/>
          <p:nvPr/>
        </p:nvSpPr>
        <p:spPr>
          <a:xfrm>
            <a:off x="2743200" y="5029200"/>
            <a:ext cx="8961120" cy="1005840"/>
          </a:xfrm>
          <a:prstGeom prst="rect">
            <a:avLst/>
          </a:prstGeom>
          <a:noFill/>
        </p:spPr>
        <p:txBody>
          <a:bodyPr wrap="square" anchor="ctr" lIns="45720" rIns="45720">
            <a:spAutoFit/>
          </a:bodyPr>
          <a:lstStyle/>
          <a:p>
            <a:pPr algn="l"/>
            <a:r>
              <a:rPr sz="2200" b="0">
                <a:solidFill>
                  <a:srgbClr val="111111"/>
                </a:solidFill>
                <a:latin typeface="Calibri"/>
              </a:rPr>
              <a:t>Does the prototype give accurate, explainable, actionable guidance (usability and a benchmark against a general LLM)?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D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777240"/>
          </a:xfrm>
          <a:prstGeom prst="rect">
            <a:avLst/>
          </a:prstGeom>
          <a:noFill/>
        </p:spPr>
        <p:txBody>
          <a:bodyPr wrap="square" anchor="ctr" lIns="45720" rIns="45720">
            <a:spAutoFit/>
          </a:bodyPr>
          <a:lstStyle/>
          <a:p>
            <a:pPr algn="l"/>
            <a:r>
              <a:rPr sz="3000" b="1">
                <a:solidFill>
                  <a:srgbClr val="FFFFFF"/>
                </a:solidFill>
                <a:latin typeface="Calibri"/>
              </a:rPr>
              <a:t>Method: three data sources, a pre-set evaluation design</a:t>
            </a:r>
          </a:p>
        </p:txBody>
      </p:sp>
      <p:sp>
        <p:nvSpPr>
          <p:cNvPr id="4" name="TextBox 3"/>
          <p:cNvSpPr txBox="1"/>
          <p:nvPr/>
        </p:nvSpPr>
        <p:spPr>
          <a:xfrm>
            <a:off x="11155680" y="6446520"/>
            <a:ext cx="914400" cy="320040"/>
          </a:xfrm>
          <a:prstGeom prst="rect">
            <a:avLst/>
          </a:prstGeom>
          <a:noFill/>
        </p:spPr>
        <p:txBody>
          <a:bodyPr wrap="square" anchor="t" lIns="45720" rIns="45720">
            <a:spAutoFit/>
          </a:bodyPr>
          <a:lstStyle/>
          <a:p>
            <a:pPr algn="r"/>
            <a:r>
              <a:rPr sz="1200" b="0">
                <a:solidFill>
                  <a:srgbClr val="555555"/>
                </a:solidFill>
                <a:latin typeface="Calibri"/>
              </a:rPr>
              <a:t>4</a:t>
            </a:r>
          </a:p>
        </p:txBody>
      </p:sp>
      <p:sp>
        <p:nvSpPr>
          <p:cNvPr id="5" name="Rounded Rectangle 4"/>
          <p:cNvSpPr/>
          <p:nvPr/>
        </p:nvSpPr>
        <p:spPr>
          <a:xfrm>
            <a:off x="548640" y="1371600"/>
            <a:ext cx="3566160" cy="1828800"/>
          </a:xfrm>
          <a:prstGeom prst="roundRect">
            <a:avLst>
              <a:gd name="adj" fmla="val 8000"/>
            </a:avLst>
          </a:prstGeom>
          <a:solidFill>
            <a:srgbClr val="EEF3FA"/>
          </a:solidFill>
          <a:ln>
            <a:solidFill>
              <a:srgbClr val="C9D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81328"/>
            <a:ext cx="3566160" cy="731520"/>
          </a:xfrm>
          <a:prstGeom prst="rect">
            <a:avLst/>
          </a:prstGeom>
          <a:noFill/>
        </p:spPr>
        <p:txBody>
          <a:bodyPr wrap="square" anchor="t" lIns="45720" rIns="45720">
            <a:spAutoFit/>
          </a:bodyPr>
          <a:lstStyle/>
          <a:p>
            <a:pPr algn="ctr"/>
            <a:r>
              <a:rPr sz="3400" b="1">
                <a:solidFill>
                  <a:srgbClr val="2A78D6"/>
                </a:solidFill>
                <a:latin typeface="Calibri"/>
              </a:rPr>
              <a:t>1,175</a:t>
            </a:r>
          </a:p>
        </p:txBody>
      </p:sp>
      <p:sp>
        <p:nvSpPr>
          <p:cNvPr id="7" name="TextBox 6"/>
          <p:cNvSpPr txBox="1"/>
          <p:nvPr/>
        </p:nvSpPr>
        <p:spPr>
          <a:xfrm>
            <a:off x="640080" y="2240280"/>
            <a:ext cx="3383280" cy="914400"/>
          </a:xfrm>
          <a:prstGeom prst="rect">
            <a:avLst/>
          </a:prstGeom>
          <a:noFill/>
        </p:spPr>
        <p:txBody>
          <a:bodyPr wrap="square" anchor="t" lIns="45720" rIns="45720">
            <a:spAutoFit/>
          </a:bodyPr>
          <a:lstStyle/>
          <a:p>
            <a:pPr algn="ctr"/>
            <a:r>
              <a:rPr sz="1500" b="0">
                <a:solidFill>
                  <a:srgbClr val="111111"/>
                </a:solidFill>
                <a:latin typeface="Calibri"/>
              </a:rPr>
              <a:t>graduate responses (885 modelled)</a:t>
            </a:r>
          </a:p>
        </p:txBody>
      </p:sp>
      <p:sp>
        <p:nvSpPr>
          <p:cNvPr id="8" name="Rounded Rectangle 7"/>
          <p:cNvSpPr/>
          <p:nvPr/>
        </p:nvSpPr>
        <p:spPr>
          <a:xfrm>
            <a:off x="4297680" y="1371600"/>
            <a:ext cx="3566160" cy="1828800"/>
          </a:xfrm>
          <a:prstGeom prst="roundRect">
            <a:avLst>
              <a:gd name="adj" fmla="val 8000"/>
            </a:avLst>
          </a:prstGeom>
          <a:solidFill>
            <a:srgbClr val="EEF3FA"/>
          </a:solidFill>
          <a:ln>
            <a:solidFill>
              <a:srgbClr val="C9D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0" y="1481328"/>
            <a:ext cx="3566160" cy="731520"/>
          </a:xfrm>
          <a:prstGeom prst="rect">
            <a:avLst/>
          </a:prstGeom>
          <a:noFill/>
        </p:spPr>
        <p:txBody>
          <a:bodyPr wrap="square" anchor="t" lIns="45720" rIns="45720">
            <a:spAutoFit/>
          </a:bodyPr>
          <a:lstStyle/>
          <a:p>
            <a:pPr algn="ctr"/>
            <a:r>
              <a:rPr sz="3400" b="1">
                <a:solidFill>
                  <a:srgbClr val="2A78D6"/>
                </a:solidFill>
                <a:latin typeface="Calibri"/>
              </a:rPr>
              <a:t>245</a:t>
            </a:r>
          </a:p>
        </p:txBody>
      </p:sp>
      <p:sp>
        <p:nvSpPr>
          <p:cNvPr id="10" name="TextBox 9"/>
          <p:cNvSpPr txBox="1"/>
          <p:nvPr/>
        </p:nvSpPr>
        <p:spPr>
          <a:xfrm>
            <a:off x="4389120" y="2240280"/>
            <a:ext cx="3383280" cy="914400"/>
          </a:xfrm>
          <a:prstGeom prst="rect">
            <a:avLst/>
          </a:prstGeom>
          <a:noFill/>
        </p:spPr>
        <p:txBody>
          <a:bodyPr wrap="square" anchor="t" lIns="45720" rIns="45720">
            <a:spAutoFit/>
          </a:bodyPr>
          <a:lstStyle/>
          <a:p>
            <a:pPr algn="ctr"/>
            <a:r>
              <a:rPr sz="1500" b="0">
                <a:solidFill>
                  <a:srgbClr val="111111"/>
                </a:solidFill>
                <a:latin typeface="Calibri"/>
              </a:rPr>
              <a:t>employer responses (239 analysed)</a:t>
            </a:r>
          </a:p>
        </p:txBody>
      </p:sp>
      <p:sp>
        <p:nvSpPr>
          <p:cNvPr id="11" name="Rounded Rectangle 10"/>
          <p:cNvSpPr/>
          <p:nvPr/>
        </p:nvSpPr>
        <p:spPr>
          <a:xfrm>
            <a:off x="8046720" y="1371600"/>
            <a:ext cx="3566160" cy="1828800"/>
          </a:xfrm>
          <a:prstGeom prst="roundRect">
            <a:avLst>
              <a:gd name="adj" fmla="val 8000"/>
            </a:avLst>
          </a:prstGeom>
          <a:solidFill>
            <a:srgbClr val="EEF3FA"/>
          </a:solidFill>
          <a:ln>
            <a:solidFill>
              <a:srgbClr val="C9D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0" y="1481328"/>
            <a:ext cx="3566160" cy="731520"/>
          </a:xfrm>
          <a:prstGeom prst="rect">
            <a:avLst/>
          </a:prstGeom>
          <a:noFill/>
        </p:spPr>
        <p:txBody>
          <a:bodyPr wrap="square" anchor="t" lIns="45720" rIns="45720">
            <a:spAutoFit/>
          </a:bodyPr>
          <a:lstStyle/>
          <a:p>
            <a:pPr algn="ctr"/>
            <a:r>
              <a:rPr sz="3400" b="1">
                <a:solidFill>
                  <a:srgbClr val="2A78D6"/>
                </a:solidFill>
                <a:latin typeface="Calibri"/>
              </a:rPr>
              <a:t>324</a:t>
            </a:r>
          </a:p>
        </p:txBody>
      </p:sp>
      <p:sp>
        <p:nvSpPr>
          <p:cNvPr id="13" name="TextBox 12"/>
          <p:cNvSpPr txBox="1"/>
          <p:nvPr/>
        </p:nvSpPr>
        <p:spPr>
          <a:xfrm>
            <a:off x="8138160" y="2240280"/>
            <a:ext cx="3383280" cy="914400"/>
          </a:xfrm>
          <a:prstGeom prst="rect">
            <a:avLst/>
          </a:prstGeom>
          <a:noFill/>
        </p:spPr>
        <p:txBody>
          <a:bodyPr wrap="square" anchor="t" lIns="45720" rIns="45720">
            <a:spAutoFit/>
          </a:bodyPr>
          <a:lstStyle/>
          <a:p>
            <a:pPr algn="ctr"/>
            <a:r>
              <a:rPr sz="1500" b="0">
                <a:solidFill>
                  <a:srgbClr val="111111"/>
                </a:solidFill>
                <a:latin typeface="Calibri"/>
              </a:rPr>
              <a:t>real entry-level IT job ads (211 employers)</a:t>
            </a:r>
          </a:p>
        </p:txBody>
      </p:sp>
      <p:sp>
        <p:nvSpPr>
          <p:cNvPr id="14" name="TextBox 13"/>
          <p:cNvSpPr txBox="1"/>
          <p:nvPr/>
        </p:nvSpPr>
        <p:spPr>
          <a:xfrm>
            <a:off x="548640" y="3566160"/>
            <a:ext cx="11155680" cy="2926080"/>
          </a:xfrm>
          <a:prstGeom prst="rect">
            <a:avLst/>
          </a:prstGeom>
          <a:noFill/>
        </p:spPr>
        <p:txBody>
          <a:bodyPr wrap="square">
            <a:spAutoFit/>
          </a:bodyPr>
          <a:lstStyle/>
          <a:p>
            <a:pPr>
              <a:spcAft>
                <a:spcPts val="800"/>
              </a:spcAft>
            </a:pPr>
            <a:r>
              <a:rPr sz="2100">
                <a:solidFill>
                  <a:srgbClr val="2A78D6"/>
                </a:solidFill>
                <a:latin typeface="Calibri"/>
              </a:rPr>
              <a:t>•  </a:t>
            </a:r>
            <a:r>
              <a:rPr b="1" sz="2100">
                <a:solidFill>
                  <a:srgbClr val="111111"/>
                </a:solidFill>
                <a:latin typeface="Calibri"/>
              </a:rPr>
              <a:t>Approach</a:t>
            </a:r>
            <a:r>
              <a:rPr sz="2100">
                <a:solidFill>
                  <a:srgbClr val="111111"/>
                </a:solidFill>
                <a:latin typeface="Calibri"/>
              </a:rPr>
              <a:t>: pragmatist, deductive, quantitative; non-probability sampling (stated limitation)</a:t>
            </a:r>
          </a:p>
          <a:p>
            <a:pPr>
              <a:spcAft>
                <a:spcPts val="800"/>
              </a:spcAft>
            </a:pPr>
            <a:r>
              <a:rPr sz="2100">
                <a:solidFill>
                  <a:srgbClr val="2A78D6"/>
                </a:solidFill>
                <a:latin typeface="Calibri"/>
              </a:rPr>
              <a:t>•  </a:t>
            </a:r>
            <a:r>
              <a:rPr b="1" sz="2100">
                <a:solidFill>
                  <a:srgbClr val="111111"/>
                </a:solidFill>
                <a:latin typeface="Calibri"/>
              </a:rPr>
              <a:t>Sample size</a:t>
            </a:r>
            <a:r>
              <a:rPr sz="2100">
                <a:solidFill>
                  <a:srgbClr val="111111"/>
                </a:solidFill>
                <a:latin typeface="Calibri"/>
              </a:rPr>
              <a:t>: Cochran n = 384 (95%, ±5%) → target about 400; collected well above it</a:t>
            </a:r>
          </a:p>
          <a:p>
            <a:pPr>
              <a:spcAft>
                <a:spcPts val="800"/>
              </a:spcAft>
            </a:pPr>
            <a:r>
              <a:rPr sz="2100">
                <a:solidFill>
                  <a:srgbClr val="2A78D6"/>
                </a:solidFill>
                <a:latin typeface="Calibri"/>
              </a:rPr>
              <a:t>•  </a:t>
            </a:r>
            <a:r>
              <a:rPr b="1" sz="2100">
                <a:solidFill>
                  <a:srgbClr val="111111"/>
                </a:solidFill>
                <a:latin typeface="Calibri"/>
              </a:rPr>
              <a:t>Questionnaire quality</a:t>
            </a:r>
            <a:r>
              <a:rPr sz="2100">
                <a:solidFill>
                  <a:srgbClr val="111111"/>
                </a:solidFill>
                <a:latin typeface="Calibri"/>
              </a:rPr>
              <a:t>: 6 expert reviewers, pilot, KMO, parallel analysis; Cronbach's alpha and omega</a:t>
            </a:r>
          </a:p>
          <a:p>
            <a:pPr>
              <a:spcAft>
                <a:spcPts val="800"/>
              </a:spcAft>
            </a:pPr>
            <a:r>
              <a:rPr sz="2100">
                <a:solidFill>
                  <a:srgbClr val="2A78D6"/>
                </a:solidFill>
                <a:latin typeface="Calibri"/>
              </a:rPr>
              <a:t>•  </a:t>
            </a:r>
            <a:r>
              <a:rPr b="1" sz="2100">
                <a:solidFill>
                  <a:srgbClr val="111111"/>
                </a:solidFill>
                <a:latin typeface="Calibri"/>
              </a:rPr>
              <a:t>Ethics</a:t>
            </a:r>
            <a:r>
              <a:rPr sz="2100">
                <a:solidFill>
                  <a:srgbClr val="111111"/>
                </a:solidFill>
                <a:latin typeface="Calibri"/>
              </a:rPr>
              <a:t>: consent on every response, no names or contacts, PDPA 2022, ethical approval before collection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D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777240"/>
          </a:xfrm>
          <a:prstGeom prst="rect">
            <a:avLst/>
          </a:prstGeom>
          <a:noFill/>
        </p:spPr>
        <p:txBody>
          <a:bodyPr wrap="square" anchor="ctr" lIns="45720" rIns="45720">
            <a:spAutoFit/>
          </a:bodyPr>
          <a:lstStyle/>
          <a:p>
            <a:pPr algn="l"/>
            <a:r>
              <a:rPr sz="3000" b="1">
                <a:solidFill>
                  <a:srgbClr val="FFFFFF"/>
                </a:solidFill>
                <a:latin typeface="Calibri"/>
              </a:rPr>
              <a:t>Evaluation design: the test set was used once</a:t>
            </a:r>
          </a:p>
        </p:txBody>
      </p:sp>
      <p:sp>
        <p:nvSpPr>
          <p:cNvPr id="4" name="TextBox 3"/>
          <p:cNvSpPr txBox="1"/>
          <p:nvPr/>
        </p:nvSpPr>
        <p:spPr>
          <a:xfrm>
            <a:off x="11155680" y="6446520"/>
            <a:ext cx="914400" cy="320040"/>
          </a:xfrm>
          <a:prstGeom prst="rect">
            <a:avLst/>
          </a:prstGeom>
          <a:noFill/>
        </p:spPr>
        <p:txBody>
          <a:bodyPr wrap="square" anchor="t" lIns="45720" rIns="45720">
            <a:spAutoFit/>
          </a:bodyPr>
          <a:lstStyle/>
          <a:p>
            <a:pPr algn="r"/>
            <a:r>
              <a:rPr sz="1200" b="0">
                <a:solidFill>
                  <a:srgbClr val="555555"/>
                </a:solidFill>
                <a:latin typeface="Calibri"/>
              </a:rPr>
              <a:t>5</a:t>
            </a:r>
          </a:p>
        </p:txBody>
      </p:sp>
      <p:sp>
        <p:nvSpPr>
          <p:cNvPr id="5" name="Rounded Rectangle 4"/>
          <p:cNvSpPr/>
          <p:nvPr/>
        </p:nvSpPr>
        <p:spPr>
          <a:xfrm>
            <a:off x="548640" y="1371600"/>
            <a:ext cx="3566160" cy="1737360"/>
          </a:xfrm>
          <a:prstGeom prst="roundRect">
            <a:avLst>
              <a:gd name="adj" fmla="val 8000"/>
            </a:avLst>
          </a:prstGeom>
          <a:solidFill>
            <a:srgbClr val="EEF3FA"/>
          </a:solidFill>
          <a:ln>
            <a:solidFill>
              <a:srgbClr val="C9D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81328"/>
            <a:ext cx="3566160" cy="731520"/>
          </a:xfrm>
          <a:prstGeom prst="rect">
            <a:avLst/>
          </a:prstGeom>
          <a:noFill/>
        </p:spPr>
        <p:txBody>
          <a:bodyPr wrap="square" anchor="t" lIns="45720" rIns="45720">
            <a:spAutoFit/>
          </a:bodyPr>
          <a:lstStyle/>
          <a:p>
            <a:pPr algn="ctr"/>
            <a:r>
              <a:rPr sz="3400" b="1">
                <a:solidFill>
                  <a:srgbClr val="2A78D6"/>
                </a:solidFill>
                <a:latin typeface="Calibri"/>
              </a:rPr>
              <a:t>620</a:t>
            </a:r>
          </a:p>
        </p:txBody>
      </p:sp>
      <p:sp>
        <p:nvSpPr>
          <p:cNvPr id="7" name="TextBox 6"/>
          <p:cNvSpPr txBox="1"/>
          <p:nvPr/>
        </p:nvSpPr>
        <p:spPr>
          <a:xfrm>
            <a:off x="640080" y="2240280"/>
            <a:ext cx="3383280" cy="822960"/>
          </a:xfrm>
          <a:prstGeom prst="rect">
            <a:avLst/>
          </a:prstGeom>
          <a:noFill/>
        </p:spPr>
        <p:txBody>
          <a:bodyPr wrap="square" anchor="t" lIns="45720" rIns="45720">
            <a:spAutoFit/>
          </a:bodyPr>
          <a:lstStyle/>
          <a:p>
            <a:pPr algn="ctr"/>
            <a:r>
              <a:rPr sz="1500" b="0">
                <a:solidFill>
                  <a:srgbClr val="111111"/>
                </a:solidFill>
                <a:latin typeface="Calibri"/>
              </a:rPr>
              <a:t>training: fit and tune (cross-validation)</a:t>
            </a:r>
          </a:p>
        </p:txBody>
      </p:sp>
      <p:sp>
        <p:nvSpPr>
          <p:cNvPr id="8" name="Rounded Rectangle 7"/>
          <p:cNvSpPr/>
          <p:nvPr/>
        </p:nvSpPr>
        <p:spPr>
          <a:xfrm>
            <a:off x="4297680" y="1371600"/>
            <a:ext cx="3566160" cy="1737360"/>
          </a:xfrm>
          <a:prstGeom prst="roundRect">
            <a:avLst>
              <a:gd name="adj" fmla="val 8000"/>
            </a:avLst>
          </a:prstGeom>
          <a:solidFill>
            <a:srgbClr val="EEF3FA"/>
          </a:solidFill>
          <a:ln>
            <a:solidFill>
              <a:srgbClr val="C9D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0" y="1481328"/>
            <a:ext cx="3566160" cy="731520"/>
          </a:xfrm>
          <a:prstGeom prst="rect">
            <a:avLst/>
          </a:prstGeom>
          <a:noFill/>
        </p:spPr>
        <p:txBody>
          <a:bodyPr wrap="square" anchor="t" lIns="45720" rIns="45720">
            <a:spAutoFit/>
          </a:bodyPr>
          <a:lstStyle/>
          <a:p>
            <a:pPr algn="ctr"/>
            <a:r>
              <a:rPr sz="3400" b="1">
                <a:solidFill>
                  <a:srgbClr val="2A78D6"/>
                </a:solidFill>
                <a:latin typeface="Calibri"/>
              </a:rPr>
              <a:t>133</a:t>
            </a:r>
          </a:p>
        </p:txBody>
      </p:sp>
      <p:sp>
        <p:nvSpPr>
          <p:cNvPr id="10" name="TextBox 9"/>
          <p:cNvSpPr txBox="1"/>
          <p:nvPr/>
        </p:nvSpPr>
        <p:spPr>
          <a:xfrm>
            <a:off x="4389120" y="2240280"/>
            <a:ext cx="3383280" cy="822960"/>
          </a:xfrm>
          <a:prstGeom prst="rect">
            <a:avLst/>
          </a:prstGeom>
          <a:noFill/>
        </p:spPr>
        <p:txBody>
          <a:bodyPr wrap="square" anchor="t" lIns="45720" rIns="45720">
            <a:spAutoFit/>
          </a:bodyPr>
          <a:lstStyle/>
          <a:p>
            <a:pPr algn="ctr"/>
            <a:r>
              <a:rPr sz="1500" b="0">
                <a:solidFill>
                  <a:srgbClr val="111111"/>
                </a:solidFill>
                <a:latin typeface="Calibri"/>
              </a:rPr>
              <a:t>validation: choose the model by a pre-set rule</a:t>
            </a:r>
          </a:p>
        </p:txBody>
      </p:sp>
      <p:sp>
        <p:nvSpPr>
          <p:cNvPr id="11" name="Rounded Rectangle 10"/>
          <p:cNvSpPr/>
          <p:nvPr/>
        </p:nvSpPr>
        <p:spPr>
          <a:xfrm>
            <a:off x="8046720" y="1371600"/>
            <a:ext cx="3566160" cy="1737360"/>
          </a:xfrm>
          <a:prstGeom prst="roundRect">
            <a:avLst>
              <a:gd name="adj" fmla="val 8000"/>
            </a:avLst>
          </a:prstGeom>
          <a:solidFill>
            <a:srgbClr val="EEF3FA"/>
          </a:solidFill>
          <a:ln>
            <a:solidFill>
              <a:srgbClr val="C9D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0" y="1481328"/>
            <a:ext cx="3566160" cy="731520"/>
          </a:xfrm>
          <a:prstGeom prst="rect">
            <a:avLst/>
          </a:prstGeom>
          <a:noFill/>
        </p:spPr>
        <p:txBody>
          <a:bodyPr wrap="square" anchor="t" lIns="45720" rIns="45720">
            <a:spAutoFit/>
          </a:bodyPr>
          <a:lstStyle/>
          <a:p>
            <a:pPr algn="ctr"/>
            <a:r>
              <a:rPr sz="3400" b="1">
                <a:solidFill>
                  <a:srgbClr val="EB6834"/>
                </a:solidFill>
                <a:latin typeface="Calibri"/>
              </a:rPr>
              <a:t>132</a:t>
            </a:r>
          </a:p>
        </p:txBody>
      </p:sp>
      <p:sp>
        <p:nvSpPr>
          <p:cNvPr id="13" name="TextBox 12"/>
          <p:cNvSpPr txBox="1"/>
          <p:nvPr/>
        </p:nvSpPr>
        <p:spPr>
          <a:xfrm>
            <a:off x="8138160" y="2240280"/>
            <a:ext cx="3383280" cy="822960"/>
          </a:xfrm>
          <a:prstGeom prst="rect">
            <a:avLst/>
          </a:prstGeom>
          <a:noFill/>
        </p:spPr>
        <p:txBody>
          <a:bodyPr wrap="square" anchor="t" lIns="45720" rIns="45720">
            <a:spAutoFit/>
          </a:bodyPr>
          <a:lstStyle/>
          <a:p>
            <a:pPr algn="ctr"/>
            <a:r>
              <a:rPr sz="1500" b="0">
                <a:solidFill>
                  <a:srgbClr val="111111"/>
                </a:solidFill>
                <a:latin typeface="Calibri"/>
              </a:rPr>
              <a:t>test: used once, never re-tuned</a:t>
            </a:r>
          </a:p>
        </p:txBody>
      </p:sp>
      <p:sp>
        <p:nvSpPr>
          <p:cNvPr id="14" name="TextBox 13"/>
          <p:cNvSpPr txBox="1"/>
          <p:nvPr/>
        </p:nvSpPr>
        <p:spPr>
          <a:xfrm>
            <a:off x="548640" y="3474720"/>
            <a:ext cx="11155680" cy="3017520"/>
          </a:xfrm>
          <a:prstGeom prst="rect">
            <a:avLst/>
          </a:prstGeom>
          <a:noFill/>
        </p:spPr>
        <p:txBody>
          <a:bodyPr wrap="square">
            <a:spAutoFit/>
          </a:bodyPr>
          <a:lstStyle/>
          <a:p>
            <a:pPr>
              <a:spcAft>
                <a:spcPts val="800"/>
              </a:spcAft>
            </a:pPr>
            <a:r>
              <a:rPr sz="2100">
                <a:solidFill>
                  <a:srgbClr val="2A78D6"/>
                </a:solidFill>
                <a:latin typeface="Calibri"/>
              </a:rPr>
              <a:t>•  </a:t>
            </a:r>
            <a:r>
              <a:rPr b="1" sz="2100">
                <a:solidFill>
                  <a:srgbClr val="111111"/>
                </a:solidFill>
                <a:latin typeface="Calibri"/>
              </a:rPr>
              <a:t>Models</a:t>
            </a:r>
            <a:r>
              <a:rPr sz="2100">
                <a:solidFill>
                  <a:srgbClr val="111111"/>
                </a:solidFill>
                <a:latin typeface="Calibri"/>
              </a:rPr>
              <a:t>: Cox PH, Elastic Net Cox, AFT (Weibull / log-normal / log-logistic), DeepSurv; no forests or ensembles</a:t>
            </a:r>
          </a:p>
          <a:p>
            <a:pPr>
              <a:spcAft>
                <a:spcPts val="800"/>
              </a:spcAft>
            </a:pPr>
            <a:r>
              <a:rPr sz="2100">
                <a:solidFill>
                  <a:srgbClr val="2A78D6"/>
                </a:solidFill>
                <a:latin typeface="Calibri"/>
              </a:rPr>
              <a:t>•  </a:t>
            </a:r>
            <a:r>
              <a:rPr b="1" sz="2100">
                <a:solidFill>
                  <a:srgbClr val="111111"/>
                </a:solidFill>
                <a:latin typeface="Calibri"/>
              </a:rPr>
              <a:t>Primary metric</a:t>
            </a:r>
            <a:r>
              <a:rPr sz="2100">
                <a:solidFill>
                  <a:srgbClr val="111111"/>
                </a:solidFill>
                <a:latin typeface="Calibri"/>
              </a:rPr>
              <a:t>: Uno's C-index (built for censored data), with the integrated Brier score and calibration</a:t>
            </a:r>
          </a:p>
          <a:p>
            <a:pPr>
              <a:spcAft>
                <a:spcPts val="800"/>
              </a:spcAft>
            </a:pPr>
            <a:r>
              <a:rPr sz="2100">
                <a:solidFill>
                  <a:srgbClr val="2A78D6"/>
                </a:solidFill>
                <a:latin typeface="Calibri"/>
              </a:rPr>
              <a:t>•  </a:t>
            </a:r>
            <a:r>
              <a:rPr b="1" sz="2100">
                <a:solidFill>
                  <a:srgbClr val="111111"/>
                </a:solidFill>
                <a:latin typeface="Calibri"/>
              </a:rPr>
              <a:t>Safeguards</a:t>
            </a:r>
            <a:r>
              <a:rPr sz="2100">
                <a:solidFill>
                  <a:srgbClr val="111111"/>
                </a:solidFill>
                <a:latin typeface="Calibri"/>
              </a:rPr>
              <a:t>: stratified split, preprocessing learned on training only, 29.2 events per parameter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D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777240"/>
          </a:xfrm>
          <a:prstGeom prst="rect">
            <a:avLst/>
          </a:prstGeom>
          <a:noFill/>
        </p:spPr>
        <p:txBody>
          <a:bodyPr wrap="square" anchor="ctr" lIns="45720" rIns="45720">
            <a:spAutoFit/>
          </a:bodyPr>
          <a:lstStyle/>
          <a:p>
            <a:pPr algn="l"/>
            <a:r>
              <a:rPr sz="3000" b="1">
                <a:solidFill>
                  <a:srgbClr val="FFFFFF"/>
                </a:solidFill>
                <a:latin typeface="Calibri"/>
              </a:rPr>
              <a:t>Which model? AFT Log-Normal, chosen by the pre-set rule</a:t>
            </a:r>
          </a:p>
        </p:txBody>
      </p:sp>
      <p:sp>
        <p:nvSpPr>
          <p:cNvPr id="4" name="TextBox 3"/>
          <p:cNvSpPr txBox="1"/>
          <p:nvPr/>
        </p:nvSpPr>
        <p:spPr>
          <a:xfrm>
            <a:off x="11155680" y="6446520"/>
            <a:ext cx="914400" cy="320040"/>
          </a:xfrm>
          <a:prstGeom prst="rect">
            <a:avLst/>
          </a:prstGeom>
          <a:noFill/>
        </p:spPr>
        <p:txBody>
          <a:bodyPr wrap="square" anchor="t" lIns="45720" rIns="45720">
            <a:spAutoFit/>
          </a:bodyPr>
          <a:lstStyle/>
          <a:p>
            <a:pPr algn="r"/>
            <a:r>
              <a:rPr sz="1200" b="0">
                <a:solidFill>
                  <a:srgbClr val="555555"/>
                </a:solidFill>
                <a:latin typeface="Calibri"/>
              </a:rPr>
              <a:t>6</a:t>
            </a:r>
          </a:p>
        </p:txBody>
      </p:sp>
      <p:pic>
        <p:nvPicPr>
          <p:cNvPr id="5" name="Picture 4" descr="model_comparison.png"/>
          <p:cNvPicPr>
            <a:picLocks noChangeAspect="1"/>
          </p:cNvPicPr>
          <p:nvPr/>
        </p:nvPicPr>
        <p:blipFill>
          <a:blip r:embed="rId3"/>
          <a:stretch>
            <a:fillRect/>
          </a:stretch>
        </p:blipFill>
        <p:spPr>
          <a:xfrm>
            <a:off x="457200" y="1713847"/>
            <a:ext cx="7498079" cy="4070385"/>
          </a:xfrm>
          <a:prstGeom prst="rect">
            <a:avLst/>
          </a:prstGeom>
        </p:spPr>
      </p:pic>
      <p:sp>
        <p:nvSpPr>
          <p:cNvPr id="6" name="TextBox 5"/>
          <p:cNvSpPr txBox="1"/>
          <p:nvPr/>
        </p:nvSpPr>
        <p:spPr>
          <a:xfrm>
            <a:off x="8138160" y="1554480"/>
            <a:ext cx="3749039" cy="4572000"/>
          </a:xfrm>
          <a:prstGeom prst="rect">
            <a:avLst/>
          </a:prstGeom>
          <a:noFill/>
        </p:spPr>
        <p:txBody>
          <a:bodyPr wrap="square">
            <a:spAutoFit/>
          </a:bodyPr>
          <a:lstStyle/>
          <a:p>
            <a:pPr>
              <a:spcAft>
                <a:spcPts val="1200"/>
              </a:spcAft>
            </a:pPr>
            <a:r>
              <a:rPr sz="2000">
                <a:solidFill>
                  <a:srgbClr val="2A78D6"/>
                </a:solidFill>
                <a:latin typeface="Calibri"/>
              </a:rPr>
              <a:t>•  </a:t>
            </a:r>
            <a:r>
              <a:rPr b="1" sz="2000">
                <a:solidFill>
                  <a:srgbClr val="111111"/>
                </a:solidFill>
                <a:latin typeface="Calibri"/>
              </a:rPr>
              <a:t>Validation C</a:t>
            </a:r>
            <a:r>
              <a:rPr sz="2000">
                <a:solidFill>
                  <a:srgbClr val="111111"/>
                </a:solidFill>
                <a:latin typeface="Calibri"/>
              </a:rPr>
              <a:t>: 0.693 (0.636-0.745)</a:t>
            </a:r>
          </a:p>
          <a:p>
            <a:pPr>
              <a:spcAft>
                <a:spcPts val="1200"/>
              </a:spcAft>
            </a:pPr>
            <a:r>
              <a:rPr sz="2000">
                <a:solidFill>
                  <a:srgbClr val="2A78D6"/>
                </a:solidFill>
                <a:latin typeface="Calibri"/>
              </a:rPr>
              <a:t>•  </a:t>
            </a:r>
            <a:r>
              <a:rPr b="1" sz="2000">
                <a:solidFill>
                  <a:srgbClr val="111111"/>
                </a:solidFill>
                <a:latin typeface="Calibri"/>
              </a:rPr>
              <a:t>Brier score</a:t>
            </a:r>
            <a:r>
              <a:rPr sz="2000">
                <a:solidFill>
                  <a:srgbClr val="111111"/>
                </a:solidFill>
                <a:latin typeface="Calibri"/>
              </a:rPr>
              <a:t>: 0.171</a:t>
            </a:r>
          </a:p>
          <a:p>
            <a:pPr>
              <a:spcAft>
                <a:spcPts val="1200"/>
              </a:spcAft>
            </a:pPr>
            <a:r>
              <a:rPr sz="2000">
                <a:solidFill>
                  <a:srgbClr val="2A78D6"/>
                </a:solidFill>
                <a:latin typeface="Calibri"/>
              </a:rPr>
              <a:t>•  </a:t>
            </a:r>
            <a:r>
              <a:rPr b="1" sz="2000">
                <a:solidFill>
                  <a:srgbClr val="111111"/>
                </a:solidFill>
                <a:latin typeface="Calibri"/>
              </a:rPr>
              <a:t>Rule fixed</a:t>
            </a:r>
            <a:r>
              <a:rPr sz="2000">
                <a:solidFill>
                  <a:srgbClr val="111111"/>
                </a:solidFill>
                <a:latin typeface="Calibri"/>
              </a:rPr>
              <a:t>: before looking at results</a:t>
            </a:r>
          </a:p>
          <a:p>
            <a:pPr>
              <a:spcAft>
                <a:spcPts val="1200"/>
              </a:spcAft>
            </a:pPr>
            <a:r>
              <a:rPr sz="2000">
                <a:solidFill>
                  <a:srgbClr val="2A78D6"/>
                </a:solidFill>
                <a:latin typeface="Calibri"/>
              </a:rPr>
              <a:t>•  </a:t>
            </a:r>
            <a:r>
              <a:rPr b="1" sz="2000">
                <a:solidFill>
                  <a:srgbClr val="111111"/>
                </a:solidFill>
                <a:latin typeface="Calibri"/>
              </a:rPr>
              <a:t>More complex models</a:t>
            </a:r>
            <a:r>
              <a:rPr sz="2000">
                <a:solidFill>
                  <a:srgbClr val="111111"/>
                </a:solidFill>
                <a:latin typeface="Calibri"/>
              </a:rPr>
              <a:t>: did not do better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D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777240"/>
          </a:xfrm>
          <a:prstGeom prst="rect">
            <a:avLst/>
          </a:prstGeom>
          <a:noFill/>
        </p:spPr>
        <p:txBody>
          <a:bodyPr wrap="square" anchor="ctr" lIns="45720" rIns="45720">
            <a:spAutoFit/>
          </a:bodyPr>
          <a:lstStyle/>
          <a:p>
            <a:pPr algn="l"/>
            <a:r>
              <a:rPr sz="3000" b="1">
                <a:solidFill>
                  <a:srgbClr val="FFFFFF"/>
                </a:solidFill>
                <a:latin typeface="Calibri"/>
              </a:rPr>
              <a:t>Test result: moderate ranking, honest reporting</a:t>
            </a:r>
          </a:p>
        </p:txBody>
      </p:sp>
      <p:sp>
        <p:nvSpPr>
          <p:cNvPr id="4" name="TextBox 3"/>
          <p:cNvSpPr txBox="1"/>
          <p:nvPr/>
        </p:nvSpPr>
        <p:spPr>
          <a:xfrm>
            <a:off x="11155680" y="6446520"/>
            <a:ext cx="914400" cy="320040"/>
          </a:xfrm>
          <a:prstGeom prst="rect">
            <a:avLst/>
          </a:prstGeom>
          <a:noFill/>
        </p:spPr>
        <p:txBody>
          <a:bodyPr wrap="square" anchor="t" lIns="45720" rIns="45720">
            <a:spAutoFit/>
          </a:bodyPr>
          <a:lstStyle/>
          <a:p>
            <a:pPr algn="r"/>
            <a:r>
              <a:rPr sz="1200" b="0">
                <a:solidFill>
                  <a:srgbClr val="555555"/>
                </a:solidFill>
                <a:latin typeface="Calibri"/>
              </a:rPr>
              <a:t>7</a:t>
            </a:r>
          </a:p>
        </p:txBody>
      </p:sp>
      <p:sp>
        <p:nvSpPr>
          <p:cNvPr id="5" name="Rounded Rectangle 4"/>
          <p:cNvSpPr/>
          <p:nvPr/>
        </p:nvSpPr>
        <p:spPr>
          <a:xfrm>
            <a:off x="548640" y="1371600"/>
            <a:ext cx="3291840" cy="1737360"/>
          </a:xfrm>
          <a:prstGeom prst="roundRect">
            <a:avLst>
              <a:gd name="adj" fmla="val 8000"/>
            </a:avLst>
          </a:prstGeom>
          <a:solidFill>
            <a:srgbClr val="EEF3FA"/>
          </a:solidFill>
          <a:ln>
            <a:solidFill>
              <a:srgbClr val="C9D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81328"/>
            <a:ext cx="3291840" cy="731520"/>
          </a:xfrm>
          <a:prstGeom prst="rect">
            <a:avLst/>
          </a:prstGeom>
          <a:noFill/>
        </p:spPr>
        <p:txBody>
          <a:bodyPr wrap="square" anchor="t" lIns="45720" rIns="45720">
            <a:spAutoFit/>
          </a:bodyPr>
          <a:lstStyle/>
          <a:p>
            <a:pPr algn="ctr"/>
            <a:r>
              <a:rPr sz="3400" b="1">
                <a:solidFill>
                  <a:srgbClr val="2A78D6"/>
                </a:solidFill>
                <a:latin typeface="Calibri"/>
              </a:rPr>
              <a:t>0.619</a:t>
            </a:r>
          </a:p>
        </p:txBody>
      </p:sp>
      <p:sp>
        <p:nvSpPr>
          <p:cNvPr id="7" name="TextBox 6"/>
          <p:cNvSpPr txBox="1"/>
          <p:nvPr/>
        </p:nvSpPr>
        <p:spPr>
          <a:xfrm>
            <a:off x="640080" y="2240280"/>
            <a:ext cx="3108960" cy="822960"/>
          </a:xfrm>
          <a:prstGeom prst="rect">
            <a:avLst/>
          </a:prstGeom>
          <a:noFill/>
        </p:spPr>
        <p:txBody>
          <a:bodyPr wrap="square" anchor="t" lIns="45720" rIns="45720">
            <a:spAutoFit/>
          </a:bodyPr>
          <a:lstStyle/>
          <a:p>
            <a:pPr algn="ctr"/>
            <a:r>
              <a:rPr sz="1500" b="0">
                <a:solidFill>
                  <a:srgbClr val="111111"/>
                </a:solidFill>
                <a:latin typeface="Calibri"/>
              </a:rPr>
              <a:t>Uno's C on unseen graduates (95% CI 0.557-0.683)</a:t>
            </a:r>
          </a:p>
        </p:txBody>
      </p:sp>
      <p:sp>
        <p:nvSpPr>
          <p:cNvPr id="8" name="Rounded Rectangle 7"/>
          <p:cNvSpPr/>
          <p:nvPr/>
        </p:nvSpPr>
        <p:spPr>
          <a:xfrm>
            <a:off x="4023360" y="1371600"/>
            <a:ext cx="3291840" cy="1737360"/>
          </a:xfrm>
          <a:prstGeom prst="roundRect">
            <a:avLst>
              <a:gd name="adj" fmla="val 8000"/>
            </a:avLst>
          </a:prstGeom>
          <a:solidFill>
            <a:srgbClr val="EEF3FA"/>
          </a:solidFill>
          <a:ln>
            <a:solidFill>
              <a:srgbClr val="C9D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23360" y="1481328"/>
            <a:ext cx="3291840" cy="731520"/>
          </a:xfrm>
          <a:prstGeom prst="rect">
            <a:avLst/>
          </a:prstGeom>
          <a:noFill/>
        </p:spPr>
        <p:txBody>
          <a:bodyPr wrap="square" anchor="t" lIns="45720" rIns="45720">
            <a:spAutoFit/>
          </a:bodyPr>
          <a:lstStyle/>
          <a:p>
            <a:pPr algn="ctr"/>
            <a:r>
              <a:rPr sz="3400" b="1">
                <a:solidFill>
                  <a:srgbClr val="2A78D6"/>
                </a:solidFill>
                <a:latin typeface="Calibri"/>
              </a:rPr>
              <a:t>~62 / 100</a:t>
            </a:r>
          </a:p>
        </p:txBody>
      </p:sp>
      <p:sp>
        <p:nvSpPr>
          <p:cNvPr id="10" name="TextBox 9"/>
          <p:cNvSpPr txBox="1"/>
          <p:nvPr/>
        </p:nvSpPr>
        <p:spPr>
          <a:xfrm>
            <a:off x="4114800" y="2240280"/>
            <a:ext cx="3108960" cy="822960"/>
          </a:xfrm>
          <a:prstGeom prst="rect">
            <a:avLst/>
          </a:prstGeom>
          <a:noFill/>
        </p:spPr>
        <p:txBody>
          <a:bodyPr wrap="square" anchor="t" lIns="45720" rIns="45720">
            <a:spAutoFit/>
          </a:bodyPr>
          <a:lstStyle/>
          <a:p>
            <a:pPr algn="ctr"/>
            <a:r>
              <a:rPr sz="1500" b="0">
                <a:solidFill>
                  <a:srgbClr val="111111"/>
                </a:solidFill>
                <a:latin typeface="Calibri"/>
              </a:rPr>
              <a:t>pairs ranked correctly (Harrell's C 0.626)</a:t>
            </a:r>
          </a:p>
        </p:txBody>
      </p:sp>
      <p:sp>
        <p:nvSpPr>
          <p:cNvPr id="11" name="Rounded Rectangle 10"/>
          <p:cNvSpPr/>
          <p:nvPr/>
        </p:nvSpPr>
        <p:spPr>
          <a:xfrm>
            <a:off x="7498079" y="1371600"/>
            <a:ext cx="4114800" cy="1737360"/>
          </a:xfrm>
          <a:prstGeom prst="roundRect">
            <a:avLst>
              <a:gd name="adj" fmla="val 8000"/>
            </a:avLst>
          </a:prstGeom>
          <a:solidFill>
            <a:srgbClr val="EEF3FA"/>
          </a:solidFill>
          <a:ln>
            <a:solidFill>
              <a:srgbClr val="C9D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481328"/>
            <a:ext cx="4114800" cy="731520"/>
          </a:xfrm>
          <a:prstGeom prst="rect">
            <a:avLst/>
          </a:prstGeom>
          <a:noFill/>
        </p:spPr>
        <p:txBody>
          <a:bodyPr wrap="square" anchor="t" lIns="45720" rIns="45720">
            <a:spAutoFit/>
          </a:bodyPr>
          <a:lstStyle/>
          <a:p>
            <a:pPr algn="ctr"/>
            <a:r>
              <a:rPr sz="3400" b="1">
                <a:solidFill>
                  <a:srgbClr val="EB6834"/>
                </a:solidFill>
                <a:latin typeface="Calibri"/>
              </a:rPr>
              <a:t>up to 17 pts</a:t>
            </a:r>
          </a:p>
        </p:txBody>
      </p:sp>
      <p:sp>
        <p:nvSpPr>
          <p:cNvPr id="13" name="TextBox 12"/>
          <p:cNvSpPr txBox="1"/>
          <p:nvPr/>
        </p:nvSpPr>
        <p:spPr>
          <a:xfrm>
            <a:off x="7589519" y="2240280"/>
            <a:ext cx="3931920" cy="822960"/>
          </a:xfrm>
          <a:prstGeom prst="rect">
            <a:avLst/>
          </a:prstGeom>
          <a:noFill/>
        </p:spPr>
        <p:txBody>
          <a:bodyPr wrap="square" anchor="t" lIns="45720" rIns="45720">
            <a:spAutoFit/>
          </a:bodyPr>
          <a:lstStyle/>
          <a:p>
            <a:pPr algn="ctr"/>
            <a:r>
              <a:rPr sz="1500" b="0">
                <a:solidFill>
                  <a:srgbClr val="111111"/>
                </a:solidFill>
                <a:latin typeface="Calibri"/>
              </a:rPr>
              <a:t>under-prediction of employment: probabilities are pessimistic</a:t>
            </a:r>
          </a:p>
        </p:txBody>
      </p:sp>
      <p:sp>
        <p:nvSpPr>
          <p:cNvPr id="14" name="TextBox 13"/>
          <p:cNvSpPr txBox="1"/>
          <p:nvPr/>
        </p:nvSpPr>
        <p:spPr>
          <a:xfrm>
            <a:off x="548640" y="3474720"/>
            <a:ext cx="11155680" cy="3017520"/>
          </a:xfrm>
          <a:prstGeom prst="rect">
            <a:avLst/>
          </a:prstGeom>
          <a:noFill/>
        </p:spPr>
        <p:txBody>
          <a:bodyPr wrap="square">
            <a:spAutoFit/>
          </a:bodyPr>
          <a:lstStyle/>
          <a:p>
            <a:pPr>
              <a:spcAft>
                <a:spcPts val="800"/>
              </a:spcAft>
            </a:pPr>
            <a:r>
              <a:rPr sz="2100">
                <a:solidFill>
                  <a:srgbClr val="2A78D6"/>
                </a:solidFill>
                <a:latin typeface="Calibri"/>
              </a:rPr>
              <a:t>•  </a:t>
            </a:r>
            <a:r>
              <a:rPr b="1" sz="2100">
                <a:solidFill>
                  <a:srgbClr val="111111"/>
                </a:solidFill>
                <a:latin typeface="Calibri"/>
              </a:rPr>
              <a:t>Reading it</a:t>
            </a:r>
            <a:r>
              <a:rPr sz="2100">
                <a:solidFill>
                  <a:srgbClr val="111111"/>
                </a:solidFill>
                <a:latin typeface="Calibri"/>
              </a:rPr>
              <a:t>: the ranking works; the exact probabilities are too pessimistic</a:t>
            </a:r>
          </a:p>
          <a:p>
            <a:pPr>
              <a:spcAft>
                <a:spcPts val="800"/>
              </a:spcAft>
            </a:pPr>
            <a:r>
              <a:rPr sz="2100">
                <a:solidFill>
                  <a:srgbClr val="2A78D6"/>
                </a:solidFill>
                <a:latin typeface="Calibri"/>
              </a:rPr>
              <a:t>•  </a:t>
            </a:r>
            <a:r>
              <a:rPr b="1" sz="2100">
                <a:solidFill>
                  <a:srgbClr val="111111"/>
                </a:solidFill>
                <a:latin typeface="Calibri"/>
              </a:rPr>
              <a:t>Not better than Kaplan-Meier on error</a:t>
            </a:r>
            <a:r>
              <a:rPr sz="2100">
                <a:solidFill>
                  <a:srgbClr val="111111"/>
                </a:solidFill>
                <a:latin typeface="Calibri"/>
              </a:rPr>
              <a:t>: IBS 0.167 vs 0.164</a:t>
            </a:r>
          </a:p>
          <a:p>
            <a:pPr>
              <a:spcAft>
                <a:spcPts val="800"/>
              </a:spcAft>
            </a:pPr>
            <a:r>
              <a:rPr sz="2100">
                <a:solidFill>
                  <a:srgbClr val="2A78D6"/>
                </a:solidFill>
                <a:latin typeface="Calibri"/>
              </a:rPr>
              <a:t>•  </a:t>
            </a:r>
            <a:r>
              <a:rPr b="1" sz="2100">
                <a:solidFill>
                  <a:srgbClr val="111111"/>
                </a:solidFill>
                <a:latin typeface="Calibri"/>
              </a:rPr>
              <a:t>Why</a:t>
            </a:r>
            <a:r>
              <a:rPr sz="2100">
                <a:solidFill>
                  <a:srgbClr val="111111"/>
                </a:solidFill>
                <a:latin typeface="Calibri"/>
              </a:rPr>
              <a:t>: small sets, faster hiring by later cohorts, one reference survey date</a:t>
            </a:r>
          </a:p>
          <a:p>
            <a:pPr>
              <a:spcAft>
                <a:spcPts val="800"/>
              </a:spcAft>
            </a:pPr>
            <a:r>
              <a:rPr sz="2100">
                <a:solidFill>
                  <a:srgbClr val="2A78D6"/>
                </a:solidFill>
                <a:latin typeface="Calibri"/>
              </a:rPr>
              <a:t>•  </a:t>
            </a:r>
            <a:r>
              <a:rPr b="1" sz="2100">
                <a:solidFill>
                  <a:srgbClr val="111111"/>
                </a:solidFill>
                <a:latin typeface="Calibri"/>
              </a:rPr>
              <a:t>What the app does</a:t>
            </a:r>
            <a:r>
              <a:rPr sz="2100">
                <a:solidFill>
                  <a:srgbClr val="111111"/>
                </a:solidFill>
                <a:latin typeface="Calibri"/>
              </a:rPr>
              <a:t>: shows a range first and labels probabilities as indicative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D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777240"/>
          </a:xfrm>
          <a:prstGeom prst="rect">
            <a:avLst/>
          </a:prstGeom>
          <a:noFill/>
        </p:spPr>
        <p:txBody>
          <a:bodyPr wrap="square" anchor="ctr" lIns="45720" rIns="45720">
            <a:spAutoFit/>
          </a:bodyPr>
          <a:lstStyle/>
          <a:p>
            <a:pPr algn="l"/>
            <a:r>
              <a:rPr sz="3000" b="1">
                <a:solidFill>
                  <a:srgbClr val="FFFFFF"/>
                </a:solidFill>
                <a:latin typeface="Calibri"/>
              </a:rPr>
              <a:t>What matters for finding work sooner</a:t>
            </a:r>
          </a:p>
        </p:txBody>
      </p:sp>
      <p:sp>
        <p:nvSpPr>
          <p:cNvPr id="4" name="TextBox 3"/>
          <p:cNvSpPr txBox="1"/>
          <p:nvPr/>
        </p:nvSpPr>
        <p:spPr>
          <a:xfrm>
            <a:off x="11155680" y="6446520"/>
            <a:ext cx="914400" cy="320040"/>
          </a:xfrm>
          <a:prstGeom prst="rect">
            <a:avLst/>
          </a:prstGeom>
          <a:noFill/>
        </p:spPr>
        <p:txBody>
          <a:bodyPr wrap="square" anchor="t" lIns="45720" rIns="45720">
            <a:spAutoFit/>
          </a:bodyPr>
          <a:lstStyle/>
          <a:p>
            <a:pPr algn="r"/>
            <a:r>
              <a:rPr sz="1200" b="0">
                <a:solidFill>
                  <a:srgbClr val="555555"/>
                </a:solidFill>
                <a:latin typeface="Calibri"/>
              </a:rPr>
              <a:t>8</a:t>
            </a:r>
          </a:p>
        </p:txBody>
      </p:sp>
      <p:pic>
        <p:nvPicPr>
          <p:cNvPr id="5" name="Picture 4" descr="km_overall.png"/>
          <p:cNvPicPr>
            <a:picLocks noChangeAspect="1"/>
          </p:cNvPicPr>
          <p:nvPr/>
        </p:nvPicPr>
        <p:blipFill>
          <a:blip r:embed="rId3"/>
          <a:stretch>
            <a:fillRect/>
          </a:stretch>
        </p:blipFill>
        <p:spPr>
          <a:xfrm>
            <a:off x="365760" y="2160597"/>
            <a:ext cx="5852160" cy="3176886"/>
          </a:xfrm>
          <a:prstGeom prst="rect">
            <a:avLst/>
          </a:prstGeom>
        </p:spPr>
      </p:pic>
      <p:sp>
        <p:nvSpPr>
          <p:cNvPr id="6" name="TextBox 5"/>
          <p:cNvSpPr txBox="1"/>
          <p:nvPr/>
        </p:nvSpPr>
        <p:spPr>
          <a:xfrm>
            <a:off x="6400800" y="1463040"/>
            <a:ext cx="5486400" cy="4846320"/>
          </a:xfrm>
          <a:prstGeom prst="rect">
            <a:avLst/>
          </a:prstGeom>
          <a:noFill/>
        </p:spPr>
        <p:txBody>
          <a:bodyPr wrap="square">
            <a:spAutoFit/>
          </a:bodyPr>
          <a:lstStyle/>
          <a:p>
            <a:pPr>
              <a:spcAft>
                <a:spcPts val="1200"/>
              </a:spcAft>
            </a:pPr>
            <a:r>
              <a:rPr sz="2000">
                <a:solidFill>
                  <a:srgbClr val="2A78D6"/>
                </a:solidFill>
                <a:latin typeface="Calibri"/>
              </a:rPr>
              <a:t>•  </a:t>
            </a:r>
            <a:r>
              <a:rPr b="1" sz="2000">
                <a:solidFill>
                  <a:srgbClr val="111111"/>
                </a:solidFill>
                <a:latin typeface="Calibri"/>
              </a:rPr>
              <a:t>Half found a job by 4 months</a:t>
            </a:r>
            <a:r>
              <a:rPr sz="2000">
                <a:solidFill>
                  <a:srgbClr val="111111"/>
                </a:solidFill>
                <a:latin typeface="Calibri"/>
              </a:rPr>
              <a:t>; 67% by 6, 81% by 12</a:t>
            </a:r>
          </a:p>
          <a:p>
            <a:pPr>
              <a:spcAft>
                <a:spcPts val="1200"/>
              </a:spcAft>
            </a:pPr>
            <a:r>
              <a:rPr sz="2000">
                <a:solidFill>
                  <a:srgbClr val="2A78D6"/>
                </a:solidFill>
                <a:latin typeface="Calibri"/>
              </a:rPr>
              <a:t>•  </a:t>
            </a:r>
            <a:r>
              <a:rPr b="1" sz="2000">
                <a:solidFill>
                  <a:srgbClr val="111111"/>
                </a:solidFill>
                <a:latin typeface="Calibri"/>
              </a:rPr>
              <a:t>GPA and internships</a:t>
            </a:r>
            <a:r>
              <a:rPr sz="2000">
                <a:solidFill>
                  <a:srgbClr val="111111"/>
                </a:solidFill>
                <a:latin typeface="Calibri"/>
              </a:rPr>
              <a:t>: about 20% and 16% shorter search per SD</a:t>
            </a:r>
          </a:p>
          <a:p>
            <a:pPr>
              <a:spcAft>
                <a:spcPts val="1200"/>
              </a:spcAft>
            </a:pPr>
            <a:r>
              <a:rPr sz="2000">
                <a:solidFill>
                  <a:srgbClr val="2A78D6"/>
                </a:solidFill>
                <a:latin typeface="Calibri"/>
              </a:rPr>
              <a:t>•  </a:t>
            </a:r>
            <a:r>
              <a:rPr b="1" sz="2000">
                <a:solidFill>
                  <a:srgbClr val="111111"/>
                </a:solidFill>
                <a:latin typeface="Calibri"/>
              </a:rPr>
              <a:t>No clear difference</a:t>
            </a:r>
            <a:r>
              <a:rPr sz="2000">
                <a:solidFill>
                  <a:srgbClr val="111111"/>
                </a:solidFill>
                <a:latin typeface="Calibri"/>
              </a:rPr>
              <a:t>: by institution type or degree programme</a:t>
            </a:r>
          </a:p>
          <a:p>
            <a:pPr>
              <a:spcAft>
                <a:spcPts val="1200"/>
              </a:spcAft>
            </a:pPr>
            <a:r>
              <a:rPr sz="2000">
                <a:solidFill>
                  <a:srgbClr val="2A78D6"/>
                </a:solidFill>
                <a:latin typeface="Calibri"/>
              </a:rPr>
              <a:t>•  </a:t>
            </a:r>
            <a:r>
              <a:rPr b="1" sz="2000">
                <a:solidFill>
                  <a:srgbClr val="111111"/>
                </a:solidFill>
                <a:latin typeface="Calibri"/>
              </a:rPr>
              <a:t>Skill gap</a:t>
            </a:r>
            <a:r>
              <a:rPr sz="2000">
                <a:solidFill>
                  <a:srgbClr val="111111"/>
                </a:solidFill>
                <a:latin typeface="Calibri"/>
              </a:rPr>
              <a:t>: self-ratings below employer importance on 25 of 26 skills (cloud, testing, DevOps)</a:t>
            </a:r>
          </a:p>
          <a:p>
            <a:pPr>
              <a:spcAft>
                <a:spcPts val="1200"/>
              </a:spcAft>
            </a:pPr>
            <a:r>
              <a:rPr sz="2000">
                <a:solidFill>
                  <a:srgbClr val="2A78D6"/>
                </a:solidFill>
                <a:latin typeface="Calibri"/>
              </a:rPr>
              <a:t>•  </a:t>
            </a:r>
            <a:r>
              <a:rPr sz="2000">
                <a:solidFill>
                  <a:srgbClr val="111111"/>
                </a:solidFill>
                <a:latin typeface="Calibri"/>
              </a:rPr>
              <a:t>Associations, not causes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D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777240"/>
          </a:xfrm>
          <a:prstGeom prst="rect">
            <a:avLst/>
          </a:prstGeom>
          <a:noFill/>
        </p:spPr>
        <p:txBody>
          <a:bodyPr wrap="square" anchor="ctr" lIns="45720" rIns="45720">
            <a:spAutoFit/>
          </a:bodyPr>
          <a:lstStyle/>
          <a:p>
            <a:pPr algn="l"/>
            <a:r>
              <a:rPr sz="3000" b="1">
                <a:solidFill>
                  <a:srgbClr val="FFFFFF"/>
                </a:solidFill>
                <a:latin typeface="Calibri"/>
              </a:rPr>
              <a:t>The artifact: from profile to range, explanation and skill gaps</a:t>
            </a:r>
          </a:p>
        </p:txBody>
      </p:sp>
      <p:sp>
        <p:nvSpPr>
          <p:cNvPr id="4" name="TextBox 3"/>
          <p:cNvSpPr txBox="1"/>
          <p:nvPr/>
        </p:nvSpPr>
        <p:spPr>
          <a:xfrm>
            <a:off x="11155680" y="6446520"/>
            <a:ext cx="914400" cy="320040"/>
          </a:xfrm>
          <a:prstGeom prst="rect">
            <a:avLst/>
          </a:prstGeom>
          <a:noFill/>
        </p:spPr>
        <p:txBody>
          <a:bodyPr wrap="square" anchor="t" lIns="45720" rIns="45720">
            <a:spAutoFit/>
          </a:bodyPr>
          <a:lstStyle/>
          <a:p>
            <a:pPr algn="r"/>
            <a:r>
              <a:rPr sz="1200" b="0">
                <a:solidFill>
                  <a:srgbClr val="555555"/>
                </a:solidFill>
                <a:latin typeface="Calibri"/>
              </a:rPr>
              <a:t>9</a:t>
            </a:r>
          </a:p>
        </p:txBody>
      </p:sp>
      <p:pic>
        <p:nvPicPr>
          <p:cNvPr id="5" name="Picture 4" descr="fig4_2_architecture.png"/>
          <p:cNvPicPr>
            <a:picLocks noChangeAspect="1"/>
          </p:cNvPicPr>
          <p:nvPr/>
        </p:nvPicPr>
        <p:blipFill>
          <a:blip r:embed="rId3"/>
          <a:stretch>
            <a:fillRect/>
          </a:stretch>
        </p:blipFill>
        <p:spPr>
          <a:xfrm>
            <a:off x="365760" y="1354505"/>
            <a:ext cx="6766560" cy="4789070"/>
          </a:xfrm>
          <a:prstGeom prst="rect">
            <a:avLst/>
          </a:prstGeom>
        </p:spPr>
      </p:pic>
      <p:sp>
        <p:nvSpPr>
          <p:cNvPr id="6" name="TextBox 5"/>
          <p:cNvSpPr txBox="1"/>
          <p:nvPr/>
        </p:nvSpPr>
        <p:spPr>
          <a:xfrm>
            <a:off x="7315200" y="1463040"/>
            <a:ext cx="4572000" cy="4846320"/>
          </a:xfrm>
          <a:prstGeom prst="rect">
            <a:avLst/>
          </a:prstGeom>
          <a:noFill/>
        </p:spPr>
        <p:txBody>
          <a:bodyPr wrap="square">
            <a:spAutoFit/>
          </a:bodyPr>
          <a:lstStyle/>
          <a:p>
            <a:pPr>
              <a:spcAft>
                <a:spcPts val="1200"/>
              </a:spcAft>
            </a:pPr>
            <a:r>
              <a:rPr sz="2000">
                <a:solidFill>
                  <a:srgbClr val="2A78D6"/>
                </a:solidFill>
                <a:latin typeface="Calibri"/>
              </a:rPr>
              <a:t>•  </a:t>
            </a:r>
            <a:r>
              <a:rPr b="1" sz="2000">
                <a:solidFill>
                  <a:srgbClr val="111111"/>
                </a:solidFill>
                <a:latin typeface="Calibri"/>
              </a:rPr>
              <a:t>Output</a:t>
            </a:r>
            <a:r>
              <a:rPr sz="2000">
                <a:solidFill>
                  <a:srgbClr val="111111"/>
                </a:solidFill>
                <a:latin typeface="Calibri"/>
              </a:rPr>
              <a:t>: most likely time, typical range, confidence</a:t>
            </a:r>
          </a:p>
          <a:p>
            <a:pPr>
              <a:spcAft>
                <a:spcPts val="1200"/>
              </a:spcAft>
            </a:pPr>
            <a:r>
              <a:rPr sz="2000">
                <a:solidFill>
                  <a:srgbClr val="2A78D6"/>
                </a:solidFill>
                <a:latin typeface="Calibri"/>
              </a:rPr>
              <a:t>•  </a:t>
            </a:r>
            <a:r>
              <a:rPr b="1" sz="2000">
                <a:solidFill>
                  <a:srgbClr val="111111"/>
                </a:solidFill>
                <a:latin typeface="Calibri"/>
              </a:rPr>
              <a:t>Explains</a:t>
            </a:r>
            <a:r>
              <a:rPr sz="2000">
                <a:solidFill>
                  <a:srgbClr val="111111"/>
                </a:solidFill>
                <a:latin typeface="Calibri"/>
              </a:rPr>
              <a:t>: what helps and what holds you back</a:t>
            </a:r>
          </a:p>
          <a:p>
            <a:pPr>
              <a:spcAft>
                <a:spcPts val="1200"/>
              </a:spcAft>
            </a:pPr>
            <a:r>
              <a:rPr sz="2000">
                <a:solidFill>
                  <a:srgbClr val="2A78D6"/>
                </a:solidFill>
                <a:latin typeface="Calibri"/>
              </a:rPr>
              <a:t>•  </a:t>
            </a:r>
            <a:r>
              <a:rPr b="1" sz="2000">
                <a:solidFill>
                  <a:srgbClr val="111111"/>
                </a:solidFill>
                <a:latin typeface="Calibri"/>
              </a:rPr>
              <a:t>What-ifs</a:t>
            </a:r>
            <a:r>
              <a:rPr sz="2000">
                <a:solidFill>
                  <a:srgbClr val="111111"/>
                </a:solidFill>
                <a:latin typeface="Calibri"/>
              </a:rPr>
              <a:t>: associational wording only</a:t>
            </a:r>
          </a:p>
          <a:p>
            <a:pPr>
              <a:spcAft>
                <a:spcPts val="1200"/>
              </a:spcAft>
            </a:pPr>
            <a:r>
              <a:rPr sz="2000">
                <a:solidFill>
                  <a:srgbClr val="2A78D6"/>
                </a:solidFill>
                <a:latin typeface="Calibri"/>
              </a:rPr>
              <a:t>•  </a:t>
            </a:r>
            <a:r>
              <a:rPr b="1" sz="2000">
                <a:solidFill>
                  <a:srgbClr val="111111"/>
                </a:solidFill>
                <a:latin typeface="Calibri"/>
              </a:rPr>
              <a:t>Skill gaps</a:t>
            </a:r>
            <a:r>
              <a:rPr sz="2000">
                <a:solidFill>
                  <a:srgbClr val="111111"/>
                </a:solidFill>
                <a:latin typeface="Calibri"/>
              </a:rPr>
              <a:t>: against 324 real job ads</a:t>
            </a:r>
          </a:p>
          <a:p>
            <a:pPr>
              <a:spcAft>
                <a:spcPts val="1200"/>
              </a:spcAft>
            </a:pPr>
            <a:r>
              <a:rPr sz="2000">
                <a:solidFill>
                  <a:srgbClr val="2A78D6"/>
                </a:solidFill>
                <a:latin typeface="Calibri"/>
              </a:rPr>
              <a:t>•  </a:t>
            </a:r>
            <a:r>
              <a:rPr b="1" sz="2000">
                <a:solidFill>
                  <a:srgbClr val="111111"/>
                </a:solidFill>
                <a:latin typeface="Calibri"/>
              </a:rPr>
              <a:t>Nothing stored</a:t>
            </a:r>
            <a:r>
              <a:rPr sz="2000">
                <a:solidFill>
                  <a:srgbClr val="111111"/>
                </a:solidFill>
                <a:latin typeface="Calibri"/>
              </a:rPr>
              <a:t>: no profile kept; 295 tests pass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D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777240"/>
          </a:xfrm>
          <a:prstGeom prst="rect">
            <a:avLst/>
          </a:prstGeom>
          <a:noFill/>
        </p:spPr>
        <p:txBody>
          <a:bodyPr wrap="square" anchor="ctr" lIns="45720" rIns="45720">
            <a:spAutoFit/>
          </a:bodyPr>
          <a:lstStyle/>
          <a:p>
            <a:pPr algn="l"/>
            <a:r>
              <a:rPr sz="3000" b="1">
                <a:solidFill>
                  <a:srgbClr val="FFFFFF"/>
                </a:solidFill>
                <a:latin typeface="Calibri"/>
              </a:rPr>
              <a:t>Why not just use ChatGPT? I tested it</a:t>
            </a:r>
          </a:p>
        </p:txBody>
      </p:sp>
      <p:sp>
        <p:nvSpPr>
          <p:cNvPr id="4" name="TextBox 3"/>
          <p:cNvSpPr txBox="1"/>
          <p:nvPr/>
        </p:nvSpPr>
        <p:spPr>
          <a:xfrm>
            <a:off x="11155680" y="6446520"/>
            <a:ext cx="914400" cy="320040"/>
          </a:xfrm>
          <a:prstGeom prst="rect">
            <a:avLst/>
          </a:prstGeom>
          <a:noFill/>
        </p:spPr>
        <p:txBody>
          <a:bodyPr wrap="square" anchor="t" lIns="45720" rIns="45720">
            <a:spAutoFit/>
          </a:bodyPr>
          <a:lstStyle/>
          <a:p>
            <a:pPr algn="r"/>
            <a:r>
              <a:rPr sz="1200" b="0">
                <a:solidFill>
                  <a:srgbClr val="555555"/>
                </a:solidFill>
                <a:latin typeface="Calibri"/>
              </a:rPr>
              <a:t>10</a:t>
            </a:r>
          </a:p>
        </p:txBody>
      </p:sp>
      <p:sp>
        <p:nvSpPr>
          <p:cNvPr id="5" name="Rounded Rectangle 4"/>
          <p:cNvSpPr/>
          <p:nvPr/>
        </p:nvSpPr>
        <p:spPr>
          <a:xfrm>
            <a:off x="548640" y="1371600"/>
            <a:ext cx="5303520" cy="2194560"/>
          </a:xfrm>
          <a:prstGeom prst="roundRect">
            <a:avLst>
              <a:gd name="adj" fmla="val 8000"/>
            </a:avLst>
          </a:prstGeom>
          <a:solidFill>
            <a:srgbClr val="EEF3FA"/>
          </a:solidFill>
          <a:ln>
            <a:solidFill>
              <a:srgbClr val="C9D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81328"/>
            <a:ext cx="5303520" cy="731520"/>
          </a:xfrm>
          <a:prstGeom prst="rect">
            <a:avLst/>
          </a:prstGeom>
          <a:noFill/>
        </p:spPr>
        <p:txBody>
          <a:bodyPr wrap="square" anchor="t" lIns="45720" rIns="45720">
            <a:spAutoFit/>
          </a:bodyPr>
          <a:lstStyle/>
          <a:p>
            <a:pPr algn="ctr"/>
            <a:r>
              <a:rPr sz="3400" b="1">
                <a:solidFill>
                  <a:srgbClr val="2A78D6"/>
                </a:solidFill>
                <a:latin typeface="Calibri"/>
              </a:rPr>
              <a:t>0.619</a:t>
            </a:r>
          </a:p>
        </p:txBody>
      </p:sp>
      <p:sp>
        <p:nvSpPr>
          <p:cNvPr id="7" name="TextBox 6"/>
          <p:cNvSpPr txBox="1"/>
          <p:nvPr/>
        </p:nvSpPr>
        <p:spPr>
          <a:xfrm>
            <a:off x="640080" y="2240280"/>
            <a:ext cx="5120640" cy="1280160"/>
          </a:xfrm>
          <a:prstGeom prst="rect">
            <a:avLst/>
          </a:prstGeom>
          <a:noFill/>
        </p:spPr>
        <p:txBody>
          <a:bodyPr wrap="square" anchor="t" lIns="45720" rIns="45720">
            <a:spAutoFit/>
          </a:bodyPr>
          <a:lstStyle/>
          <a:p>
            <a:pPr algn="ctr"/>
            <a:r>
              <a:rPr sz="1500" b="0">
                <a:solidFill>
                  <a:srgbClr val="111111"/>
                </a:solidFill>
                <a:latin typeface="Calibri"/>
              </a:rPr>
              <a:t>this model: Uno's C on the same 132 test graduates</a:t>
            </a:r>
          </a:p>
        </p:txBody>
      </p:sp>
      <p:sp>
        <p:nvSpPr>
          <p:cNvPr id="8" name="Rounded Rectangle 7"/>
          <p:cNvSpPr/>
          <p:nvPr/>
        </p:nvSpPr>
        <p:spPr>
          <a:xfrm>
            <a:off x="6309360" y="1371600"/>
            <a:ext cx="5303520" cy="2194560"/>
          </a:xfrm>
          <a:prstGeom prst="roundRect">
            <a:avLst>
              <a:gd name="adj" fmla="val 8000"/>
            </a:avLst>
          </a:prstGeom>
          <a:solidFill>
            <a:srgbClr val="EEF3FA"/>
          </a:solidFill>
          <a:ln>
            <a:solidFill>
              <a:srgbClr val="C9D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481328"/>
            <a:ext cx="5303520" cy="731520"/>
          </a:xfrm>
          <a:prstGeom prst="rect">
            <a:avLst/>
          </a:prstGeom>
          <a:noFill/>
        </p:spPr>
        <p:txBody>
          <a:bodyPr wrap="square" anchor="t" lIns="45720" rIns="45720">
            <a:spAutoFit/>
          </a:bodyPr>
          <a:lstStyle/>
          <a:p>
            <a:pPr algn="ctr"/>
            <a:r>
              <a:rPr sz="3400" b="1">
                <a:solidFill>
                  <a:srgbClr val="EB6834"/>
                </a:solidFill>
                <a:latin typeface="Calibri"/>
              </a:rPr>
              <a:t>0.539</a:t>
            </a:r>
          </a:p>
        </p:txBody>
      </p:sp>
      <p:sp>
        <p:nvSpPr>
          <p:cNvPr id="10" name="TextBox 9"/>
          <p:cNvSpPr txBox="1"/>
          <p:nvPr/>
        </p:nvSpPr>
        <p:spPr>
          <a:xfrm>
            <a:off x="6400800" y="2240280"/>
            <a:ext cx="5120640" cy="1280160"/>
          </a:xfrm>
          <a:prstGeom prst="rect">
            <a:avLst/>
          </a:prstGeom>
          <a:noFill/>
        </p:spPr>
        <p:txBody>
          <a:bodyPr wrap="square" anchor="t" lIns="45720" rIns="45720">
            <a:spAutoFit/>
          </a:bodyPr>
          <a:lstStyle/>
          <a:p>
            <a:pPr algn="ctr"/>
            <a:r>
              <a:rPr sz="1500" b="0">
                <a:solidFill>
                  <a:srgbClr val="111111"/>
                </a:solidFill>
                <a:latin typeface="Calibri"/>
              </a:rPr>
              <a:t>ChatGPT: close to chance (difference 0.081, 95% CI 0.030-0.131)</a:t>
            </a:r>
          </a:p>
        </p:txBody>
      </p:sp>
      <p:sp>
        <p:nvSpPr>
          <p:cNvPr id="11" name="TextBox 10"/>
          <p:cNvSpPr txBox="1"/>
          <p:nvPr/>
        </p:nvSpPr>
        <p:spPr>
          <a:xfrm>
            <a:off x="548640" y="3931920"/>
            <a:ext cx="11155680" cy="2560320"/>
          </a:xfrm>
          <a:prstGeom prst="rect">
            <a:avLst/>
          </a:prstGeom>
          <a:noFill/>
        </p:spPr>
        <p:txBody>
          <a:bodyPr wrap="square">
            <a:spAutoFit/>
          </a:bodyPr>
          <a:lstStyle/>
          <a:p>
            <a:pPr>
              <a:spcAft>
                <a:spcPts val="800"/>
              </a:spcAft>
            </a:pPr>
            <a:r>
              <a:rPr sz="2100">
                <a:solidFill>
                  <a:srgbClr val="2A78D6"/>
                </a:solidFill>
                <a:latin typeface="Calibri"/>
              </a:rPr>
              <a:t>•  </a:t>
            </a:r>
            <a:r>
              <a:rPr b="1" sz="2100">
                <a:solidFill>
                  <a:srgbClr val="111111"/>
                </a:solidFill>
                <a:latin typeface="Calibri"/>
              </a:rPr>
              <a:t>ChatGPT</a:t>
            </a:r>
            <a:r>
              <a:rPr sz="2100">
                <a:solidFill>
                  <a:srgbClr val="111111"/>
                </a:solidFill>
                <a:latin typeface="Calibri"/>
              </a:rPr>
              <a:t>: over-optimistic, and gave different answers to the same profile on repeated runs</a:t>
            </a:r>
          </a:p>
          <a:p>
            <a:pPr>
              <a:spcAft>
                <a:spcPts val="800"/>
              </a:spcAft>
            </a:pPr>
            <a:r>
              <a:rPr sz="2100">
                <a:solidFill>
                  <a:srgbClr val="2A78D6"/>
                </a:solidFill>
                <a:latin typeface="Calibri"/>
              </a:rPr>
              <a:t>•  </a:t>
            </a:r>
            <a:r>
              <a:rPr b="1" sz="2100">
                <a:solidFill>
                  <a:srgbClr val="111111"/>
                </a:solidFill>
                <a:latin typeface="Calibri"/>
              </a:rPr>
              <a:t>This system</a:t>
            </a:r>
            <a:r>
              <a:rPr sz="2100">
                <a:solidFill>
                  <a:srgbClr val="111111"/>
                </a:solidFill>
                <a:latin typeface="Calibri"/>
              </a:rPr>
              <a:t>: trained on 620 real local graduates, handles people still searching, consistent</a:t>
            </a:r>
          </a:p>
          <a:p>
            <a:pPr>
              <a:spcAft>
                <a:spcPts val="800"/>
              </a:spcAft>
            </a:pPr>
            <a:r>
              <a:rPr sz="2100">
                <a:solidFill>
                  <a:srgbClr val="2A78D6"/>
                </a:solidFill>
                <a:latin typeface="Calibri"/>
              </a:rPr>
              <a:t>•  </a:t>
            </a:r>
            <a:r>
              <a:rPr b="1" sz="2100">
                <a:solidFill>
                  <a:srgbClr val="111111"/>
                </a:solidFill>
                <a:latin typeface="Calibri"/>
              </a:rPr>
              <a:t>Fair view</a:t>
            </a:r>
            <a:r>
              <a:rPr sz="2100">
                <a:solidFill>
                  <a:srgbClr val="111111"/>
                </a:solidFill>
                <a:latin typeface="Calibri"/>
              </a:rPr>
              <a:t>: ChatGPT is better at general advice and wording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D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777240"/>
          </a:xfrm>
          <a:prstGeom prst="rect">
            <a:avLst/>
          </a:prstGeom>
          <a:noFill/>
        </p:spPr>
        <p:txBody>
          <a:bodyPr wrap="square" anchor="ctr" lIns="45720" rIns="45720">
            <a:spAutoFit/>
          </a:bodyPr>
          <a:lstStyle/>
          <a:p>
            <a:pPr algn="l"/>
            <a:r>
              <a:rPr sz="3000" b="1">
                <a:solidFill>
                  <a:srgbClr val="FFFFFF"/>
                </a:solidFill>
                <a:latin typeface="Calibri"/>
              </a:rPr>
              <a:t>Usability: SUS 76.3 with 12 users</a:t>
            </a:r>
          </a:p>
        </p:txBody>
      </p:sp>
      <p:sp>
        <p:nvSpPr>
          <p:cNvPr id="4" name="TextBox 3"/>
          <p:cNvSpPr txBox="1"/>
          <p:nvPr/>
        </p:nvSpPr>
        <p:spPr>
          <a:xfrm>
            <a:off x="11155680" y="6446520"/>
            <a:ext cx="914400" cy="320040"/>
          </a:xfrm>
          <a:prstGeom prst="rect">
            <a:avLst/>
          </a:prstGeom>
          <a:noFill/>
        </p:spPr>
        <p:txBody>
          <a:bodyPr wrap="square" anchor="t" lIns="45720" rIns="45720">
            <a:spAutoFit/>
          </a:bodyPr>
          <a:lstStyle/>
          <a:p>
            <a:pPr algn="r"/>
            <a:r>
              <a:rPr sz="1200" b="0">
                <a:solidFill>
                  <a:srgbClr val="555555"/>
                </a:solidFill>
                <a:latin typeface="Calibri"/>
              </a:rPr>
              <a:t>11</a:t>
            </a:r>
          </a:p>
        </p:txBody>
      </p:sp>
      <p:pic>
        <p:nvPicPr>
          <p:cNvPr id="5" name="Picture 4" descr="sus_scores.png"/>
          <p:cNvPicPr>
            <a:picLocks noChangeAspect="1"/>
          </p:cNvPicPr>
          <p:nvPr/>
        </p:nvPicPr>
        <p:blipFill>
          <a:blip r:embed="rId3"/>
          <a:stretch>
            <a:fillRect/>
          </a:stretch>
        </p:blipFill>
        <p:spPr>
          <a:xfrm>
            <a:off x="365760" y="1719072"/>
            <a:ext cx="6766560" cy="4059935"/>
          </a:xfrm>
          <a:prstGeom prst="rect">
            <a:avLst/>
          </a:prstGeom>
        </p:spPr>
      </p:pic>
      <p:sp>
        <p:nvSpPr>
          <p:cNvPr id="6" name="TextBox 5"/>
          <p:cNvSpPr txBox="1"/>
          <p:nvPr/>
        </p:nvSpPr>
        <p:spPr>
          <a:xfrm>
            <a:off x="7315200" y="1463040"/>
            <a:ext cx="4572000" cy="4846320"/>
          </a:xfrm>
          <a:prstGeom prst="rect">
            <a:avLst/>
          </a:prstGeom>
          <a:noFill/>
        </p:spPr>
        <p:txBody>
          <a:bodyPr wrap="square">
            <a:spAutoFit/>
          </a:bodyPr>
          <a:lstStyle/>
          <a:p>
            <a:pPr>
              <a:spcAft>
                <a:spcPts val="1200"/>
              </a:spcAft>
            </a:pPr>
            <a:r>
              <a:rPr sz="2000">
                <a:solidFill>
                  <a:srgbClr val="2A78D6"/>
                </a:solidFill>
                <a:latin typeface="Calibri"/>
              </a:rPr>
              <a:t>•  </a:t>
            </a:r>
            <a:r>
              <a:rPr b="1" sz="2000">
                <a:solidFill>
                  <a:srgbClr val="111111"/>
                </a:solidFill>
                <a:latin typeface="Calibri"/>
              </a:rPr>
              <a:t>SUS 76.3</a:t>
            </a:r>
            <a:r>
              <a:rPr sz="2000">
                <a:solidFill>
                  <a:srgbClr val="111111"/>
                </a:solidFill>
                <a:latin typeface="Calibri"/>
              </a:rPr>
              <a:t>: (95% CI 69.5-83.0) vs benchmark 68</a:t>
            </a:r>
          </a:p>
          <a:p>
            <a:pPr>
              <a:spcAft>
                <a:spcPts val="1200"/>
              </a:spcAft>
            </a:pPr>
            <a:r>
              <a:rPr sz="2000">
                <a:solidFill>
                  <a:srgbClr val="2A78D6"/>
                </a:solidFill>
                <a:latin typeface="Calibri"/>
              </a:rPr>
              <a:t>•  </a:t>
            </a:r>
            <a:r>
              <a:rPr b="1" sz="2000">
                <a:solidFill>
                  <a:srgbClr val="111111"/>
                </a:solidFill>
                <a:latin typeface="Calibri"/>
              </a:rPr>
              <a:t>10 of 12</a:t>
            </a:r>
            <a:r>
              <a:rPr sz="2000">
                <a:solidFill>
                  <a:srgbClr val="111111"/>
                </a:solidFill>
                <a:latin typeface="Calibri"/>
              </a:rPr>
              <a:t>: scored 68 or more</a:t>
            </a:r>
          </a:p>
          <a:p>
            <a:pPr>
              <a:spcAft>
                <a:spcPts val="1200"/>
              </a:spcAft>
            </a:pPr>
            <a:r>
              <a:rPr sz="2000">
                <a:solidFill>
                  <a:srgbClr val="2A78D6"/>
                </a:solidFill>
                <a:latin typeface="Calibri"/>
              </a:rPr>
              <a:t>•  </a:t>
            </a:r>
            <a:r>
              <a:rPr b="1" sz="2000">
                <a:solidFill>
                  <a:srgbClr val="111111"/>
                </a:solidFill>
                <a:latin typeface="Calibri"/>
              </a:rPr>
              <a:t>Feedback</a:t>
            </a:r>
            <a:r>
              <a:rPr sz="2000">
                <a:solidFill>
                  <a:srgbClr val="111111"/>
                </a:solidFill>
                <a:latin typeface="Calibri"/>
              </a:rPr>
              <a:t>: less on one screen, explain terms</a:t>
            </a:r>
          </a:p>
          <a:p>
            <a:pPr>
              <a:spcAft>
                <a:spcPts val="1200"/>
              </a:spcAft>
            </a:pPr>
            <a:r>
              <a:rPr sz="2000">
                <a:solidFill>
                  <a:srgbClr val="2A78D6"/>
                </a:solidFill>
                <a:latin typeface="Calibri"/>
              </a:rPr>
              <a:t>•  </a:t>
            </a:r>
            <a:r>
              <a:rPr b="1" sz="2000">
                <a:solidFill>
                  <a:srgbClr val="111111"/>
                </a:solidFill>
                <a:latin typeface="Calibri"/>
              </a:rPr>
              <a:t>Acted on</a:t>
            </a:r>
            <a:r>
              <a:rPr sz="2000">
                <a:solidFill>
                  <a:srgbClr val="111111"/>
                </a:solidFill>
                <a:latin typeface="Calibri"/>
              </a:rPr>
              <a:t>: reading guide, source line, collapsible chat</a:t>
            </a:r>
          </a:p>
          <a:p>
            <a:pPr>
              <a:spcAft>
                <a:spcPts val="1200"/>
              </a:spcAft>
            </a:pPr>
            <a:r>
              <a:rPr sz="2000">
                <a:solidFill>
                  <a:srgbClr val="2A78D6"/>
                </a:solidFill>
                <a:latin typeface="Calibri"/>
              </a:rPr>
              <a:t>•  </a:t>
            </a:r>
            <a:r>
              <a:rPr b="1" sz="2000">
                <a:solidFill>
                  <a:srgbClr val="111111"/>
                </a:solidFill>
                <a:latin typeface="Calibri"/>
              </a:rPr>
              <a:t>Honest</a:t>
            </a:r>
            <a:r>
              <a:rPr sz="2000">
                <a:solidFill>
                  <a:srgbClr val="111111"/>
                </a:solidFill>
                <a:latin typeface="Calibri"/>
              </a:rPr>
              <a:t>: peers, n = 12, fixes not re-tested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D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777240"/>
          </a:xfrm>
          <a:prstGeom prst="rect">
            <a:avLst/>
          </a:prstGeom>
          <a:noFill/>
        </p:spPr>
        <p:txBody>
          <a:bodyPr wrap="square" anchor="ctr" lIns="45720" rIns="45720">
            <a:spAutoFit/>
          </a:bodyPr>
          <a:lstStyle/>
          <a:p>
            <a:pPr algn="l"/>
            <a:r>
              <a:rPr sz="3000" b="1">
                <a:solidFill>
                  <a:srgbClr val="FFFFFF"/>
                </a:solidFill>
                <a:latin typeface="Calibri"/>
              </a:rPr>
              <a:t>Limitations, stated openly</a:t>
            </a:r>
          </a:p>
        </p:txBody>
      </p:sp>
      <p:sp>
        <p:nvSpPr>
          <p:cNvPr id="4" name="TextBox 3"/>
          <p:cNvSpPr txBox="1"/>
          <p:nvPr/>
        </p:nvSpPr>
        <p:spPr>
          <a:xfrm>
            <a:off x="11155680" y="6446520"/>
            <a:ext cx="914400" cy="320040"/>
          </a:xfrm>
          <a:prstGeom prst="rect">
            <a:avLst/>
          </a:prstGeom>
          <a:noFill/>
        </p:spPr>
        <p:txBody>
          <a:bodyPr wrap="square" anchor="t" lIns="45720" rIns="45720">
            <a:spAutoFit/>
          </a:bodyPr>
          <a:lstStyle/>
          <a:p>
            <a:pPr algn="r"/>
            <a:r>
              <a:rPr sz="1200" b="0">
                <a:solidFill>
                  <a:srgbClr val="555555"/>
                </a:solidFill>
                <a:latin typeface="Calibri"/>
              </a:rPr>
              <a:t>12</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400"/>
              </a:spcAft>
            </a:pPr>
            <a:r>
              <a:rPr sz="2200">
                <a:solidFill>
                  <a:srgbClr val="2A78D6"/>
                </a:solidFill>
                <a:latin typeface="Calibri"/>
              </a:rPr>
              <a:t>•  </a:t>
            </a:r>
            <a:r>
              <a:rPr b="1" sz="2200">
                <a:solidFill>
                  <a:srgbClr val="111111"/>
                </a:solidFill>
                <a:latin typeface="Calibri"/>
              </a:rPr>
              <a:t>Sample</a:t>
            </a:r>
            <a:r>
              <a:rPr sz="2200">
                <a:solidFill>
                  <a:srgbClr val="111111"/>
                </a:solidFill>
                <a:latin typeface="Calibri"/>
              </a:rPr>
              <a:t>: non-probability; about a third from one institution; voluntary responders</a:t>
            </a:r>
          </a:p>
          <a:p>
            <a:pPr>
              <a:spcAft>
                <a:spcPts val="1400"/>
              </a:spcAft>
            </a:pPr>
            <a:r>
              <a:rPr sz="2200">
                <a:solidFill>
                  <a:srgbClr val="2A78D6"/>
                </a:solidFill>
                <a:latin typeface="Calibri"/>
              </a:rPr>
              <a:t>•  </a:t>
            </a:r>
            <a:r>
              <a:rPr b="1" sz="2200">
                <a:solidFill>
                  <a:srgbClr val="111111"/>
                </a:solidFill>
                <a:latin typeface="Calibri"/>
              </a:rPr>
              <a:t>Data</a:t>
            </a:r>
            <a:r>
              <a:rPr sz="2200">
                <a:solidFill>
                  <a:srgbClr val="111111"/>
                </a:solidFill>
                <a:latin typeface="Calibri"/>
              </a:rPr>
              <a:t>: self-reported outcome with recalled dates; one reference survey date</a:t>
            </a:r>
          </a:p>
          <a:p>
            <a:pPr>
              <a:spcAft>
                <a:spcPts val="1400"/>
              </a:spcAft>
            </a:pPr>
            <a:r>
              <a:rPr sz="2200">
                <a:solidFill>
                  <a:srgbClr val="2A78D6"/>
                </a:solidFill>
                <a:latin typeface="Calibri"/>
              </a:rPr>
              <a:t>•  </a:t>
            </a:r>
            <a:r>
              <a:rPr b="1" sz="2200">
                <a:solidFill>
                  <a:srgbClr val="111111"/>
                </a:solidFill>
                <a:latin typeface="Calibri"/>
              </a:rPr>
              <a:t>Model</a:t>
            </a:r>
            <a:r>
              <a:rPr sz="2200">
                <a:solidFill>
                  <a:srgbClr val="111111"/>
                </a:solidFill>
                <a:latin typeface="Calibri"/>
              </a:rPr>
              <a:t>: small evaluation sets (about 130); probabilities too pessimistic</a:t>
            </a:r>
          </a:p>
          <a:p>
            <a:pPr>
              <a:spcAft>
                <a:spcPts val="1400"/>
              </a:spcAft>
            </a:pPr>
            <a:r>
              <a:rPr sz="2200">
                <a:solidFill>
                  <a:srgbClr val="2A78D6"/>
                </a:solidFill>
                <a:latin typeface="Calibri"/>
              </a:rPr>
              <a:t>•  </a:t>
            </a:r>
            <a:r>
              <a:rPr b="1" sz="2200">
                <a:solidFill>
                  <a:srgbClr val="111111"/>
                </a:solidFill>
                <a:latin typeface="Calibri"/>
              </a:rPr>
              <a:t>Inference</a:t>
            </a:r>
            <a:r>
              <a:rPr sz="2200">
                <a:solidFill>
                  <a:srgbClr val="111111"/>
                </a:solidFill>
                <a:latin typeface="Calibri"/>
              </a:rPr>
              <a:t>: observational, so associations, not causes</a:t>
            </a:r>
          </a:p>
          <a:p>
            <a:pPr>
              <a:spcAft>
                <a:spcPts val="1400"/>
              </a:spcAft>
            </a:pPr>
            <a:r>
              <a:rPr sz="2200">
                <a:solidFill>
                  <a:srgbClr val="2A78D6"/>
                </a:solidFill>
                <a:latin typeface="Calibri"/>
              </a:rPr>
              <a:t>•  </a:t>
            </a:r>
            <a:r>
              <a:rPr b="1" sz="2200">
                <a:solidFill>
                  <a:srgbClr val="111111"/>
                </a:solidFill>
                <a:latin typeface="Calibri"/>
              </a:rPr>
              <a:t>Employer ratings</a:t>
            </a:r>
            <a:r>
              <a:rPr sz="2200">
                <a:solidFill>
                  <a:srgbClr val="111111"/>
                </a:solidFill>
                <a:latin typeface="Calibri"/>
              </a:rPr>
              <a:t>: cluster at 4-5, so used to rank skills, not as absolute levels</a:t>
            </a:r>
          </a:p>
          <a:p>
            <a:pPr>
              <a:spcAft>
                <a:spcPts val="1400"/>
              </a:spcAft>
            </a:pPr>
            <a:r>
              <a:rPr sz="2200">
                <a:solidFill>
                  <a:srgbClr val="2A78D6"/>
                </a:solidFill>
                <a:latin typeface="Calibri"/>
              </a:rPr>
              <a:t>•  </a:t>
            </a:r>
            <a:r>
              <a:rPr b="1" sz="2200">
                <a:solidFill>
                  <a:srgbClr val="111111"/>
                </a:solidFill>
                <a:latin typeface="Calibri"/>
              </a:rPr>
              <a:t>Usability</a:t>
            </a:r>
            <a:r>
              <a:rPr sz="2200">
                <a:solidFill>
                  <a:srgbClr val="111111"/>
                </a:solidFill>
                <a:latin typeface="Calibri"/>
              </a:rPr>
              <a:t>: 12 peer participants; task completion not recorded task by task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D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47120" cy="777240"/>
          </a:xfrm>
          <a:prstGeom prst="rect">
            <a:avLst/>
          </a:prstGeom>
          <a:noFill/>
        </p:spPr>
        <p:txBody>
          <a:bodyPr wrap="square" anchor="ctr" lIns="45720" rIns="45720">
            <a:spAutoFit/>
          </a:bodyPr>
          <a:lstStyle/>
          <a:p>
            <a:pPr algn="l"/>
            <a:r>
              <a:rPr sz="3000" b="1">
                <a:solidFill>
                  <a:srgbClr val="FFFFFF"/>
                </a:solidFill>
                <a:latin typeface="Calibri"/>
              </a:rPr>
              <a:t>Contribution and conclusion</a:t>
            </a:r>
          </a:p>
        </p:txBody>
      </p:sp>
      <p:sp>
        <p:nvSpPr>
          <p:cNvPr id="4" name="TextBox 3"/>
          <p:cNvSpPr txBox="1"/>
          <p:nvPr/>
        </p:nvSpPr>
        <p:spPr>
          <a:xfrm>
            <a:off x="11155680" y="6446520"/>
            <a:ext cx="914400" cy="320040"/>
          </a:xfrm>
          <a:prstGeom prst="rect">
            <a:avLst/>
          </a:prstGeom>
          <a:noFill/>
        </p:spPr>
        <p:txBody>
          <a:bodyPr wrap="square" anchor="t" lIns="45720" rIns="45720">
            <a:spAutoFit/>
          </a:bodyPr>
          <a:lstStyle/>
          <a:p>
            <a:pPr algn="r"/>
            <a:r>
              <a:rPr sz="1200" b="0">
                <a:solidFill>
                  <a:srgbClr val="555555"/>
                </a:solidFill>
                <a:latin typeface="Calibri"/>
              </a:rPr>
              <a:t>13</a:t>
            </a:r>
          </a:p>
        </p:txBody>
      </p:sp>
      <p:sp>
        <p:nvSpPr>
          <p:cNvPr id="5" name="TextBox 4"/>
          <p:cNvSpPr txBox="1"/>
          <p:nvPr/>
        </p:nvSpPr>
        <p:spPr>
          <a:xfrm>
            <a:off x="640080" y="1280160"/>
            <a:ext cx="10972800" cy="1371600"/>
          </a:xfrm>
          <a:prstGeom prst="rect">
            <a:avLst/>
          </a:prstGeom>
          <a:noFill/>
        </p:spPr>
        <p:txBody>
          <a:bodyPr wrap="square" anchor="t" lIns="45720" rIns="45720">
            <a:spAutoFit/>
          </a:bodyPr>
          <a:lstStyle/>
          <a:p>
            <a:pPr algn="l"/>
            <a:r>
              <a:rPr sz="2400" b="1">
                <a:solidFill>
                  <a:srgbClr val="0D366B"/>
                </a:solidFill>
                <a:latin typeface="Calibri"/>
              </a:rPr>
              <a:t>The first explainable survival-analysis system that predicts WHEN Sri Lankan IT graduates find a first IT job, triangulated with employer and job-ad data, and tested against a general LLM.</a:t>
            </a:r>
          </a:p>
        </p:txBody>
      </p:sp>
      <p:sp>
        <p:nvSpPr>
          <p:cNvPr id="6" name="TextBox 5"/>
          <p:cNvSpPr txBox="1"/>
          <p:nvPr/>
        </p:nvSpPr>
        <p:spPr>
          <a:xfrm>
            <a:off x="640080" y="3017520"/>
            <a:ext cx="10972800" cy="3474720"/>
          </a:xfrm>
          <a:prstGeom prst="rect">
            <a:avLst/>
          </a:prstGeom>
          <a:noFill/>
        </p:spPr>
        <p:txBody>
          <a:bodyPr wrap="square">
            <a:spAutoFit/>
          </a:bodyPr>
          <a:lstStyle/>
          <a:p>
            <a:pPr>
              <a:spcAft>
                <a:spcPts val="900"/>
              </a:spcAft>
            </a:pPr>
            <a:r>
              <a:rPr sz="2100">
                <a:solidFill>
                  <a:srgbClr val="2A78D6"/>
                </a:solidFill>
                <a:latin typeface="Calibri"/>
              </a:rPr>
              <a:t>•  </a:t>
            </a:r>
            <a:r>
              <a:rPr b="1" sz="2100">
                <a:solidFill>
                  <a:srgbClr val="111111"/>
                </a:solidFill>
                <a:latin typeface="Calibri"/>
              </a:rPr>
              <a:t>RQ1</a:t>
            </a:r>
            <a:r>
              <a:rPr sz="2100">
                <a:solidFill>
                  <a:srgbClr val="111111"/>
                </a:solidFill>
                <a:latin typeface="Calibri"/>
              </a:rPr>
              <a:t>: GPA and internships are associated with shorter searches</a:t>
            </a:r>
          </a:p>
          <a:p>
            <a:pPr>
              <a:spcAft>
                <a:spcPts val="900"/>
              </a:spcAft>
            </a:pPr>
            <a:r>
              <a:rPr sz="2100">
                <a:solidFill>
                  <a:srgbClr val="2A78D6"/>
                </a:solidFill>
                <a:latin typeface="Calibri"/>
              </a:rPr>
              <a:t>•  </a:t>
            </a:r>
            <a:r>
              <a:rPr b="1" sz="2100">
                <a:solidFill>
                  <a:srgbClr val="111111"/>
                </a:solidFill>
                <a:latin typeface="Calibri"/>
              </a:rPr>
              <a:t>RQ2</a:t>
            </a:r>
            <a:r>
              <a:rPr sz="2100">
                <a:solidFill>
                  <a:srgbClr val="111111"/>
                </a:solidFill>
                <a:latin typeface="Calibri"/>
              </a:rPr>
              <a:t>: graduates rate themselves below employer expectations on 25 of 26 skills</a:t>
            </a:r>
          </a:p>
          <a:p>
            <a:pPr>
              <a:spcAft>
                <a:spcPts val="900"/>
              </a:spcAft>
            </a:pPr>
            <a:r>
              <a:rPr sz="2100">
                <a:solidFill>
                  <a:srgbClr val="2A78D6"/>
                </a:solidFill>
                <a:latin typeface="Calibri"/>
              </a:rPr>
              <a:t>•  </a:t>
            </a:r>
            <a:r>
              <a:rPr b="1" sz="2100">
                <a:solidFill>
                  <a:srgbClr val="111111"/>
                </a:solidFill>
                <a:latin typeface="Calibri"/>
              </a:rPr>
              <a:t>RQ3</a:t>
            </a:r>
            <a:r>
              <a:rPr sz="2100">
                <a:solidFill>
                  <a:srgbClr val="111111"/>
                </a:solidFill>
                <a:latin typeface="Calibri"/>
              </a:rPr>
              <a:t>: moderate ranking (C 0.619); AFT Log-Normal chosen by a pre-set rule</a:t>
            </a:r>
          </a:p>
          <a:p>
            <a:pPr>
              <a:spcAft>
                <a:spcPts val="900"/>
              </a:spcAft>
            </a:pPr>
            <a:r>
              <a:rPr sz="2100">
                <a:solidFill>
                  <a:srgbClr val="2A78D6"/>
                </a:solidFill>
                <a:latin typeface="Calibri"/>
              </a:rPr>
              <a:t>•  </a:t>
            </a:r>
            <a:r>
              <a:rPr b="1" sz="2100">
                <a:solidFill>
                  <a:srgbClr val="111111"/>
                </a:solidFill>
                <a:latin typeface="Calibri"/>
              </a:rPr>
              <a:t>RQ4</a:t>
            </a:r>
            <a:r>
              <a:rPr sz="2100">
                <a:solidFill>
                  <a:srgbClr val="111111"/>
                </a:solidFill>
                <a:latin typeface="Calibri"/>
              </a:rPr>
              <a:t>: usable (SUS 76.3) and better than ChatGPT (0.619 vs 0.539)</a:t>
            </a:r>
          </a:p>
          <a:p>
            <a:pPr>
              <a:spcAft>
                <a:spcPts val="900"/>
              </a:spcAft>
            </a:pPr>
            <a:r>
              <a:rPr sz="2100">
                <a:solidFill>
                  <a:srgbClr val="2A78D6"/>
                </a:solidFill>
                <a:latin typeface="Calibri"/>
              </a:rPr>
              <a:t>•  </a:t>
            </a:r>
            <a:r>
              <a:rPr b="1" sz="2100">
                <a:solidFill>
                  <a:srgbClr val="111111"/>
                </a:solidFill>
                <a:latin typeface="Calibri"/>
              </a:rPr>
              <a:t>Next</a:t>
            </a:r>
            <a:r>
              <a:rPr sz="2100">
                <a:solidFill>
                  <a:srgbClr val="111111"/>
                </a:solidFill>
                <a:latin typeface="Calibri"/>
              </a:rPr>
              <a:t>: more institutions, real survey dates, recalibration, re-test the updated app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77440"/>
            <a:ext cx="10515600" cy="1097280"/>
          </a:xfrm>
          <a:prstGeom prst="rect">
            <a:avLst/>
          </a:prstGeom>
          <a:noFill/>
        </p:spPr>
        <p:txBody>
          <a:bodyPr wrap="square" anchor="t" lIns="45720" rIns="45720">
            <a:spAutoFit/>
          </a:bodyPr>
          <a:lstStyle/>
          <a:p>
            <a:pPr algn="ctr"/>
            <a:r>
              <a:rPr sz="4800" b="1">
                <a:solidFill>
                  <a:srgbClr val="FFFFFF"/>
                </a:solidFill>
                <a:latin typeface="Calibri"/>
              </a:rPr>
              <a:t>Thank you - questions?</a:t>
            </a:r>
          </a:p>
        </p:txBody>
      </p:sp>
      <p:sp>
        <p:nvSpPr>
          <p:cNvPr id="4" name="TextBox 3"/>
          <p:cNvSpPr txBox="1"/>
          <p:nvPr/>
        </p:nvSpPr>
        <p:spPr>
          <a:xfrm>
            <a:off x="822960" y="3840480"/>
            <a:ext cx="10515600" cy="731520"/>
          </a:xfrm>
          <a:prstGeom prst="rect">
            <a:avLst/>
          </a:prstGeom>
          <a:noFill/>
        </p:spPr>
        <p:txBody>
          <a:bodyPr wrap="square" anchor="t" lIns="45720" rIns="45720">
            <a:spAutoFit/>
          </a:bodyPr>
          <a:lstStyle/>
          <a:p>
            <a:pPr algn="ctr"/>
            <a:r>
              <a:rPr sz="1800" b="0">
                <a:solidFill>
                  <a:srgbClr val="86B6EF"/>
                </a:solidFill>
                <a:latin typeface="Calibri"/>
              </a:rPr>
              <a:t>Code and walkthrough notebook: github.com/ShaznaSalman/final-research-employability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