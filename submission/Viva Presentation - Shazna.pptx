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title in one breath. Then the 30-second pitch: about 17,000 IT graduates a year, nobody can see how long THEIR search will take, so I built an explainable survival-analysis system trained on 885 real graduates, with employer and job-ad data, tested against ChatGPT, with a working app.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panel the map so they know where each of their likely questions will be answered. Takes 20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17,000 IT and computing graduates a year (SLASSCOM 2024). National statistics give unemployment rates, not individual timelines. Existing tools predict a category or match jobs. Quote Kelaniya 2022: the average search is about 8 months for all faculties. The graduate has nothing personal to plan with.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idea. Six example graduates. Four found a job at the months shown. Two were still searching when surveyed: they are CENSORED. We know they had NOT found a job by then, so their partial information is valuable. A classifier would throw them away or label them 'unemployed', which is wrong. Survival analysis uses exactly this partial information, and also answers WHEN, not just whether.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the closest existing work. Rukais et al. 2025 is the strongest Sri Lankan ML precedent but it predicts a career-path CATEGORY with an ensemble. ITConnect detects fake jobs. Scopira and commercial tools are not time-to-event and not Sri Lankan IT specific. None predicts time, none uses censored graduates, none gives a range with uncertainty. This is the gap. Be careful to say 'in my literature review', not 'nowhere in the world'.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research question per objective, numbered the same. The right-hand column is where the evidence lives; you can point to the slide. O4 includes the benchmark against a general-purpose LLM because that is the critique the panel is most likely to raise.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Philosophy: pragmatism. Approach: deductive and quantitative. The pipeline is fixed and reproducible: data come in, are cleaned and audited, split ONCE into train / validation / test, seven models are fitted, one is chosen on validation by a rule set in advance, the test set is evaluated once, and the result feeds the app. Every step is in code and re-runs with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data: a 47-item graduate questionnaire and a 21-item employer questionnaire, both on Google Forms. Secondary data: 324 real entry-level job ads (topjobs.lk, ITPro.lk, LinkedIn) coded to the same 26-skill vocabulary. Sampling is non-probability (purposive, convenience, snowball) because no list of IT graduates exists; I state that as a limitation. Cochran gives 384 at 95% / 5%, so the target was about 400.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validity: 6 experts (two lecturers, one survival-analysis researcher, three industry practitioners) and a per-item evidence matrix. Pilot with 21 graduates and 9 employers. Construct validity on the skill blocks: KMO above 0.94, parallel analysis, discriminant validity by HTMT below 0.85. Reliability: Cronbach's alpha 0.925 and 0.902 with confidence intervals, omega the same. An attention-check item removes careless responders.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cleaning rules were fixed before looking at results and every removal is in the data-cleaning log. 4 duplicates and 24 failed attention checks. 230 final-year students are set aside because they have no outcome yet (they feed descriptive analyses). 32 more removed for rules like no IT job market, implausible dates. Result: 885 graduates, 667 found an IT job, 218 still searching, so 24.6% censored.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Kaplan-Meier on the 885 graduates: 43.6% had found an IT job by 3 months, 67.0% by 6, 80.9% by 12, 89.8% by 24. The median is 4 months, and 117 graduates (13.2%) started an IT role before completion. The training, validation and test sets were similar on every characteristic, so the split is fair.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 span the supervisor's families: linear (Cox PH), regularised (Elastic Net Cox), parametric (three AFT distributions plus the best by AIC) and nonlinear (DeepSurv, a neural-network survival model). No forests or ensembles, as the supervisor directed, and a test in the code enforces it. The selection rule was fixed in advance: highest validation Uno's C, simplicity and calibration as tie-breakers.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70/15/15 stratified by outcome; no graduate appears in two parts. Train is for fitting and cross-validated tuning. Validation is for choosing the model. Test is for a single final evaluation. Preprocessing (imputation, scaling, encoding) is learned from training data only, which prevents leakage. Metrics: Uno's C (designed for censored data), integrated Brier score, calibration at 3, 6 and 12 months.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133 validation graduates the AFT Log-Normal had the highest Uno's C: 0.693 (95% CI 0.636 to 0.745) and a low integrated Brier score of 0.171. DeepSurv reached 0.679, Cox PH 0.667. The intervals overlap, which is why the rule also uses simplicity. The more complex neural survival models did not beat it, which is why I did not tune towards a target number.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set of 132 graduates, evaluated once. Uno's C 0.619 (95% CI 0.557 to 0.683), Harrell's C 0.626. Integrated Brier 0.167 against 0.164 for the Kaplan-Meier baseline, so the probabilities are not better than a baseline. The model under-predicts employment: 61% predicted versus 77% observed by 6 months. Plausible causes: small evaluation sets, later cohorts finding jobs faster, one reference survey date. I report this rather than re-tune on the test set. That is why the app leads with a range and labels probabilities as indicative.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Uno's C and calibration by gender and institution type. Women 0.724 versus men 0.574, but the intervals overlap, so the gap may be chance. Gender is never a model input; it is used only for this check. Institution type is an input but showed no clear association. Robustness: validation C ranged only from 0.659 to 0.707 across the data-cleaning variants, and 15 of 16 effect directions stayed the same in the complete-case check. Temporal validation: trained on earlier cohorts, tested on later cohorts, C 0.72.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ratios from the selected AFT model, per standard deviation. A time ratio below 1 means a shorter search. GPA 0.80 means about 20% shorter; internship months 0.84, about 16% shorter. Both clear (p = 0.001). Certifications and technical skills point the same way but their intervals include 1. Institution type, degree programme, soft skills and preparation activities show no clear association. This is observational: associations, not causes. The Kaplan-Meier curves by GPA show the same thing: median 4 months for GPA 3.0 or higher against 7 months below.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Employers' importance ratings versus graduates' self-ratings. The biggest gaps are cloud computing, software testing, DevOps, Docker and cybersecurity. Problem solving and communication are the most requested in real job ads (69% and 55%) and also show gaps. Employers' stated priorities matched what they advertise only moderately (Spearman rho 0.39). Employer ratings cluster at 4 and 5, so I used them to rank skills, not as absolute levels. Note GPA: employers rated it least important (3.21 of 5), yet it had the strongest association with speed. Likely a screening signal.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Job market page of the app, built from 324 real ads. Problem solving appears in 69% of ads, teamwork 61%, communication 55%. Software testing is the top technical skill at 44%. Docker plus DevOps is the strongest skill bundle, seen together 7.8 times more often than chance. Internship ads stress self-learning (61% against 31% for junior roles), significant after Benjamini-Hochberg correction across 26 skills.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layers. The offline pipeline cleans data, fits and selects models, evaluates once on the test set, builds 200 bootstrap models for uncertainty, and writes every result as an artifact. The runtime layer (FastAPI plus Streamlit) loads those artifacts, predicts, explains and compares skills with real ads. It stores no profile. 13 endpoints, typed validation, 295 tests.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screenshots of the real running application, not mock-ups. The app is called JobSpark. Home explains the system and shows headline figures from the real job ads. 'Get my estimate' opens a four-step profile (About you, Experience, Skills, Preparation) and then My dashboard shows the range, the confidence and the chance of a job. Other pages: Compare (skills against employers), Improve my chances (what-ifs), Ask (answers only from the system's own results, also available as the floating Spark assistant), Job market (324 real ads) and Research lab (how good the model is, including its flaws). The interface was redesigned after the usability study; the model, the API and the results did not change. Live demo if asked: start the API (uvicorn api.main:app --port 8000) and the app (streamlit run frontend/app.py), click Get my estimate, accept the default profile (GPA 3.0, 6 months of internship, 3 projects) through the four steps, show the dashboard, then open Improve my chances and move the internship slider. Backup plan: these screenshots.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app. (1) The most likely time with a typical range and a confidence label. (2) The range bar. (3) The chance of having found an IT job by 3, 6, 12 and 24 months, with intervals. 'Your results at a glance' compares the profile with employers' ratings. The explanation (what is helping and holding back) and the what-ifs are reached from the same results area and from Improve my chances, shown next. The interface was redesigned after the usability study (step-by-step profile, dashboard, light and dark themes); the model and results did not change. If asked, offer a live demo.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what-if sliders and the suggested combinations use ASSOCIATIONAL wording: 'graduates with profiles like yours but with 3 more months of internship tended to find work about 1 month sooner'. They never say 'will'. This answers the critique 'so what does a graduate do differently?': they get realistic, small, actionable changes, and the app is honest that only GPA and internship were clearly linked to a shorter search.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does not just predict, it shows how good the model is and where it fails. The Research lab page shows the model comparison, the locked test result, calibration, fairness, robustness, a simulation study and the questionnaire evidence. This is a direct answer to 'can it be trusted?': the system tells users its own limits.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132 held-out test graduates, same information, anonymous profiles. ChatGPT's Uno's C was 0.539, close to chance, against 0.619 for the model; difference 0.081, 95% CI 0.030 to 0.131. It was over-optimistic about employment within six months and gave different answers to the same profile across repeated runs. ChatGPT is a general language model trained on web text, never on Sri Lankan graduate outcomes, and it cannot use people still searching. It is better at general advice and wording. Fair view: complementary, not competing.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final-year students and graduates used the app in one-to-one sessions on 14 October. Mean SUS 76.3 (95% CI 69.5 to 83.0) against the benchmark of 68 (Hyzy et al., 2022); ten of twelve scored 68 or more; Cronbach's alpha 0.90. Comments led to real changes. Limitations: participants were peers, n = 12, and task completion was not recorded task by task. The fixes were applied after the study and not re-tested.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295 automated tests cover cleaning, models, the API and the privacy guarantee (nothing stored). Every number in the thesis can be regenerated: the walkthrough notebook runs every metric, and the code is public on GitHub. Ethics: ethical approval before collection, consent on every response, no identifying questions, PDPA 2022 compliance, institutions reported by type only, and fairness checked. The what-if wording avoids causal claims.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direct about these before the panel raises them. Each has a mitigation in the thesis. The sample is non-probability with about a third from one institution; outcomes and dates are self-reported; one reference survey date was used for every response, which may overstate follow-up for graduates still searching; the evaluation sets are small (about 130) and probabilities are too pessimistic; the study is observational; employer ratings cluster at 4 and 5; and SUS participants were the researcher's peers.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each research question in one line. Then say the contribution in one sentence: the first explainable survival-analysis system that predicts WHEN Sri Lankan IT graduates find a first IT job, triangulated with employer and job-ad data, and tested against a general LLM.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timeline shows how the project ran from January to October 2026: title clearance and proposal February to May, ethics, questionnaire design and job-ad collection overlapping from June, the main survey closing on 6 October, and analysis, the usability study, the LLM benchmark and the thesis completed in the final weeks. Future work: more respondents from more institutions, recalibrate the probabilities, use real per-respondent survey dates, and re-test the improved app.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four messages and invite questions. Keep the Viva Sheet open. Evidence if asked: walkthrough notebook, 295 tests, public repository.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here and invite questions. The next two slides are backup only: the hard questions and the key numbers. Remember: 0.62 is the test score, 0.693 the validation score.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asked. Each box is the 1-2 sentence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for quick lookup.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863840" y="-2011680"/>
            <a:ext cx="6858000" cy="685800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09760" y="3108960"/>
            <a:ext cx="5029200" cy="5029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051560"/>
            <a:ext cx="1097280" cy="7315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234440"/>
            <a:ext cx="8778240" cy="411480"/>
          </a:xfrm>
          <a:prstGeom prst="rect">
            <a:avLst/>
          </a:prstGeom>
          <a:noFill/>
        </p:spPr>
        <p:txBody>
          <a:bodyPr wrap="square" anchor="t" lIns="45720" rIns="45720" tIns="18288" bIns="18288">
            <a:spAutoFit/>
          </a:bodyPr>
          <a:lstStyle/>
          <a:p>
            <a:pPr algn="l"/>
            <a:r>
              <a:rPr sz="1500" b="1" i="0">
                <a:solidFill>
                  <a:srgbClr val="86B6EF"/>
                </a:solidFill>
                <a:latin typeface="Calibri"/>
              </a:rPr>
              <a:t>FINAL-YEAR DISSERTATION  ·  BSc (Hons)  ·  NIBM / COVENTRY UNIVERSITY</a:t>
            </a:r>
          </a:p>
        </p:txBody>
      </p:sp>
      <p:sp>
        <p:nvSpPr>
          <p:cNvPr id="7" name="TextBox 6"/>
          <p:cNvSpPr txBox="1"/>
          <p:nvPr/>
        </p:nvSpPr>
        <p:spPr>
          <a:xfrm>
            <a:off x="822960" y="1783080"/>
            <a:ext cx="8961120" cy="2194560"/>
          </a:xfrm>
          <a:prstGeom prst="rect">
            <a:avLst/>
          </a:prstGeom>
          <a:noFill/>
        </p:spPr>
        <p:txBody>
          <a:bodyPr wrap="square" anchor="t" lIns="45720" rIns="45720" tIns="18288" bIns="18288">
            <a:spAutoFit/>
          </a:bodyPr>
          <a:lstStyle/>
          <a:p>
            <a:pPr algn="l"/>
            <a:r>
              <a:rPr sz="3600" b="1" i="0">
                <a:solidFill>
                  <a:srgbClr val="FFFFFF"/>
                </a:solidFill>
                <a:latin typeface="Calibri"/>
              </a:rPr>
              <a:t>A Survival-Analysis Framework for Predicting and Explaining Time-to-Employment for Final-Year IT Undergraduates in Sri Lanka</a:t>
            </a:r>
          </a:p>
        </p:txBody>
      </p:sp>
      <p:sp>
        <p:nvSpPr>
          <p:cNvPr id="8" name="TextBox 7"/>
          <p:cNvSpPr txBox="1"/>
          <p:nvPr/>
        </p:nvSpPr>
        <p:spPr>
          <a:xfrm>
            <a:off x="822960" y="4160520"/>
            <a:ext cx="8229600" cy="457200"/>
          </a:xfrm>
          <a:prstGeom prst="rect">
            <a:avLst/>
          </a:prstGeom>
          <a:noFill/>
        </p:spPr>
        <p:txBody>
          <a:bodyPr wrap="square" anchor="t" lIns="45720" rIns="45720" tIns="18288" bIns="18288">
            <a:spAutoFit/>
          </a:bodyPr>
          <a:lstStyle/>
          <a:p>
            <a:pPr algn="l"/>
            <a:r>
              <a:rPr sz="2600" b="1" i="0">
                <a:solidFill>
                  <a:srgbClr val="86B6EF"/>
                </a:solidFill>
                <a:latin typeface="Calibri"/>
              </a:rPr>
              <a:t>M.S.F. Shazna</a:t>
            </a:r>
          </a:p>
        </p:txBody>
      </p:sp>
      <p:sp>
        <p:nvSpPr>
          <p:cNvPr id="9" name="TextBox 8"/>
          <p:cNvSpPr txBox="1"/>
          <p:nvPr/>
        </p:nvSpPr>
        <p:spPr>
          <a:xfrm>
            <a:off x="822960" y="4663440"/>
            <a:ext cx="8229600" cy="822960"/>
          </a:xfrm>
          <a:prstGeom prst="rect">
            <a:avLst/>
          </a:prstGeom>
          <a:noFill/>
        </p:spPr>
        <p:txBody>
          <a:bodyPr wrap="square" anchor="t" lIns="45720" rIns="45720" tIns="18288" bIns="18288">
            <a:spAutoFit/>
          </a:bodyPr>
          <a:lstStyle/>
          <a:p>
            <a:pPr algn="l"/>
            <a:r>
              <a:rPr sz="1800" b="0" i="0">
                <a:solidFill>
                  <a:srgbClr val="FFFFFF"/>
                </a:solidFill>
                <a:latin typeface="Calibri"/>
              </a:rPr>
              <a:t>Supervisor: L. S. Chathurika</a:t>
            </a:r>
          </a:p>
          <a:p>
            <a:pPr algn="l"/>
            <a:r>
              <a:rPr sz="1800" b="0" i="0">
                <a:solidFill>
                  <a:srgbClr val="FFFFFF"/>
                </a:solidFill>
                <a:latin typeface="Calibri"/>
              </a:rPr>
              <a:t>School of Computing and Engineering</a:t>
            </a:r>
          </a:p>
        </p:txBody>
      </p:sp>
      <p:sp>
        <p:nvSpPr>
          <p:cNvPr id="10" name="TextBox 9"/>
          <p:cNvSpPr txBox="1"/>
          <p:nvPr/>
        </p:nvSpPr>
        <p:spPr>
          <a:xfrm>
            <a:off x="822960" y="5623560"/>
            <a:ext cx="2103120" cy="548640"/>
          </a:xfrm>
          <a:prstGeom prst="rect">
            <a:avLst/>
          </a:prstGeom>
          <a:noFill/>
        </p:spPr>
        <p:txBody>
          <a:bodyPr wrap="square" anchor="t" lIns="45720" rIns="45720" tIns="18288" bIns="18288">
            <a:spAutoFit/>
          </a:bodyPr>
          <a:lstStyle/>
          <a:p>
            <a:pPr algn="l"/>
            <a:r>
              <a:rPr sz="3000" b="1" i="0">
                <a:solidFill>
                  <a:srgbClr val="FFFFFF"/>
                </a:solidFill>
                <a:latin typeface="Calibri"/>
              </a:rPr>
              <a:t>885</a:t>
            </a:r>
          </a:p>
        </p:txBody>
      </p:sp>
      <p:sp>
        <p:nvSpPr>
          <p:cNvPr id="11" name="TextBox 10"/>
          <p:cNvSpPr txBox="1"/>
          <p:nvPr/>
        </p:nvSpPr>
        <p:spPr>
          <a:xfrm>
            <a:off x="822960" y="6126480"/>
            <a:ext cx="2103120" cy="365760"/>
          </a:xfrm>
          <a:prstGeom prst="rect">
            <a:avLst/>
          </a:prstGeom>
          <a:noFill/>
        </p:spPr>
        <p:txBody>
          <a:bodyPr wrap="square" anchor="t" lIns="45720" rIns="45720" tIns="18288" bIns="18288">
            <a:spAutoFit/>
          </a:bodyPr>
          <a:lstStyle/>
          <a:p>
            <a:pPr algn="l"/>
            <a:r>
              <a:rPr sz="1300" b="0" i="0">
                <a:solidFill>
                  <a:srgbClr val="86B6EF"/>
                </a:solidFill>
                <a:latin typeface="Calibri"/>
              </a:rPr>
              <a:t>graduates modelled</a:t>
            </a:r>
          </a:p>
        </p:txBody>
      </p:sp>
      <p:sp>
        <p:nvSpPr>
          <p:cNvPr id="12" name="TextBox 11"/>
          <p:cNvSpPr txBox="1"/>
          <p:nvPr/>
        </p:nvSpPr>
        <p:spPr>
          <a:xfrm>
            <a:off x="2971800" y="5623560"/>
            <a:ext cx="2103120" cy="548640"/>
          </a:xfrm>
          <a:prstGeom prst="rect">
            <a:avLst/>
          </a:prstGeom>
          <a:noFill/>
        </p:spPr>
        <p:txBody>
          <a:bodyPr wrap="square" anchor="t" lIns="45720" rIns="45720" tIns="18288" bIns="18288">
            <a:spAutoFit/>
          </a:bodyPr>
          <a:lstStyle/>
          <a:p>
            <a:pPr algn="l"/>
            <a:r>
              <a:rPr sz="3000" b="1" i="0">
                <a:solidFill>
                  <a:srgbClr val="FFFFFF"/>
                </a:solidFill>
                <a:latin typeface="Calibri"/>
              </a:rPr>
              <a:t>245</a:t>
            </a:r>
          </a:p>
        </p:txBody>
      </p:sp>
      <p:sp>
        <p:nvSpPr>
          <p:cNvPr id="13" name="TextBox 12"/>
          <p:cNvSpPr txBox="1"/>
          <p:nvPr/>
        </p:nvSpPr>
        <p:spPr>
          <a:xfrm>
            <a:off x="2971800" y="6126480"/>
            <a:ext cx="2103120" cy="365760"/>
          </a:xfrm>
          <a:prstGeom prst="rect">
            <a:avLst/>
          </a:prstGeom>
          <a:noFill/>
        </p:spPr>
        <p:txBody>
          <a:bodyPr wrap="square" anchor="t" lIns="45720" rIns="45720" tIns="18288" bIns="18288">
            <a:spAutoFit/>
          </a:bodyPr>
          <a:lstStyle/>
          <a:p>
            <a:pPr algn="l"/>
            <a:r>
              <a:rPr sz="1300" b="0" i="0">
                <a:solidFill>
                  <a:srgbClr val="86B6EF"/>
                </a:solidFill>
                <a:latin typeface="Calibri"/>
              </a:rPr>
              <a:t>employers</a:t>
            </a:r>
          </a:p>
        </p:txBody>
      </p:sp>
      <p:sp>
        <p:nvSpPr>
          <p:cNvPr id="14" name="TextBox 13"/>
          <p:cNvSpPr txBox="1"/>
          <p:nvPr/>
        </p:nvSpPr>
        <p:spPr>
          <a:xfrm>
            <a:off x="5120640" y="5623560"/>
            <a:ext cx="2103120" cy="548640"/>
          </a:xfrm>
          <a:prstGeom prst="rect">
            <a:avLst/>
          </a:prstGeom>
          <a:noFill/>
        </p:spPr>
        <p:txBody>
          <a:bodyPr wrap="square" anchor="t" lIns="45720" rIns="45720" tIns="18288" bIns="18288">
            <a:spAutoFit/>
          </a:bodyPr>
          <a:lstStyle/>
          <a:p>
            <a:pPr algn="l"/>
            <a:r>
              <a:rPr sz="3000" b="1" i="0">
                <a:solidFill>
                  <a:srgbClr val="FFFFFF"/>
                </a:solidFill>
                <a:latin typeface="Calibri"/>
              </a:rPr>
              <a:t>324</a:t>
            </a:r>
          </a:p>
        </p:txBody>
      </p:sp>
      <p:sp>
        <p:nvSpPr>
          <p:cNvPr id="15" name="TextBox 14"/>
          <p:cNvSpPr txBox="1"/>
          <p:nvPr/>
        </p:nvSpPr>
        <p:spPr>
          <a:xfrm>
            <a:off x="5120640" y="6126480"/>
            <a:ext cx="2103120" cy="365760"/>
          </a:xfrm>
          <a:prstGeom prst="rect">
            <a:avLst/>
          </a:prstGeom>
          <a:noFill/>
        </p:spPr>
        <p:txBody>
          <a:bodyPr wrap="square" anchor="t" lIns="45720" rIns="45720" tIns="18288" bIns="18288">
            <a:spAutoFit/>
          </a:bodyPr>
          <a:lstStyle/>
          <a:p>
            <a:pPr algn="l"/>
            <a:r>
              <a:rPr sz="1300" b="0" i="0">
                <a:solidFill>
                  <a:srgbClr val="86B6EF"/>
                </a:solidFill>
                <a:latin typeface="Calibri"/>
              </a:rPr>
              <a:t>real job ads</a:t>
            </a:r>
          </a:p>
        </p:txBody>
      </p:sp>
      <p:sp>
        <p:nvSpPr>
          <p:cNvPr id="16" name="TextBox 15"/>
          <p:cNvSpPr txBox="1"/>
          <p:nvPr/>
        </p:nvSpPr>
        <p:spPr>
          <a:xfrm>
            <a:off x="7269480" y="5623560"/>
            <a:ext cx="2103120" cy="548640"/>
          </a:xfrm>
          <a:prstGeom prst="rect">
            <a:avLst/>
          </a:prstGeom>
          <a:noFill/>
        </p:spPr>
        <p:txBody>
          <a:bodyPr wrap="square" anchor="t" lIns="45720" rIns="45720" tIns="18288" bIns="18288">
            <a:spAutoFit/>
          </a:bodyPr>
          <a:lstStyle/>
          <a:p>
            <a:pPr algn="l"/>
            <a:r>
              <a:rPr sz="3000" b="1" i="0">
                <a:solidFill>
                  <a:srgbClr val="FFFFFF"/>
                </a:solidFill>
                <a:latin typeface="Calibri"/>
              </a:rPr>
              <a:t>295</a:t>
            </a:r>
          </a:p>
        </p:txBody>
      </p:sp>
      <p:sp>
        <p:nvSpPr>
          <p:cNvPr id="17" name="TextBox 16"/>
          <p:cNvSpPr txBox="1"/>
          <p:nvPr/>
        </p:nvSpPr>
        <p:spPr>
          <a:xfrm>
            <a:off x="7269480" y="6126480"/>
            <a:ext cx="2103120" cy="365760"/>
          </a:xfrm>
          <a:prstGeom prst="rect">
            <a:avLst/>
          </a:prstGeom>
          <a:noFill/>
        </p:spPr>
        <p:txBody>
          <a:bodyPr wrap="square" anchor="t" lIns="45720" rIns="45720" tIns="18288" bIns="18288">
            <a:spAutoFit/>
          </a:bodyPr>
          <a:lstStyle/>
          <a:p>
            <a:pPr algn="l"/>
            <a:r>
              <a:rPr sz="1300" b="0" i="0">
                <a:solidFill>
                  <a:srgbClr val="86B6EF"/>
                </a:solidFill>
                <a:latin typeface="Calibri"/>
              </a:rPr>
              <a:t>automated tests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The story in six steps</a:t>
            </a:r>
          </a:p>
        </p:txBody>
      </p:sp>
      <p:sp>
        <p:nvSpPr>
          <p:cNvPr id="5" name="Rounded Rectangle 4"/>
          <p:cNvSpPr/>
          <p:nvPr/>
        </p:nvSpPr>
        <p:spPr>
          <a:xfrm>
            <a:off x="10241280" y="292608"/>
            <a:ext cx="1691640" cy="347472"/>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ROADMAP</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2</a:t>
            </a:r>
          </a:p>
        </p:txBody>
      </p:sp>
      <p:sp>
        <p:nvSpPr>
          <p:cNvPr id="9" name="Rounded Rectangle 8"/>
          <p:cNvSpPr/>
          <p:nvPr/>
        </p:nvSpPr>
        <p:spPr>
          <a:xfrm>
            <a:off x="548640" y="1463040"/>
            <a:ext cx="3520440" cy="2103120"/>
          </a:xfrm>
          <a:prstGeom prst="roundRect">
            <a:avLst>
              <a:gd name="adj" fmla="val 7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 y="1737360"/>
            <a:ext cx="777240" cy="7772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737360"/>
            <a:ext cx="777240" cy="777240"/>
          </a:xfrm>
          <a:prstGeom prst="rect">
            <a:avLst/>
          </a:prstGeom>
          <a:noFill/>
        </p:spPr>
        <p:txBody>
          <a:bodyPr wrap="square" anchor="ctr" lIns="45720" rIns="45720" tIns="18288" bIns="18288">
            <a:spAutoFit/>
          </a:bodyPr>
          <a:lstStyle/>
          <a:p>
            <a:pPr algn="ctr"/>
            <a:r>
              <a:rPr sz="3000" b="1" i="0">
                <a:solidFill>
                  <a:srgbClr val="FFFFFF"/>
                </a:solidFill>
                <a:latin typeface="Calibri"/>
              </a:rPr>
              <a:t>1</a:t>
            </a:r>
          </a:p>
        </p:txBody>
      </p:sp>
      <p:sp>
        <p:nvSpPr>
          <p:cNvPr id="12" name="TextBox 11"/>
          <p:cNvSpPr txBox="1"/>
          <p:nvPr/>
        </p:nvSpPr>
        <p:spPr>
          <a:xfrm>
            <a:off x="1783080" y="1737360"/>
            <a:ext cx="2194560" cy="777240"/>
          </a:xfrm>
          <a:prstGeom prst="rect">
            <a:avLst/>
          </a:prstGeom>
          <a:noFill/>
        </p:spPr>
        <p:txBody>
          <a:bodyPr wrap="square" anchor="ctr" lIns="45720" rIns="45720" tIns="18288" bIns="18288">
            <a:spAutoFit/>
          </a:bodyPr>
          <a:lstStyle/>
          <a:p>
            <a:pPr algn="l"/>
            <a:r>
              <a:rPr sz="2200" b="1" i="0">
                <a:solidFill>
                  <a:srgbClr val="111111"/>
                </a:solidFill>
                <a:latin typeface="Calibri"/>
              </a:rPr>
              <a:t>Problem &amp; gap</a:t>
            </a:r>
          </a:p>
        </p:txBody>
      </p:sp>
      <p:sp>
        <p:nvSpPr>
          <p:cNvPr id="13" name="TextBox 12"/>
          <p:cNvSpPr txBox="1"/>
          <p:nvPr/>
        </p:nvSpPr>
        <p:spPr>
          <a:xfrm>
            <a:off x="822960" y="2697480"/>
            <a:ext cx="3017520" cy="640080"/>
          </a:xfrm>
          <a:prstGeom prst="rect">
            <a:avLst/>
          </a:prstGeom>
          <a:noFill/>
        </p:spPr>
        <p:txBody>
          <a:bodyPr wrap="square" anchor="t" lIns="45720" rIns="45720" tIns="18288" bIns="18288">
            <a:spAutoFit/>
          </a:bodyPr>
          <a:lstStyle/>
          <a:p>
            <a:pPr algn="l"/>
            <a:r>
              <a:rPr sz="1700" b="0" i="0">
                <a:solidFill>
                  <a:srgbClr val="55565A"/>
                </a:solidFill>
                <a:latin typeface="Calibri"/>
              </a:rPr>
              <a:t>Why this research?</a:t>
            </a:r>
          </a:p>
        </p:txBody>
      </p:sp>
      <p:sp>
        <p:nvSpPr>
          <p:cNvPr id="14" name="Rounded Rectangle 13"/>
          <p:cNvSpPr/>
          <p:nvPr/>
        </p:nvSpPr>
        <p:spPr>
          <a:xfrm>
            <a:off x="4343400" y="1463040"/>
            <a:ext cx="3520440" cy="2103120"/>
          </a:xfrm>
          <a:prstGeom prst="roundRect">
            <a:avLst>
              <a:gd name="adj" fmla="val 7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17720" y="1737360"/>
            <a:ext cx="777240" cy="77724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1737360"/>
            <a:ext cx="777240" cy="777240"/>
          </a:xfrm>
          <a:prstGeom prst="rect">
            <a:avLst/>
          </a:prstGeom>
          <a:noFill/>
        </p:spPr>
        <p:txBody>
          <a:bodyPr wrap="square" anchor="ctr" lIns="45720" rIns="45720" tIns="18288" bIns="18288">
            <a:spAutoFit/>
          </a:bodyPr>
          <a:lstStyle/>
          <a:p>
            <a:pPr algn="ctr"/>
            <a:r>
              <a:rPr sz="3000" b="1" i="0">
                <a:solidFill>
                  <a:srgbClr val="FFFFFF"/>
                </a:solidFill>
                <a:latin typeface="Calibri"/>
              </a:rPr>
              <a:t>2</a:t>
            </a:r>
          </a:p>
        </p:txBody>
      </p:sp>
      <p:sp>
        <p:nvSpPr>
          <p:cNvPr id="17" name="TextBox 16"/>
          <p:cNvSpPr txBox="1"/>
          <p:nvPr/>
        </p:nvSpPr>
        <p:spPr>
          <a:xfrm>
            <a:off x="5577840" y="1737360"/>
            <a:ext cx="2194560" cy="777240"/>
          </a:xfrm>
          <a:prstGeom prst="rect">
            <a:avLst/>
          </a:prstGeom>
          <a:noFill/>
        </p:spPr>
        <p:txBody>
          <a:bodyPr wrap="square" anchor="ctr" lIns="45720" rIns="45720" tIns="18288" bIns="18288">
            <a:spAutoFit/>
          </a:bodyPr>
          <a:lstStyle/>
          <a:p>
            <a:pPr algn="l"/>
            <a:r>
              <a:rPr sz="2200" b="1" i="0">
                <a:solidFill>
                  <a:srgbClr val="111111"/>
                </a:solidFill>
                <a:latin typeface="Calibri"/>
              </a:rPr>
              <a:t>Method &amp; data</a:t>
            </a:r>
          </a:p>
        </p:txBody>
      </p:sp>
      <p:sp>
        <p:nvSpPr>
          <p:cNvPr id="18" name="TextBox 17"/>
          <p:cNvSpPr txBox="1"/>
          <p:nvPr/>
        </p:nvSpPr>
        <p:spPr>
          <a:xfrm>
            <a:off x="4617720" y="2697480"/>
            <a:ext cx="3017520" cy="640080"/>
          </a:xfrm>
          <a:prstGeom prst="rect">
            <a:avLst/>
          </a:prstGeom>
          <a:noFill/>
        </p:spPr>
        <p:txBody>
          <a:bodyPr wrap="square" anchor="t" lIns="45720" rIns="45720" tIns="18288" bIns="18288">
            <a:spAutoFit/>
          </a:bodyPr>
          <a:lstStyle/>
          <a:p>
            <a:pPr algn="l"/>
            <a:r>
              <a:rPr sz="1700" b="0" i="0">
                <a:solidFill>
                  <a:srgbClr val="55565A"/>
                </a:solidFill>
                <a:latin typeface="Calibri"/>
              </a:rPr>
              <a:t>How it was built</a:t>
            </a:r>
          </a:p>
        </p:txBody>
      </p:sp>
      <p:sp>
        <p:nvSpPr>
          <p:cNvPr id="19" name="Rounded Rectangle 18"/>
          <p:cNvSpPr/>
          <p:nvPr/>
        </p:nvSpPr>
        <p:spPr>
          <a:xfrm>
            <a:off x="8138160" y="1463040"/>
            <a:ext cx="3520440" cy="2103120"/>
          </a:xfrm>
          <a:prstGeom prst="roundRect">
            <a:avLst>
              <a:gd name="adj" fmla="val 7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0" y="1737360"/>
            <a:ext cx="777240" cy="77724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737360"/>
            <a:ext cx="777240" cy="777240"/>
          </a:xfrm>
          <a:prstGeom prst="rect">
            <a:avLst/>
          </a:prstGeom>
          <a:noFill/>
        </p:spPr>
        <p:txBody>
          <a:bodyPr wrap="square" anchor="ctr" lIns="45720" rIns="45720" tIns="18288" bIns="18288">
            <a:spAutoFit/>
          </a:bodyPr>
          <a:lstStyle/>
          <a:p>
            <a:pPr algn="ctr"/>
            <a:r>
              <a:rPr sz="3000" b="1" i="0">
                <a:solidFill>
                  <a:srgbClr val="FFFFFF"/>
                </a:solidFill>
                <a:latin typeface="Calibri"/>
              </a:rPr>
              <a:t>3</a:t>
            </a:r>
          </a:p>
        </p:txBody>
      </p:sp>
      <p:sp>
        <p:nvSpPr>
          <p:cNvPr id="22" name="TextBox 21"/>
          <p:cNvSpPr txBox="1"/>
          <p:nvPr/>
        </p:nvSpPr>
        <p:spPr>
          <a:xfrm>
            <a:off x="9372600" y="1737360"/>
            <a:ext cx="2194560" cy="777240"/>
          </a:xfrm>
          <a:prstGeom prst="rect">
            <a:avLst/>
          </a:prstGeom>
          <a:noFill/>
        </p:spPr>
        <p:txBody>
          <a:bodyPr wrap="square" anchor="ctr" lIns="45720" rIns="45720" tIns="18288" bIns="18288">
            <a:spAutoFit/>
          </a:bodyPr>
          <a:lstStyle/>
          <a:p>
            <a:pPr algn="l"/>
            <a:r>
              <a:rPr sz="2200" b="1" i="0">
                <a:solidFill>
                  <a:srgbClr val="111111"/>
                </a:solidFill>
                <a:latin typeface="Calibri"/>
              </a:rPr>
              <a:t>Models &amp; evaluation</a:t>
            </a:r>
          </a:p>
        </p:txBody>
      </p:sp>
      <p:sp>
        <p:nvSpPr>
          <p:cNvPr id="23" name="TextBox 22"/>
          <p:cNvSpPr txBox="1"/>
          <p:nvPr/>
        </p:nvSpPr>
        <p:spPr>
          <a:xfrm>
            <a:off x="8412480" y="2697480"/>
            <a:ext cx="3017520" cy="640080"/>
          </a:xfrm>
          <a:prstGeom prst="rect">
            <a:avLst/>
          </a:prstGeom>
          <a:noFill/>
        </p:spPr>
        <p:txBody>
          <a:bodyPr wrap="square" anchor="t" lIns="45720" rIns="45720" tIns="18288" bIns="18288">
            <a:spAutoFit/>
          </a:bodyPr>
          <a:lstStyle/>
          <a:p>
            <a:pPr algn="l"/>
            <a:r>
              <a:rPr sz="1700" b="0" i="0">
                <a:solidFill>
                  <a:srgbClr val="55565A"/>
                </a:solidFill>
                <a:latin typeface="Calibri"/>
              </a:rPr>
              <a:t>How it was tested</a:t>
            </a:r>
          </a:p>
        </p:txBody>
      </p:sp>
      <p:sp>
        <p:nvSpPr>
          <p:cNvPr id="24" name="Rounded Rectangle 23"/>
          <p:cNvSpPr/>
          <p:nvPr/>
        </p:nvSpPr>
        <p:spPr>
          <a:xfrm>
            <a:off x="548640" y="3931920"/>
            <a:ext cx="3520440" cy="2103120"/>
          </a:xfrm>
          <a:prstGeom prst="roundRect">
            <a:avLst>
              <a:gd name="adj" fmla="val 7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2960" y="4206240"/>
            <a:ext cx="777240" cy="77724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206240"/>
            <a:ext cx="777240" cy="777240"/>
          </a:xfrm>
          <a:prstGeom prst="rect">
            <a:avLst/>
          </a:prstGeom>
          <a:noFill/>
        </p:spPr>
        <p:txBody>
          <a:bodyPr wrap="square" anchor="ctr" lIns="45720" rIns="45720" tIns="18288" bIns="18288">
            <a:spAutoFit/>
          </a:bodyPr>
          <a:lstStyle/>
          <a:p>
            <a:pPr algn="ctr"/>
            <a:r>
              <a:rPr sz="3000" b="1" i="0">
                <a:solidFill>
                  <a:srgbClr val="FFFFFF"/>
                </a:solidFill>
                <a:latin typeface="Calibri"/>
              </a:rPr>
              <a:t>4</a:t>
            </a:r>
          </a:p>
        </p:txBody>
      </p:sp>
      <p:sp>
        <p:nvSpPr>
          <p:cNvPr id="27" name="TextBox 26"/>
          <p:cNvSpPr txBox="1"/>
          <p:nvPr/>
        </p:nvSpPr>
        <p:spPr>
          <a:xfrm>
            <a:off x="1783080" y="4206240"/>
            <a:ext cx="2194560" cy="777240"/>
          </a:xfrm>
          <a:prstGeom prst="rect">
            <a:avLst/>
          </a:prstGeom>
          <a:noFill/>
        </p:spPr>
        <p:txBody>
          <a:bodyPr wrap="square" anchor="ctr" lIns="45720" rIns="45720" tIns="18288" bIns="18288">
            <a:spAutoFit/>
          </a:bodyPr>
          <a:lstStyle/>
          <a:p>
            <a:pPr algn="l"/>
            <a:r>
              <a:rPr sz="2200" b="1" i="0">
                <a:solidFill>
                  <a:srgbClr val="111111"/>
                </a:solidFill>
                <a:latin typeface="Calibri"/>
              </a:rPr>
              <a:t>Results</a:t>
            </a:r>
          </a:p>
        </p:txBody>
      </p:sp>
      <p:sp>
        <p:nvSpPr>
          <p:cNvPr id="28" name="TextBox 27"/>
          <p:cNvSpPr txBox="1"/>
          <p:nvPr/>
        </p:nvSpPr>
        <p:spPr>
          <a:xfrm>
            <a:off x="822960" y="5166360"/>
            <a:ext cx="3017520" cy="640080"/>
          </a:xfrm>
          <a:prstGeom prst="rect">
            <a:avLst/>
          </a:prstGeom>
          <a:noFill/>
        </p:spPr>
        <p:txBody>
          <a:bodyPr wrap="square" anchor="t" lIns="45720" rIns="45720" tIns="18288" bIns="18288">
            <a:spAutoFit/>
          </a:bodyPr>
          <a:lstStyle/>
          <a:p>
            <a:pPr algn="l"/>
            <a:r>
              <a:rPr sz="1700" b="0" i="0">
                <a:solidFill>
                  <a:srgbClr val="55565A"/>
                </a:solidFill>
                <a:latin typeface="Calibri"/>
              </a:rPr>
              <a:t>What was found</a:t>
            </a:r>
          </a:p>
        </p:txBody>
      </p:sp>
      <p:sp>
        <p:nvSpPr>
          <p:cNvPr id="29" name="Rounded Rectangle 28"/>
          <p:cNvSpPr/>
          <p:nvPr/>
        </p:nvSpPr>
        <p:spPr>
          <a:xfrm>
            <a:off x="4343400" y="3931920"/>
            <a:ext cx="3520440" cy="2103120"/>
          </a:xfrm>
          <a:prstGeom prst="roundRect">
            <a:avLst>
              <a:gd name="adj" fmla="val 7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617720" y="4206240"/>
            <a:ext cx="777240" cy="7772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206240"/>
            <a:ext cx="777240" cy="777240"/>
          </a:xfrm>
          <a:prstGeom prst="rect">
            <a:avLst/>
          </a:prstGeom>
          <a:noFill/>
        </p:spPr>
        <p:txBody>
          <a:bodyPr wrap="square" anchor="ctr" lIns="45720" rIns="45720" tIns="18288" bIns="18288">
            <a:spAutoFit/>
          </a:bodyPr>
          <a:lstStyle/>
          <a:p>
            <a:pPr algn="ctr"/>
            <a:r>
              <a:rPr sz="3000" b="1" i="0">
                <a:solidFill>
                  <a:srgbClr val="FFFFFF"/>
                </a:solidFill>
                <a:latin typeface="Calibri"/>
              </a:rPr>
              <a:t>5</a:t>
            </a:r>
          </a:p>
        </p:txBody>
      </p:sp>
      <p:sp>
        <p:nvSpPr>
          <p:cNvPr id="32" name="TextBox 31"/>
          <p:cNvSpPr txBox="1"/>
          <p:nvPr/>
        </p:nvSpPr>
        <p:spPr>
          <a:xfrm>
            <a:off x="5577840" y="4206240"/>
            <a:ext cx="2194560" cy="777240"/>
          </a:xfrm>
          <a:prstGeom prst="rect">
            <a:avLst/>
          </a:prstGeom>
          <a:noFill/>
        </p:spPr>
        <p:txBody>
          <a:bodyPr wrap="square" anchor="ctr" lIns="45720" rIns="45720" tIns="18288" bIns="18288">
            <a:spAutoFit/>
          </a:bodyPr>
          <a:lstStyle/>
          <a:p>
            <a:pPr algn="l"/>
            <a:r>
              <a:rPr sz="2200" b="1" i="0">
                <a:solidFill>
                  <a:srgbClr val="111111"/>
                </a:solidFill>
                <a:latin typeface="Calibri"/>
              </a:rPr>
              <a:t>The artifact</a:t>
            </a:r>
          </a:p>
        </p:txBody>
      </p:sp>
      <p:sp>
        <p:nvSpPr>
          <p:cNvPr id="33" name="TextBox 32"/>
          <p:cNvSpPr txBox="1"/>
          <p:nvPr/>
        </p:nvSpPr>
        <p:spPr>
          <a:xfrm>
            <a:off x="4617720" y="5166360"/>
            <a:ext cx="3017520" cy="640080"/>
          </a:xfrm>
          <a:prstGeom prst="rect">
            <a:avLst/>
          </a:prstGeom>
          <a:noFill/>
        </p:spPr>
        <p:txBody>
          <a:bodyPr wrap="square" anchor="t" lIns="45720" rIns="45720" tIns="18288" bIns="18288">
            <a:spAutoFit/>
          </a:bodyPr>
          <a:lstStyle/>
          <a:p>
            <a:pPr algn="l"/>
            <a:r>
              <a:rPr sz="1700" b="0" i="0">
                <a:solidFill>
                  <a:srgbClr val="55565A"/>
                </a:solidFill>
                <a:latin typeface="Calibri"/>
              </a:rPr>
              <a:t>App, ChatGPT, usability</a:t>
            </a:r>
          </a:p>
        </p:txBody>
      </p:sp>
      <p:sp>
        <p:nvSpPr>
          <p:cNvPr id="34" name="Rounded Rectangle 33"/>
          <p:cNvSpPr/>
          <p:nvPr/>
        </p:nvSpPr>
        <p:spPr>
          <a:xfrm>
            <a:off x="8138160" y="3931920"/>
            <a:ext cx="3520440" cy="2103120"/>
          </a:xfrm>
          <a:prstGeom prst="roundRect">
            <a:avLst>
              <a:gd name="adj" fmla="val 7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412480" y="4206240"/>
            <a:ext cx="777240" cy="777240"/>
          </a:xfrm>
          <a:prstGeom prst="ellipse">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0" y="4206240"/>
            <a:ext cx="777240" cy="777240"/>
          </a:xfrm>
          <a:prstGeom prst="rect">
            <a:avLst/>
          </a:prstGeom>
          <a:noFill/>
        </p:spPr>
        <p:txBody>
          <a:bodyPr wrap="square" anchor="ctr" lIns="45720" rIns="45720" tIns="18288" bIns="18288">
            <a:spAutoFit/>
          </a:bodyPr>
          <a:lstStyle/>
          <a:p>
            <a:pPr algn="ctr"/>
            <a:r>
              <a:rPr sz="3000" b="1" i="0">
                <a:solidFill>
                  <a:srgbClr val="FFFFFF"/>
                </a:solidFill>
                <a:latin typeface="Calibri"/>
              </a:rPr>
              <a:t>6</a:t>
            </a:r>
          </a:p>
        </p:txBody>
      </p:sp>
      <p:sp>
        <p:nvSpPr>
          <p:cNvPr id="37" name="TextBox 36"/>
          <p:cNvSpPr txBox="1"/>
          <p:nvPr/>
        </p:nvSpPr>
        <p:spPr>
          <a:xfrm>
            <a:off x="9372600" y="4206240"/>
            <a:ext cx="2194560" cy="777240"/>
          </a:xfrm>
          <a:prstGeom prst="rect">
            <a:avLst/>
          </a:prstGeom>
          <a:noFill/>
        </p:spPr>
        <p:txBody>
          <a:bodyPr wrap="square" anchor="ctr" lIns="45720" rIns="45720" tIns="18288" bIns="18288">
            <a:spAutoFit/>
          </a:bodyPr>
          <a:lstStyle/>
          <a:p>
            <a:pPr algn="l"/>
            <a:r>
              <a:rPr sz="2200" b="1" i="0">
                <a:solidFill>
                  <a:srgbClr val="111111"/>
                </a:solidFill>
                <a:latin typeface="Calibri"/>
              </a:rPr>
              <a:t>Reflection</a:t>
            </a:r>
          </a:p>
        </p:txBody>
      </p:sp>
      <p:sp>
        <p:nvSpPr>
          <p:cNvPr id="38" name="TextBox 37"/>
          <p:cNvSpPr txBox="1"/>
          <p:nvPr/>
        </p:nvSpPr>
        <p:spPr>
          <a:xfrm>
            <a:off x="8412480" y="5166360"/>
            <a:ext cx="3017520" cy="640080"/>
          </a:xfrm>
          <a:prstGeom prst="rect">
            <a:avLst/>
          </a:prstGeom>
          <a:noFill/>
        </p:spPr>
        <p:txBody>
          <a:bodyPr wrap="square" anchor="t" lIns="45720" rIns="45720" tIns="18288" bIns="18288">
            <a:spAutoFit/>
          </a:bodyPr>
          <a:lstStyle/>
          <a:p>
            <a:pPr algn="l"/>
            <a:r>
              <a:rPr sz="1700" b="0" i="0">
                <a:solidFill>
                  <a:srgbClr val="55565A"/>
                </a:solidFill>
                <a:latin typeface="Calibri"/>
              </a:rPr>
              <a:t>Limits, contribution, next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The problem: no graduate can see their own timeline</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PROBLEM</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3</a:t>
            </a:r>
          </a:p>
        </p:txBody>
      </p:sp>
      <p:sp>
        <p:nvSpPr>
          <p:cNvPr id="9" name="Rounded Rectangle 8"/>
          <p:cNvSpPr/>
          <p:nvPr/>
        </p:nvSpPr>
        <p:spPr>
          <a:xfrm>
            <a:off x="548640" y="1280160"/>
            <a:ext cx="3566160" cy="182880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389888"/>
            <a:ext cx="45720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3566160" cy="685800"/>
          </a:xfrm>
          <a:prstGeom prst="rect">
            <a:avLst/>
          </a:prstGeom>
          <a:noFill/>
        </p:spPr>
        <p:txBody>
          <a:bodyPr wrap="square" anchor="ctr" lIns="45720" rIns="45720" tIns="18288" bIns="18288">
            <a:spAutoFit/>
          </a:bodyPr>
          <a:lstStyle/>
          <a:p>
            <a:pPr algn="ctr"/>
            <a:r>
              <a:rPr sz="3400" b="1" i="0">
                <a:solidFill>
                  <a:srgbClr val="2A78D6"/>
                </a:solidFill>
                <a:latin typeface="Calibri"/>
              </a:rPr>
              <a:t>17,000</a:t>
            </a:r>
          </a:p>
        </p:txBody>
      </p:sp>
      <p:sp>
        <p:nvSpPr>
          <p:cNvPr id="12" name="TextBox 11"/>
          <p:cNvSpPr txBox="1"/>
          <p:nvPr/>
        </p:nvSpPr>
        <p:spPr>
          <a:xfrm>
            <a:off x="658368" y="2148840"/>
            <a:ext cx="3346704" cy="914400"/>
          </a:xfrm>
          <a:prstGeom prst="rect">
            <a:avLst/>
          </a:prstGeom>
          <a:noFill/>
        </p:spPr>
        <p:txBody>
          <a:bodyPr wrap="square" anchor="t" lIns="45720" rIns="45720" tIns="18288" bIns="18288">
            <a:spAutoFit/>
          </a:bodyPr>
          <a:lstStyle/>
          <a:p>
            <a:pPr algn="ctr"/>
            <a:r>
              <a:rPr sz="1400" b="0" i="0">
                <a:solidFill>
                  <a:srgbClr val="111111"/>
                </a:solidFill>
                <a:latin typeface="Calibri"/>
              </a:rPr>
              <a:t>IT &amp; computing graduates a year in Sri Lanka (SLASSCOM, 2024)</a:t>
            </a:r>
          </a:p>
        </p:txBody>
      </p:sp>
      <p:sp>
        <p:nvSpPr>
          <p:cNvPr id="13" name="Rounded Rectangle 12"/>
          <p:cNvSpPr/>
          <p:nvPr/>
        </p:nvSpPr>
        <p:spPr>
          <a:xfrm>
            <a:off x="4297680" y="1280160"/>
            <a:ext cx="3566160" cy="182880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1389888"/>
            <a:ext cx="457200" cy="54864"/>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1463040"/>
            <a:ext cx="3566160" cy="685800"/>
          </a:xfrm>
          <a:prstGeom prst="rect">
            <a:avLst/>
          </a:prstGeom>
          <a:noFill/>
        </p:spPr>
        <p:txBody>
          <a:bodyPr wrap="square" anchor="ctr" lIns="45720" rIns="45720" tIns="18288" bIns="18288">
            <a:spAutoFit/>
          </a:bodyPr>
          <a:lstStyle/>
          <a:p>
            <a:pPr algn="ctr"/>
            <a:r>
              <a:rPr sz="3400" b="1" i="0">
                <a:solidFill>
                  <a:srgbClr val="EB6834"/>
                </a:solidFill>
                <a:latin typeface="Calibri"/>
              </a:rPr>
              <a:t>1 in 4</a:t>
            </a:r>
          </a:p>
        </p:txBody>
      </p:sp>
      <p:sp>
        <p:nvSpPr>
          <p:cNvPr id="16" name="TextBox 15"/>
          <p:cNvSpPr txBox="1"/>
          <p:nvPr/>
        </p:nvSpPr>
        <p:spPr>
          <a:xfrm>
            <a:off x="4407408" y="2148840"/>
            <a:ext cx="3346704" cy="914400"/>
          </a:xfrm>
          <a:prstGeom prst="rect">
            <a:avLst/>
          </a:prstGeom>
          <a:noFill/>
        </p:spPr>
        <p:txBody>
          <a:bodyPr wrap="square" anchor="t" lIns="45720" rIns="45720" tIns="18288" bIns="18288">
            <a:spAutoFit/>
          </a:bodyPr>
          <a:lstStyle/>
          <a:p>
            <a:pPr algn="ctr"/>
            <a:r>
              <a:rPr sz="1400" b="0" i="0">
                <a:solidFill>
                  <a:srgbClr val="111111"/>
                </a:solidFill>
                <a:latin typeface="Calibri"/>
              </a:rPr>
              <a:t>still searching when surveyed: they are 'not yet', not 'failed'</a:t>
            </a:r>
          </a:p>
        </p:txBody>
      </p:sp>
      <p:sp>
        <p:nvSpPr>
          <p:cNvPr id="17" name="Rounded Rectangle 16"/>
          <p:cNvSpPr/>
          <p:nvPr/>
        </p:nvSpPr>
        <p:spPr>
          <a:xfrm>
            <a:off x="8046720" y="1280160"/>
            <a:ext cx="3566160" cy="182880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20" y="1389888"/>
            <a:ext cx="457200" cy="54864"/>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0" y="1463040"/>
            <a:ext cx="3566160" cy="685800"/>
          </a:xfrm>
          <a:prstGeom prst="rect">
            <a:avLst/>
          </a:prstGeom>
          <a:noFill/>
        </p:spPr>
        <p:txBody>
          <a:bodyPr wrap="square" anchor="ctr" lIns="45720" rIns="45720" tIns="18288" bIns="18288">
            <a:spAutoFit/>
          </a:bodyPr>
          <a:lstStyle/>
          <a:p>
            <a:pPr algn="ctr"/>
            <a:r>
              <a:rPr sz="3000" b="1" i="0">
                <a:solidFill>
                  <a:srgbClr val="1C5CAB"/>
                </a:solidFill>
                <a:latin typeface="Calibri"/>
              </a:rPr>
              <a:t>Rates only</a:t>
            </a:r>
          </a:p>
        </p:txBody>
      </p:sp>
      <p:sp>
        <p:nvSpPr>
          <p:cNvPr id="20" name="TextBox 19"/>
          <p:cNvSpPr txBox="1"/>
          <p:nvPr/>
        </p:nvSpPr>
        <p:spPr>
          <a:xfrm>
            <a:off x="8156448" y="2148840"/>
            <a:ext cx="3346704" cy="914400"/>
          </a:xfrm>
          <a:prstGeom prst="rect">
            <a:avLst/>
          </a:prstGeom>
          <a:noFill/>
        </p:spPr>
        <p:txBody>
          <a:bodyPr wrap="square" anchor="t" lIns="45720" rIns="45720" tIns="18288" bIns="18288">
            <a:spAutoFit/>
          </a:bodyPr>
          <a:lstStyle/>
          <a:p>
            <a:pPr algn="ctr"/>
            <a:r>
              <a:rPr sz="1400" b="0" i="0">
                <a:solidFill>
                  <a:srgbClr val="111111"/>
                </a:solidFill>
                <a:latin typeface="Calibri"/>
              </a:rPr>
              <a:t>national data report unemployment rates, not individual time to a first job</a:t>
            </a:r>
          </a:p>
        </p:txBody>
      </p:sp>
      <p:sp>
        <p:nvSpPr>
          <p:cNvPr id="21" name="TextBox 20"/>
          <p:cNvSpPr txBox="1"/>
          <p:nvPr/>
        </p:nvSpPr>
        <p:spPr>
          <a:xfrm>
            <a:off x="548640" y="3429000"/>
            <a:ext cx="11064240" cy="457200"/>
          </a:xfrm>
          <a:prstGeom prst="rect">
            <a:avLst/>
          </a:prstGeom>
          <a:noFill/>
        </p:spPr>
        <p:txBody>
          <a:bodyPr wrap="square" anchor="t" lIns="45720" rIns="45720" tIns="18288" bIns="18288">
            <a:spAutoFit/>
          </a:bodyPr>
          <a:lstStyle/>
          <a:p>
            <a:pPr algn="l"/>
            <a:r>
              <a:rPr sz="2200" b="1" i="0">
                <a:solidFill>
                  <a:srgbClr val="0D366B"/>
                </a:solidFill>
                <a:latin typeface="Calibri"/>
              </a:rPr>
              <a:t>What a final-year student actually faces today</a:t>
            </a:r>
          </a:p>
        </p:txBody>
      </p:sp>
      <p:sp>
        <p:nvSpPr>
          <p:cNvPr id="22" name="TextBox 21"/>
          <p:cNvSpPr txBox="1"/>
          <p:nvPr/>
        </p:nvSpPr>
        <p:spPr>
          <a:xfrm>
            <a:off x="548640" y="3931920"/>
            <a:ext cx="11064240" cy="2468880"/>
          </a:xfrm>
          <a:prstGeom prst="rect">
            <a:avLst/>
          </a:prstGeom>
          <a:noFill/>
        </p:spPr>
        <p:txBody>
          <a:bodyPr wrap="square">
            <a:spAutoFit/>
          </a:bodyPr>
          <a:lstStyle/>
          <a:p>
            <a:pPr>
              <a:spcAft>
                <a:spcPts val="1000"/>
              </a:spcAft>
            </a:pPr>
            <a:r>
              <a:rPr sz="2100">
                <a:solidFill>
                  <a:srgbClr val="2A78D6"/>
                </a:solidFill>
                <a:latin typeface="Calibri"/>
              </a:rPr>
              <a:t>▪  </a:t>
            </a:r>
            <a:r>
              <a:rPr sz="2100" b="1">
                <a:solidFill>
                  <a:srgbClr val="111111"/>
                </a:solidFill>
                <a:latin typeface="Calibri"/>
              </a:rPr>
              <a:t>No personal estimate</a:t>
            </a:r>
            <a:r>
              <a:rPr sz="2100" b="0">
                <a:solidFill>
                  <a:srgbClr val="111111"/>
                </a:solidFill>
                <a:latin typeface="Calibri"/>
              </a:rPr>
              <a:t>: 'How long will I take?' is answered with guesses and averages</a:t>
            </a:r>
          </a:p>
          <a:p>
            <a:pPr>
              <a:spcAft>
                <a:spcPts val="1000"/>
              </a:spcAft>
            </a:pPr>
            <a:r>
              <a:rPr sz="2100">
                <a:solidFill>
                  <a:srgbClr val="2A78D6"/>
                </a:solidFill>
                <a:latin typeface="Calibri"/>
              </a:rPr>
              <a:t>▪  </a:t>
            </a:r>
            <a:r>
              <a:rPr sz="2100" b="1">
                <a:solidFill>
                  <a:srgbClr val="111111"/>
                </a:solidFill>
                <a:latin typeface="Calibri"/>
              </a:rPr>
              <a:t>Existing tools</a:t>
            </a:r>
            <a:r>
              <a:rPr sz="2100" b="0">
                <a:solidFill>
                  <a:srgbClr val="111111"/>
                </a:solidFill>
                <a:latin typeface="Calibri"/>
              </a:rPr>
              <a:t>: classify 'employable / not', or match jobs: they ignore WHEN, and discard graduates still searching</a:t>
            </a:r>
          </a:p>
          <a:p>
            <a:pPr>
              <a:spcAft>
                <a:spcPts val="1000"/>
              </a:spcAft>
            </a:pPr>
            <a:r>
              <a:rPr sz="2100">
                <a:solidFill>
                  <a:srgbClr val="2A78D6"/>
                </a:solidFill>
                <a:latin typeface="Calibri"/>
              </a:rPr>
              <a:t>▪  </a:t>
            </a:r>
            <a:r>
              <a:rPr sz="2100" b="1">
                <a:solidFill>
                  <a:srgbClr val="111111"/>
                </a:solidFill>
                <a:latin typeface="Calibri"/>
              </a:rPr>
              <a:t>Generic AI advice</a:t>
            </a:r>
            <a:r>
              <a:rPr sz="2100" b="0">
                <a:solidFill>
                  <a:srgbClr val="111111"/>
                </a:solidFill>
                <a:latin typeface="Calibri"/>
              </a:rPr>
              <a:t>: ChatGPT can talk about careers, but is it right for Sri Lankan graduates? (tested later in this talk)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Why survival analysis? Because 'still searching' is information</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PROBLEM</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4</a:t>
            </a:r>
          </a:p>
        </p:txBody>
      </p:sp>
      <p:sp>
        <p:nvSpPr>
          <p:cNvPr id="9" name="TextBox 8"/>
          <p:cNvSpPr txBox="1"/>
          <p:nvPr/>
        </p:nvSpPr>
        <p:spPr>
          <a:xfrm>
            <a:off x="457200" y="1554480"/>
            <a:ext cx="1600200" cy="365760"/>
          </a:xfrm>
          <a:prstGeom prst="rect">
            <a:avLst/>
          </a:prstGeom>
          <a:noFill/>
        </p:spPr>
        <p:txBody>
          <a:bodyPr wrap="square" anchor="t" lIns="45720" rIns="45720" tIns="18288" bIns="18288">
            <a:spAutoFit/>
          </a:bodyPr>
          <a:lstStyle/>
          <a:p>
            <a:pPr algn="r"/>
            <a:r>
              <a:rPr sz="1600" b="1" i="0">
                <a:solidFill>
                  <a:srgbClr val="111111"/>
                </a:solidFill>
                <a:latin typeface="Calibri"/>
              </a:rPr>
              <a:t>Graduate A</a:t>
            </a:r>
          </a:p>
        </p:txBody>
      </p:sp>
      <p:sp>
        <p:nvSpPr>
          <p:cNvPr id="10" name="Rectangle 9"/>
          <p:cNvSpPr/>
          <p:nvPr/>
        </p:nvSpPr>
        <p:spPr>
          <a:xfrm>
            <a:off x="2103120" y="1673352"/>
            <a:ext cx="1463040" cy="1828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438144" y="1636776"/>
            <a:ext cx="256032" cy="256032"/>
          </a:xfrm>
          <a:prstGeom prst="ellipse">
            <a:avLst/>
          </a:prstGeom>
          <a:solidFill>
            <a:srgbClr val="1BAF7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94760" y="1572768"/>
            <a:ext cx="2743200" cy="365760"/>
          </a:xfrm>
          <a:prstGeom prst="rect">
            <a:avLst/>
          </a:prstGeom>
          <a:noFill/>
        </p:spPr>
        <p:txBody>
          <a:bodyPr wrap="square" anchor="t" lIns="45720" rIns="45720" tIns="18288" bIns="18288">
            <a:spAutoFit/>
          </a:bodyPr>
          <a:lstStyle/>
          <a:p>
            <a:pPr algn="l"/>
            <a:r>
              <a:rPr sz="1400" b="0" i="0">
                <a:solidFill>
                  <a:srgbClr val="55565A"/>
                </a:solidFill>
                <a:latin typeface="Calibri"/>
              </a:rPr>
              <a:t>found an IT job at month 2</a:t>
            </a:r>
          </a:p>
        </p:txBody>
      </p:sp>
      <p:sp>
        <p:nvSpPr>
          <p:cNvPr id="13" name="TextBox 12"/>
          <p:cNvSpPr txBox="1"/>
          <p:nvPr/>
        </p:nvSpPr>
        <p:spPr>
          <a:xfrm>
            <a:off x="457200" y="2121408"/>
            <a:ext cx="1600200" cy="365760"/>
          </a:xfrm>
          <a:prstGeom prst="rect">
            <a:avLst/>
          </a:prstGeom>
          <a:noFill/>
        </p:spPr>
        <p:txBody>
          <a:bodyPr wrap="square" anchor="t" lIns="45720" rIns="45720" tIns="18288" bIns="18288">
            <a:spAutoFit/>
          </a:bodyPr>
          <a:lstStyle/>
          <a:p>
            <a:pPr algn="r"/>
            <a:r>
              <a:rPr sz="1600" b="1" i="0">
                <a:solidFill>
                  <a:srgbClr val="111111"/>
                </a:solidFill>
                <a:latin typeface="Calibri"/>
              </a:rPr>
              <a:t>Graduate B</a:t>
            </a:r>
          </a:p>
        </p:txBody>
      </p:sp>
      <p:sp>
        <p:nvSpPr>
          <p:cNvPr id="14" name="Rectangle 13"/>
          <p:cNvSpPr/>
          <p:nvPr/>
        </p:nvSpPr>
        <p:spPr>
          <a:xfrm>
            <a:off x="2103120" y="2240280"/>
            <a:ext cx="2926080" cy="1828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901184" y="2203704"/>
            <a:ext cx="256032" cy="256032"/>
          </a:xfrm>
          <a:prstGeom prst="ellipse">
            <a:avLst/>
          </a:prstGeom>
          <a:solidFill>
            <a:srgbClr val="1BAF7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57800" y="2139696"/>
            <a:ext cx="2743200" cy="365760"/>
          </a:xfrm>
          <a:prstGeom prst="rect">
            <a:avLst/>
          </a:prstGeom>
          <a:noFill/>
        </p:spPr>
        <p:txBody>
          <a:bodyPr wrap="square" anchor="t" lIns="45720" rIns="45720" tIns="18288" bIns="18288">
            <a:spAutoFit/>
          </a:bodyPr>
          <a:lstStyle/>
          <a:p>
            <a:pPr algn="l"/>
            <a:r>
              <a:rPr sz="1400" b="0" i="0">
                <a:solidFill>
                  <a:srgbClr val="55565A"/>
                </a:solidFill>
                <a:latin typeface="Calibri"/>
              </a:rPr>
              <a:t>found an IT job at month 4</a:t>
            </a:r>
          </a:p>
        </p:txBody>
      </p:sp>
      <p:sp>
        <p:nvSpPr>
          <p:cNvPr id="17" name="TextBox 16"/>
          <p:cNvSpPr txBox="1"/>
          <p:nvPr/>
        </p:nvSpPr>
        <p:spPr>
          <a:xfrm>
            <a:off x="457200" y="2688336"/>
            <a:ext cx="1600200" cy="365760"/>
          </a:xfrm>
          <a:prstGeom prst="rect">
            <a:avLst/>
          </a:prstGeom>
          <a:noFill/>
        </p:spPr>
        <p:txBody>
          <a:bodyPr wrap="square" anchor="t" lIns="45720" rIns="45720" tIns="18288" bIns="18288">
            <a:spAutoFit/>
          </a:bodyPr>
          <a:lstStyle/>
          <a:p>
            <a:pPr algn="r"/>
            <a:r>
              <a:rPr sz="1600" b="1" i="0">
                <a:solidFill>
                  <a:srgbClr val="111111"/>
                </a:solidFill>
                <a:latin typeface="Calibri"/>
              </a:rPr>
              <a:t>Graduate C</a:t>
            </a:r>
          </a:p>
        </p:txBody>
      </p:sp>
      <p:sp>
        <p:nvSpPr>
          <p:cNvPr id="18" name="Rectangle 17"/>
          <p:cNvSpPr/>
          <p:nvPr/>
        </p:nvSpPr>
        <p:spPr>
          <a:xfrm>
            <a:off x="2103120" y="2807208"/>
            <a:ext cx="4389120" cy="1828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83096" y="2734056"/>
            <a:ext cx="91440" cy="329184"/>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2706624"/>
            <a:ext cx="3657600" cy="365760"/>
          </a:xfrm>
          <a:prstGeom prst="rect">
            <a:avLst/>
          </a:prstGeom>
          <a:noFill/>
        </p:spPr>
        <p:txBody>
          <a:bodyPr wrap="square" anchor="t" lIns="45720" rIns="45720" tIns="18288" bIns="18288">
            <a:spAutoFit/>
          </a:bodyPr>
          <a:lstStyle/>
          <a:p>
            <a:pPr algn="l"/>
            <a:r>
              <a:rPr sz="1400" b="1" i="0">
                <a:solidFill>
                  <a:srgbClr val="EB6834"/>
                </a:solidFill>
                <a:latin typeface="Calibri"/>
              </a:rPr>
              <a:t>still searching at survey (month 6)  →  censored</a:t>
            </a:r>
          </a:p>
        </p:txBody>
      </p:sp>
      <p:sp>
        <p:nvSpPr>
          <p:cNvPr id="21" name="TextBox 20"/>
          <p:cNvSpPr txBox="1"/>
          <p:nvPr/>
        </p:nvSpPr>
        <p:spPr>
          <a:xfrm>
            <a:off x="457200" y="3255264"/>
            <a:ext cx="1600200" cy="365760"/>
          </a:xfrm>
          <a:prstGeom prst="rect">
            <a:avLst/>
          </a:prstGeom>
          <a:noFill/>
        </p:spPr>
        <p:txBody>
          <a:bodyPr wrap="square" anchor="t" lIns="45720" rIns="45720" tIns="18288" bIns="18288">
            <a:spAutoFit/>
          </a:bodyPr>
          <a:lstStyle/>
          <a:p>
            <a:pPr algn="r"/>
            <a:r>
              <a:rPr sz="1600" b="1" i="0">
                <a:solidFill>
                  <a:srgbClr val="111111"/>
                </a:solidFill>
                <a:latin typeface="Calibri"/>
              </a:rPr>
              <a:t>Graduate D</a:t>
            </a:r>
          </a:p>
        </p:txBody>
      </p:sp>
      <p:sp>
        <p:nvSpPr>
          <p:cNvPr id="22" name="Rectangle 21"/>
          <p:cNvSpPr/>
          <p:nvPr/>
        </p:nvSpPr>
        <p:spPr>
          <a:xfrm>
            <a:off x="2103120" y="3374136"/>
            <a:ext cx="2194560" cy="1828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169664" y="3337560"/>
            <a:ext cx="256032" cy="256032"/>
          </a:xfrm>
          <a:prstGeom prst="ellipse">
            <a:avLst/>
          </a:prstGeom>
          <a:solidFill>
            <a:srgbClr val="1BAF7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80" y="3273552"/>
            <a:ext cx="2743200" cy="365760"/>
          </a:xfrm>
          <a:prstGeom prst="rect">
            <a:avLst/>
          </a:prstGeom>
          <a:noFill/>
        </p:spPr>
        <p:txBody>
          <a:bodyPr wrap="square" anchor="t" lIns="45720" rIns="45720" tIns="18288" bIns="18288">
            <a:spAutoFit/>
          </a:bodyPr>
          <a:lstStyle/>
          <a:p>
            <a:pPr algn="l"/>
            <a:r>
              <a:rPr sz="1400" b="0" i="0">
                <a:solidFill>
                  <a:srgbClr val="55565A"/>
                </a:solidFill>
                <a:latin typeface="Calibri"/>
              </a:rPr>
              <a:t>found an IT job at month 3</a:t>
            </a:r>
          </a:p>
        </p:txBody>
      </p:sp>
      <p:sp>
        <p:nvSpPr>
          <p:cNvPr id="25" name="TextBox 24"/>
          <p:cNvSpPr txBox="1"/>
          <p:nvPr/>
        </p:nvSpPr>
        <p:spPr>
          <a:xfrm>
            <a:off x="457200" y="3822192"/>
            <a:ext cx="1600200" cy="365760"/>
          </a:xfrm>
          <a:prstGeom prst="rect">
            <a:avLst/>
          </a:prstGeom>
          <a:noFill/>
        </p:spPr>
        <p:txBody>
          <a:bodyPr wrap="square" anchor="t" lIns="45720" rIns="45720" tIns="18288" bIns="18288">
            <a:spAutoFit/>
          </a:bodyPr>
          <a:lstStyle/>
          <a:p>
            <a:pPr algn="r"/>
            <a:r>
              <a:rPr sz="1600" b="1" i="0">
                <a:solidFill>
                  <a:srgbClr val="111111"/>
                </a:solidFill>
                <a:latin typeface="Calibri"/>
              </a:rPr>
              <a:t>Graduate E</a:t>
            </a:r>
          </a:p>
        </p:txBody>
      </p:sp>
      <p:sp>
        <p:nvSpPr>
          <p:cNvPr id="26" name="Rectangle 25"/>
          <p:cNvSpPr/>
          <p:nvPr/>
        </p:nvSpPr>
        <p:spPr>
          <a:xfrm>
            <a:off x="2103120" y="3941064"/>
            <a:ext cx="5852160" cy="1828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46136" y="3867912"/>
            <a:ext cx="91440" cy="329184"/>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83880" y="3840480"/>
            <a:ext cx="3657600" cy="365760"/>
          </a:xfrm>
          <a:prstGeom prst="rect">
            <a:avLst/>
          </a:prstGeom>
          <a:noFill/>
        </p:spPr>
        <p:txBody>
          <a:bodyPr wrap="square" anchor="t" lIns="45720" rIns="45720" tIns="18288" bIns="18288">
            <a:spAutoFit/>
          </a:bodyPr>
          <a:lstStyle/>
          <a:p>
            <a:pPr algn="l"/>
            <a:r>
              <a:rPr sz="1400" b="1" i="0">
                <a:solidFill>
                  <a:srgbClr val="EB6834"/>
                </a:solidFill>
                <a:latin typeface="Calibri"/>
              </a:rPr>
              <a:t>still searching at survey (month 8)  →  censored</a:t>
            </a:r>
          </a:p>
        </p:txBody>
      </p:sp>
      <p:sp>
        <p:nvSpPr>
          <p:cNvPr id="29" name="TextBox 28"/>
          <p:cNvSpPr txBox="1"/>
          <p:nvPr/>
        </p:nvSpPr>
        <p:spPr>
          <a:xfrm>
            <a:off x="457200" y="4389120"/>
            <a:ext cx="1600200" cy="365760"/>
          </a:xfrm>
          <a:prstGeom prst="rect">
            <a:avLst/>
          </a:prstGeom>
          <a:noFill/>
        </p:spPr>
        <p:txBody>
          <a:bodyPr wrap="square" anchor="t" lIns="45720" rIns="45720" tIns="18288" bIns="18288">
            <a:spAutoFit/>
          </a:bodyPr>
          <a:lstStyle/>
          <a:p>
            <a:pPr algn="r"/>
            <a:r>
              <a:rPr sz="1600" b="1" i="0">
                <a:solidFill>
                  <a:srgbClr val="111111"/>
                </a:solidFill>
                <a:latin typeface="Calibri"/>
              </a:rPr>
              <a:t>Graduate F</a:t>
            </a:r>
          </a:p>
        </p:txBody>
      </p:sp>
      <p:sp>
        <p:nvSpPr>
          <p:cNvPr id="30" name="Rectangle 29"/>
          <p:cNvSpPr/>
          <p:nvPr/>
        </p:nvSpPr>
        <p:spPr>
          <a:xfrm>
            <a:off x="2103120" y="4507992"/>
            <a:ext cx="3657600" cy="1828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632704" y="4471416"/>
            <a:ext cx="256032" cy="256032"/>
          </a:xfrm>
          <a:prstGeom prst="ellipse">
            <a:avLst/>
          </a:prstGeom>
          <a:solidFill>
            <a:srgbClr val="1BAF7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89320" y="4407408"/>
            <a:ext cx="2743200" cy="365760"/>
          </a:xfrm>
          <a:prstGeom prst="rect">
            <a:avLst/>
          </a:prstGeom>
          <a:noFill/>
        </p:spPr>
        <p:txBody>
          <a:bodyPr wrap="square" anchor="t" lIns="45720" rIns="45720" tIns="18288" bIns="18288">
            <a:spAutoFit/>
          </a:bodyPr>
          <a:lstStyle/>
          <a:p>
            <a:pPr algn="l"/>
            <a:r>
              <a:rPr sz="1400" b="0" i="0">
                <a:solidFill>
                  <a:srgbClr val="55565A"/>
                </a:solidFill>
                <a:latin typeface="Calibri"/>
              </a:rPr>
              <a:t>found an IT job at month 5</a:t>
            </a:r>
          </a:p>
        </p:txBody>
      </p:sp>
      <p:cxnSp>
        <p:nvCxnSpPr>
          <p:cNvPr id="33" name="Connector 32"/>
          <p:cNvCxnSpPr/>
          <p:nvPr/>
        </p:nvCxnSpPr>
        <p:spPr>
          <a:xfrm>
            <a:off x="2103120" y="5074920"/>
            <a:ext cx="7315200" cy="0"/>
          </a:xfrm>
          <a:prstGeom prst="line">
            <a:avLst/>
          </a:prstGeom>
          <a:ln w="19050">
            <a:solidFill>
              <a:srgbClr val="55565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103120" y="5074920"/>
            <a:ext cx="0" cy="91440"/>
          </a:xfrm>
          <a:prstGeom prst="line">
            <a:avLst/>
          </a:prstGeom>
          <a:ln w="19050">
            <a:solidFill>
              <a:srgbClr val="55565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828800" y="5166360"/>
            <a:ext cx="548640" cy="274320"/>
          </a:xfrm>
          <a:prstGeom prst="rect">
            <a:avLst/>
          </a:prstGeom>
          <a:noFill/>
        </p:spPr>
        <p:txBody>
          <a:bodyPr wrap="square" anchor="t" lIns="45720" rIns="45720" tIns="18288" bIns="18288">
            <a:spAutoFit/>
          </a:bodyPr>
          <a:lstStyle/>
          <a:p>
            <a:pPr algn="ctr"/>
            <a:r>
              <a:rPr sz="1300" b="0" i="0">
                <a:solidFill>
                  <a:srgbClr val="55565A"/>
                </a:solidFill>
                <a:latin typeface="Calibri"/>
              </a:rPr>
              <a:t>0</a:t>
            </a:r>
          </a:p>
        </p:txBody>
      </p:sp>
      <p:cxnSp>
        <p:nvCxnSpPr>
          <p:cNvPr id="36" name="Connector 35"/>
          <p:cNvCxnSpPr/>
          <p:nvPr/>
        </p:nvCxnSpPr>
        <p:spPr>
          <a:xfrm>
            <a:off x="3566160" y="5074920"/>
            <a:ext cx="0" cy="91440"/>
          </a:xfrm>
          <a:prstGeom prst="line">
            <a:avLst/>
          </a:prstGeom>
          <a:ln w="19050">
            <a:solidFill>
              <a:srgbClr val="55565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291840" y="5166360"/>
            <a:ext cx="548640" cy="274320"/>
          </a:xfrm>
          <a:prstGeom prst="rect">
            <a:avLst/>
          </a:prstGeom>
          <a:noFill/>
        </p:spPr>
        <p:txBody>
          <a:bodyPr wrap="square" anchor="t" lIns="45720" rIns="45720" tIns="18288" bIns="18288">
            <a:spAutoFit/>
          </a:bodyPr>
          <a:lstStyle/>
          <a:p>
            <a:pPr algn="ctr"/>
            <a:r>
              <a:rPr sz="1300" b="0" i="0">
                <a:solidFill>
                  <a:srgbClr val="55565A"/>
                </a:solidFill>
                <a:latin typeface="Calibri"/>
              </a:rPr>
              <a:t>2</a:t>
            </a:r>
          </a:p>
        </p:txBody>
      </p:sp>
      <p:cxnSp>
        <p:nvCxnSpPr>
          <p:cNvPr id="38" name="Connector 37"/>
          <p:cNvCxnSpPr/>
          <p:nvPr/>
        </p:nvCxnSpPr>
        <p:spPr>
          <a:xfrm>
            <a:off x="5029200" y="5074920"/>
            <a:ext cx="0" cy="91440"/>
          </a:xfrm>
          <a:prstGeom prst="line">
            <a:avLst/>
          </a:prstGeom>
          <a:ln w="19050">
            <a:solidFill>
              <a:srgbClr val="55565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754880" y="5166360"/>
            <a:ext cx="548640" cy="274320"/>
          </a:xfrm>
          <a:prstGeom prst="rect">
            <a:avLst/>
          </a:prstGeom>
          <a:noFill/>
        </p:spPr>
        <p:txBody>
          <a:bodyPr wrap="square" anchor="t" lIns="45720" rIns="45720" tIns="18288" bIns="18288">
            <a:spAutoFit/>
          </a:bodyPr>
          <a:lstStyle/>
          <a:p>
            <a:pPr algn="ctr"/>
            <a:r>
              <a:rPr sz="1300" b="0" i="0">
                <a:solidFill>
                  <a:srgbClr val="55565A"/>
                </a:solidFill>
                <a:latin typeface="Calibri"/>
              </a:rPr>
              <a:t>4</a:t>
            </a:r>
          </a:p>
        </p:txBody>
      </p:sp>
      <p:cxnSp>
        <p:nvCxnSpPr>
          <p:cNvPr id="40" name="Connector 39"/>
          <p:cNvCxnSpPr/>
          <p:nvPr/>
        </p:nvCxnSpPr>
        <p:spPr>
          <a:xfrm>
            <a:off x="6492240" y="5074920"/>
            <a:ext cx="0" cy="91440"/>
          </a:xfrm>
          <a:prstGeom prst="line">
            <a:avLst/>
          </a:prstGeom>
          <a:ln w="19050">
            <a:solidFill>
              <a:srgbClr val="55565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217920" y="5166360"/>
            <a:ext cx="548640" cy="274320"/>
          </a:xfrm>
          <a:prstGeom prst="rect">
            <a:avLst/>
          </a:prstGeom>
          <a:noFill/>
        </p:spPr>
        <p:txBody>
          <a:bodyPr wrap="square" anchor="t" lIns="45720" rIns="45720" tIns="18288" bIns="18288">
            <a:spAutoFit/>
          </a:bodyPr>
          <a:lstStyle/>
          <a:p>
            <a:pPr algn="ctr"/>
            <a:r>
              <a:rPr sz="1300" b="0" i="0">
                <a:solidFill>
                  <a:srgbClr val="55565A"/>
                </a:solidFill>
                <a:latin typeface="Calibri"/>
              </a:rPr>
              <a:t>6</a:t>
            </a:r>
          </a:p>
        </p:txBody>
      </p:sp>
      <p:cxnSp>
        <p:nvCxnSpPr>
          <p:cNvPr id="42" name="Connector 41"/>
          <p:cNvCxnSpPr/>
          <p:nvPr/>
        </p:nvCxnSpPr>
        <p:spPr>
          <a:xfrm>
            <a:off x="7955280" y="5074920"/>
            <a:ext cx="0" cy="91440"/>
          </a:xfrm>
          <a:prstGeom prst="line">
            <a:avLst/>
          </a:prstGeom>
          <a:ln w="19050">
            <a:solidFill>
              <a:srgbClr val="55565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680960" y="5166360"/>
            <a:ext cx="548640" cy="274320"/>
          </a:xfrm>
          <a:prstGeom prst="rect">
            <a:avLst/>
          </a:prstGeom>
          <a:noFill/>
        </p:spPr>
        <p:txBody>
          <a:bodyPr wrap="square" anchor="t" lIns="45720" rIns="45720" tIns="18288" bIns="18288">
            <a:spAutoFit/>
          </a:bodyPr>
          <a:lstStyle/>
          <a:p>
            <a:pPr algn="ctr"/>
            <a:r>
              <a:rPr sz="1300" b="0" i="0">
                <a:solidFill>
                  <a:srgbClr val="55565A"/>
                </a:solidFill>
                <a:latin typeface="Calibri"/>
              </a:rPr>
              <a:t>8</a:t>
            </a:r>
          </a:p>
        </p:txBody>
      </p:sp>
      <p:cxnSp>
        <p:nvCxnSpPr>
          <p:cNvPr id="44" name="Connector 43"/>
          <p:cNvCxnSpPr/>
          <p:nvPr/>
        </p:nvCxnSpPr>
        <p:spPr>
          <a:xfrm>
            <a:off x="9418320" y="5074920"/>
            <a:ext cx="0" cy="91440"/>
          </a:xfrm>
          <a:prstGeom prst="line">
            <a:avLst/>
          </a:prstGeom>
          <a:ln w="19050">
            <a:solidFill>
              <a:srgbClr val="55565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9144000" y="5166360"/>
            <a:ext cx="548640" cy="274320"/>
          </a:xfrm>
          <a:prstGeom prst="rect">
            <a:avLst/>
          </a:prstGeom>
          <a:noFill/>
        </p:spPr>
        <p:txBody>
          <a:bodyPr wrap="square" anchor="t" lIns="45720" rIns="45720" tIns="18288" bIns="18288">
            <a:spAutoFit/>
          </a:bodyPr>
          <a:lstStyle/>
          <a:p>
            <a:pPr algn="ctr"/>
            <a:r>
              <a:rPr sz="1300" b="0" i="0">
                <a:solidFill>
                  <a:srgbClr val="55565A"/>
                </a:solidFill>
                <a:latin typeface="Calibri"/>
              </a:rPr>
              <a:t>10</a:t>
            </a:r>
          </a:p>
        </p:txBody>
      </p:sp>
      <p:sp>
        <p:nvSpPr>
          <p:cNvPr id="46" name="TextBox 45"/>
          <p:cNvSpPr txBox="1"/>
          <p:nvPr/>
        </p:nvSpPr>
        <p:spPr>
          <a:xfrm>
            <a:off x="2103120" y="5440680"/>
            <a:ext cx="7315200" cy="274320"/>
          </a:xfrm>
          <a:prstGeom prst="rect">
            <a:avLst/>
          </a:prstGeom>
          <a:noFill/>
        </p:spPr>
        <p:txBody>
          <a:bodyPr wrap="square" anchor="t" lIns="45720" rIns="45720" tIns="18288" bIns="18288">
            <a:spAutoFit/>
          </a:bodyPr>
          <a:lstStyle/>
          <a:p>
            <a:pPr algn="ctr"/>
            <a:r>
              <a:rPr sz="1300" b="0" i="0">
                <a:solidFill>
                  <a:srgbClr val="55565A"/>
                </a:solidFill>
                <a:latin typeface="Calibri"/>
              </a:rPr>
              <a:t>Months after degree completion</a:t>
            </a:r>
          </a:p>
        </p:txBody>
      </p:sp>
      <p:sp>
        <p:nvSpPr>
          <p:cNvPr id="47" name="Rounded Rectangle 46"/>
          <p:cNvSpPr/>
          <p:nvPr/>
        </p:nvSpPr>
        <p:spPr>
          <a:xfrm>
            <a:off x="548640" y="5760720"/>
            <a:ext cx="11064240" cy="640080"/>
          </a:xfrm>
          <a:prstGeom prst="roundRect">
            <a:avLst>
              <a:gd name="adj" fmla="val 15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5760720"/>
            <a:ext cx="10698480" cy="640080"/>
          </a:xfrm>
          <a:prstGeom prst="rect">
            <a:avLst/>
          </a:prstGeom>
          <a:noFill/>
        </p:spPr>
        <p:txBody>
          <a:bodyPr wrap="square" anchor="ctr" lIns="45720" rIns="45720" tIns="18288" bIns="18288">
            <a:spAutoFit/>
          </a:bodyPr>
          <a:lstStyle/>
          <a:p>
            <a:pPr algn="l"/>
            <a:r>
              <a:rPr sz="1900" b="1" i="0">
                <a:solidFill>
                  <a:srgbClr val="0D366B"/>
                </a:solidFill>
                <a:latin typeface="Calibri"/>
              </a:rPr>
              <a:t>A classifier discards C and E, or mislabels them. Survival analysis uses them, and predicts WHEN, not just whether.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Literature gap: nothing combines these capabilities</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PROBLEM</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5</a:t>
            </a:r>
          </a:p>
        </p:txBody>
      </p:sp>
      <p:graphicFrame>
        <p:nvGraphicFramePr>
          <p:cNvPr id="9" name="Table 8"/>
          <p:cNvGraphicFramePr>
            <a:graphicFrameLocks noGrp="1"/>
          </p:cNvGraphicFramePr>
          <p:nvPr/>
        </p:nvGraphicFramePr>
        <p:xfrm>
          <a:off x="548640" y="1280160"/>
          <a:ext cx="11064238" cy="3401568"/>
        </p:xfrm>
        <a:graphic>
          <a:graphicData uri="http://schemas.openxmlformats.org/drawingml/2006/table">
            <a:tbl>
              <a:tblPr firstRow="1" bandRow="1">
                <a:tableStyleId>{5C22544A-7EE6-4342-B048-85BDC9FD1C3A}</a:tableStyleId>
              </a:tblPr>
              <a:tblGrid>
                <a:gridCol w="3319272"/>
                <a:gridCol w="1709928"/>
                <a:gridCol w="1408175"/>
                <a:gridCol w="1408175"/>
                <a:gridCol w="1709928"/>
                <a:gridCol w="1508760"/>
              </a:tblGrid>
              <a:tr h="566928">
                <a:tc>
                  <a:txBody>
                    <a:bodyPr wrap="square"/>
                    <a:lstStyle/>
                    <a:p>
                      <a:pPr algn="l"/>
                      <a:r>
                        <a:rPr sz="1700" b="1">
                          <a:solidFill>
                            <a:srgbClr val="FFFFFF"/>
                          </a:solidFill>
                          <a:latin typeface="Calibri"/>
                        </a:rPr>
                        <a:t>Capability</a:t>
                      </a:r>
                    </a:p>
                  </a:txBody>
                  <a:tcPr marL="73152" marR="73152" anchor="ctr">
                    <a:solidFill>
                      <a:srgbClr val="0D366B"/>
                    </a:solidFill>
                  </a:tcPr>
                </a:tc>
                <a:tc>
                  <a:txBody>
                    <a:bodyPr wrap="square"/>
                    <a:lstStyle/>
                    <a:p>
                      <a:pPr algn="ctr"/>
                      <a:r>
                        <a:rPr sz="1700" b="1">
                          <a:solidFill>
                            <a:srgbClr val="FFFFFF"/>
                          </a:solidFill>
                          <a:latin typeface="Calibri"/>
                        </a:rPr>
                        <a:t>Rukais et al. 2025</a:t>
                      </a:r>
                    </a:p>
                  </a:txBody>
                  <a:tcPr marL="73152" marR="73152" anchor="ctr">
                    <a:solidFill>
                      <a:srgbClr val="0D366B"/>
                    </a:solidFill>
                  </a:tcPr>
                </a:tc>
                <a:tc>
                  <a:txBody>
                    <a:bodyPr wrap="square"/>
                    <a:lstStyle/>
                    <a:p>
                      <a:pPr algn="ctr"/>
                      <a:r>
                        <a:rPr sz="1700" b="1">
                          <a:solidFill>
                            <a:srgbClr val="FFFFFF"/>
                          </a:solidFill>
                          <a:latin typeface="Calibri"/>
                        </a:rPr>
                        <a:t>ITConnect</a:t>
                      </a:r>
                    </a:p>
                  </a:txBody>
                  <a:tcPr marL="73152" marR="73152" anchor="ctr">
                    <a:solidFill>
                      <a:srgbClr val="0D366B"/>
                    </a:solidFill>
                  </a:tcPr>
                </a:tc>
                <a:tc>
                  <a:txBody>
                    <a:bodyPr wrap="square"/>
                    <a:lstStyle/>
                    <a:p>
                      <a:pPr algn="ctr"/>
                      <a:r>
                        <a:rPr sz="1700" b="1">
                          <a:solidFill>
                            <a:srgbClr val="FFFFFF"/>
                          </a:solidFill>
                          <a:latin typeface="Calibri"/>
                        </a:rPr>
                        <a:t>Scopira</a:t>
                      </a:r>
                    </a:p>
                  </a:txBody>
                  <a:tcPr marL="73152" marR="73152" anchor="ctr">
                    <a:solidFill>
                      <a:srgbClr val="0D366B"/>
                    </a:solidFill>
                  </a:tcPr>
                </a:tc>
                <a:tc>
                  <a:txBody>
                    <a:bodyPr wrap="square"/>
                    <a:lstStyle/>
                    <a:p>
                      <a:pPr algn="ctr"/>
                      <a:r>
                        <a:rPr sz="1700" b="1">
                          <a:solidFill>
                            <a:srgbClr val="FFFFFF"/>
                          </a:solidFill>
                          <a:latin typeface="Calibri"/>
                        </a:rPr>
                        <a:t>Commercial tools</a:t>
                      </a:r>
                    </a:p>
                  </a:txBody>
                  <a:tcPr marL="73152" marR="73152" anchor="ctr">
                    <a:solidFill>
                      <a:srgbClr val="0D366B"/>
                    </a:solidFill>
                  </a:tcPr>
                </a:tc>
                <a:tc>
                  <a:txBody>
                    <a:bodyPr wrap="square"/>
                    <a:lstStyle/>
                    <a:p>
                      <a:pPr algn="ctr"/>
                      <a:r>
                        <a:rPr sz="1700" b="1">
                          <a:solidFill>
                            <a:srgbClr val="FFFFFF"/>
                          </a:solidFill>
                          <a:latin typeface="Calibri"/>
                        </a:rPr>
                        <a:t>This study</a:t>
                      </a:r>
                    </a:p>
                  </a:txBody>
                  <a:tcPr marL="73152" marR="73152" anchor="ctr">
                    <a:solidFill>
                      <a:srgbClr val="0D366B"/>
                    </a:solidFill>
                  </a:tcPr>
                </a:tc>
              </a:tr>
              <a:tr h="566928">
                <a:tc>
                  <a:txBody>
                    <a:bodyPr wrap="square"/>
                    <a:lstStyle/>
                    <a:p>
                      <a:pPr algn="l"/>
                      <a:r>
                        <a:rPr sz="1700" b="1">
                          <a:solidFill>
                            <a:srgbClr val="111111"/>
                          </a:solidFill>
                          <a:latin typeface="Calibri"/>
                        </a:rPr>
                        <a:t>Sri Lankan IT focus</a:t>
                      </a:r>
                    </a:p>
                  </a:txBody>
                  <a:tcPr marL="73152" marR="73152" anchor="ctr">
                    <a:solidFill>
                      <a:srgbClr val="FFFFFF"/>
                    </a:solidFill>
                  </a:tcPr>
                </a:tc>
                <a:tc>
                  <a:txBody>
                    <a:bodyPr wrap="square"/>
                    <a:lstStyle/>
                    <a:p>
                      <a:pPr algn="ctr"/>
                      <a:r>
                        <a:rPr sz="1700" b="1">
                          <a:solidFill>
                            <a:srgbClr val="1BAF7A"/>
                          </a:solidFill>
                          <a:latin typeface="Calibri"/>
                        </a:rPr>
                        <a:t>Yes</a:t>
                      </a:r>
                    </a:p>
                  </a:txBody>
                  <a:tcPr marL="73152" marR="73152" anchor="ctr">
                    <a:solidFill>
                      <a:srgbClr val="FFFFFF"/>
                    </a:solidFill>
                  </a:tcPr>
                </a:tc>
                <a:tc>
                  <a:txBody>
                    <a:bodyPr wrap="square"/>
                    <a:lstStyle/>
                    <a:p>
                      <a:pPr algn="ctr"/>
                      <a:r>
                        <a:rPr sz="1700" b="1">
                          <a:solidFill>
                            <a:srgbClr val="1BAF7A"/>
                          </a:solidFill>
                          <a:latin typeface="Calibri"/>
                        </a:rPr>
                        <a:t>Yes</a:t>
                      </a:r>
                    </a:p>
                  </a:txBody>
                  <a:tcPr marL="73152" marR="73152" anchor="ctr">
                    <a:solidFill>
                      <a:srgbClr val="FFFFFF"/>
                    </a:solidFill>
                  </a:tcPr>
                </a:tc>
                <a:tc>
                  <a:txBody>
                    <a:bodyPr wrap="square"/>
                    <a:lstStyle/>
                    <a:p>
                      <a:pPr algn="ctr"/>
                      <a:r>
                        <a:rPr sz="1700" b="0">
                          <a:solidFill>
                            <a:srgbClr val="EB6834"/>
                          </a:solidFill>
                          <a:latin typeface="Calibri"/>
                        </a:rPr>
                        <a:t>No</a:t>
                      </a:r>
                    </a:p>
                  </a:txBody>
                  <a:tcPr marL="73152" marR="73152" anchor="ctr">
                    <a:solidFill>
                      <a:srgbClr val="FFFFFF"/>
                    </a:solidFill>
                  </a:tcPr>
                </a:tc>
                <a:tc>
                  <a:txBody>
                    <a:bodyPr wrap="square"/>
                    <a:lstStyle/>
                    <a:p>
                      <a:pPr algn="ctr"/>
                      <a:r>
                        <a:rPr sz="1700" b="0">
                          <a:solidFill>
                            <a:srgbClr val="EB6834"/>
                          </a:solidFill>
                          <a:latin typeface="Calibri"/>
                        </a:rPr>
                        <a:t>No</a:t>
                      </a:r>
                    </a:p>
                  </a:txBody>
                  <a:tcPr marL="73152" marR="73152" anchor="ctr">
                    <a:solidFill>
                      <a:srgbClr val="FFFFFF"/>
                    </a:solidFill>
                  </a:tcPr>
                </a:tc>
                <a:tc>
                  <a:txBody>
                    <a:bodyPr wrap="square"/>
                    <a:lstStyle/>
                    <a:p>
                      <a:pPr algn="ctr"/>
                      <a:r>
                        <a:rPr sz="1700" b="1">
                          <a:solidFill>
                            <a:srgbClr val="1BAF7A"/>
                          </a:solidFill>
                          <a:latin typeface="Calibri"/>
                        </a:rPr>
                        <a:t>Yes</a:t>
                      </a:r>
                    </a:p>
                  </a:txBody>
                  <a:tcPr marL="73152" marR="73152" anchor="ctr">
                    <a:solidFill>
                      <a:srgbClr val="FFFFFF"/>
                    </a:solidFill>
                  </a:tcPr>
                </a:tc>
              </a:tr>
              <a:tr h="566928">
                <a:tc>
                  <a:txBody>
                    <a:bodyPr wrap="square"/>
                    <a:lstStyle/>
                    <a:p>
                      <a:pPr algn="l"/>
                      <a:r>
                        <a:rPr sz="1700" b="1">
                          <a:solidFill>
                            <a:srgbClr val="111111"/>
                          </a:solidFill>
                          <a:latin typeface="Calibri"/>
                        </a:rPr>
                        <a:t>Predicts time to a job</a:t>
                      </a:r>
                    </a:p>
                  </a:txBody>
                  <a:tcPr marL="73152" marR="73152" anchor="ctr">
                    <a:solidFill>
                      <a:srgbClr val="EEF3FA"/>
                    </a:solidFill>
                  </a:tcPr>
                </a:tc>
                <a:tc>
                  <a:txBody>
                    <a:bodyPr wrap="square"/>
                    <a:lstStyle/>
                    <a:p>
                      <a:pPr algn="ctr"/>
                      <a:r>
                        <a:rPr sz="1700" b="0">
                          <a:solidFill>
                            <a:srgbClr val="EB6834"/>
                          </a:solidFill>
                          <a:latin typeface="Calibri"/>
                        </a:rPr>
                        <a:t>No</a:t>
                      </a:r>
                    </a:p>
                  </a:txBody>
                  <a:tcPr marL="73152" marR="73152" anchor="ctr">
                    <a:solidFill>
                      <a:srgbClr val="EEF3FA"/>
                    </a:solidFill>
                  </a:tcPr>
                </a:tc>
                <a:tc>
                  <a:txBody>
                    <a:bodyPr wrap="square"/>
                    <a:lstStyle/>
                    <a:p>
                      <a:pPr algn="ctr"/>
                      <a:r>
                        <a:rPr sz="1700" b="0">
                          <a:solidFill>
                            <a:srgbClr val="EB6834"/>
                          </a:solidFill>
                          <a:latin typeface="Calibri"/>
                        </a:rPr>
                        <a:t>No</a:t>
                      </a:r>
                    </a:p>
                  </a:txBody>
                  <a:tcPr marL="73152" marR="73152" anchor="ctr">
                    <a:solidFill>
                      <a:srgbClr val="EEF3FA"/>
                    </a:solidFill>
                  </a:tcPr>
                </a:tc>
                <a:tc>
                  <a:txBody>
                    <a:bodyPr wrap="square"/>
                    <a:lstStyle/>
                    <a:p>
                      <a:pPr algn="ctr"/>
                      <a:r>
                        <a:rPr sz="1700" b="0">
                          <a:solidFill>
                            <a:srgbClr val="EB6834"/>
                          </a:solidFill>
                          <a:latin typeface="Calibri"/>
                        </a:rPr>
                        <a:t>No</a:t>
                      </a:r>
                    </a:p>
                  </a:txBody>
                  <a:tcPr marL="73152" marR="73152" anchor="ctr">
                    <a:solidFill>
                      <a:srgbClr val="EEF3FA"/>
                    </a:solidFill>
                  </a:tcPr>
                </a:tc>
                <a:tc>
                  <a:txBody>
                    <a:bodyPr wrap="square"/>
                    <a:lstStyle/>
                    <a:p>
                      <a:pPr algn="ctr"/>
                      <a:r>
                        <a:rPr sz="1700" b="0">
                          <a:solidFill>
                            <a:srgbClr val="EB6834"/>
                          </a:solidFill>
                          <a:latin typeface="Calibri"/>
                        </a:rPr>
                        <a:t>No</a:t>
                      </a:r>
                    </a:p>
                  </a:txBody>
                  <a:tcPr marL="73152" marR="73152" anchor="ctr">
                    <a:solidFill>
                      <a:srgbClr val="EEF3FA"/>
                    </a:solidFill>
                  </a:tcPr>
                </a:tc>
                <a:tc>
                  <a:txBody>
                    <a:bodyPr wrap="square"/>
                    <a:lstStyle/>
                    <a:p>
                      <a:pPr algn="ctr"/>
                      <a:r>
                        <a:rPr sz="1700" b="1">
                          <a:solidFill>
                            <a:srgbClr val="1BAF7A"/>
                          </a:solidFill>
                          <a:latin typeface="Calibri"/>
                        </a:rPr>
                        <a:t>Yes</a:t>
                      </a:r>
                    </a:p>
                  </a:txBody>
                  <a:tcPr marL="73152" marR="73152" anchor="ctr">
                    <a:solidFill>
                      <a:srgbClr val="EEF3FA"/>
                    </a:solidFill>
                  </a:tcPr>
                </a:tc>
              </a:tr>
              <a:tr h="566928">
                <a:tc>
                  <a:txBody>
                    <a:bodyPr wrap="square"/>
                    <a:lstStyle/>
                    <a:p>
                      <a:pPr algn="l"/>
                      <a:r>
                        <a:rPr sz="1700" b="1">
                          <a:solidFill>
                            <a:srgbClr val="111111"/>
                          </a:solidFill>
                          <a:latin typeface="Calibri"/>
                        </a:rPr>
                        <a:t>Uses graduates still searching</a:t>
                      </a:r>
                    </a:p>
                  </a:txBody>
                  <a:tcPr marL="73152" marR="73152" anchor="ctr">
                    <a:solidFill>
                      <a:srgbClr val="FFFFFF"/>
                    </a:solidFill>
                  </a:tcPr>
                </a:tc>
                <a:tc>
                  <a:txBody>
                    <a:bodyPr wrap="square"/>
                    <a:lstStyle/>
                    <a:p>
                      <a:pPr algn="ctr"/>
                      <a:r>
                        <a:rPr sz="1700" b="0">
                          <a:solidFill>
                            <a:srgbClr val="EB6834"/>
                          </a:solidFill>
                          <a:latin typeface="Calibri"/>
                        </a:rPr>
                        <a:t>No</a:t>
                      </a:r>
                    </a:p>
                  </a:txBody>
                  <a:tcPr marL="73152" marR="73152" anchor="ctr">
                    <a:solidFill>
                      <a:srgbClr val="FFFFFF"/>
                    </a:solidFill>
                  </a:tcPr>
                </a:tc>
                <a:tc>
                  <a:txBody>
                    <a:bodyPr wrap="square"/>
                    <a:lstStyle/>
                    <a:p>
                      <a:pPr algn="ctr"/>
                      <a:r>
                        <a:rPr sz="1700" b="0">
                          <a:solidFill>
                            <a:srgbClr val="EB6834"/>
                          </a:solidFill>
                          <a:latin typeface="Calibri"/>
                        </a:rPr>
                        <a:t>No</a:t>
                      </a:r>
                    </a:p>
                  </a:txBody>
                  <a:tcPr marL="73152" marR="73152" anchor="ctr">
                    <a:solidFill>
                      <a:srgbClr val="FFFFFF"/>
                    </a:solidFill>
                  </a:tcPr>
                </a:tc>
                <a:tc>
                  <a:txBody>
                    <a:bodyPr wrap="square"/>
                    <a:lstStyle/>
                    <a:p>
                      <a:pPr algn="ctr"/>
                      <a:r>
                        <a:rPr sz="1700" b="0">
                          <a:solidFill>
                            <a:srgbClr val="EB6834"/>
                          </a:solidFill>
                          <a:latin typeface="Calibri"/>
                        </a:rPr>
                        <a:t>No</a:t>
                      </a:r>
                    </a:p>
                  </a:txBody>
                  <a:tcPr marL="73152" marR="73152" anchor="ctr">
                    <a:solidFill>
                      <a:srgbClr val="FFFFFF"/>
                    </a:solidFill>
                  </a:tcPr>
                </a:tc>
                <a:tc>
                  <a:txBody>
                    <a:bodyPr wrap="square"/>
                    <a:lstStyle/>
                    <a:p>
                      <a:pPr algn="ctr"/>
                      <a:r>
                        <a:rPr sz="1700" b="0">
                          <a:solidFill>
                            <a:srgbClr val="EB6834"/>
                          </a:solidFill>
                          <a:latin typeface="Calibri"/>
                        </a:rPr>
                        <a:t>No</a:t>
                      </a:r>
                    </a:p>
                  </a:txBody>
                  <a:tcPr marL="73152" marR="73152" anchor="ctr">
                    <a:solidFill>
                      <a:srgbClr val="FFFFFF"/>
                    </a:solidFill>
                  </a:tcPr>
                </a:tc>
                <a:tc>
                  <a:txBody>
                    <a:bodyPr wrap="square"/>
                    <a:lstStyle/>
                    <a:p>
                      <a:pPr algn="ctr"/>
                      <a:r>
                        <a:rPr sz="1700" b="1">
                          <a:solidFill>
                            <a:srgbClr val="1BAF7A"/>
                          </a:solidFill>
                          <a:latin typeface="Calibri"/>
                        </a:rPr>
                        <a:t>Yes</a:t>
                      </a:r>
                    </a:p>
                  </a:txBody>
                  <a:tcPr marL="73152" marR="73152" anchor="ctr">
                    <a:solidFill>
                      <a:srgbClr val="FFFFFF"/>
                    </a:solidFill>
                  </a:tcPr>
                </a:tc>
              </a:tr>
              <a:tr h="566928">
                <a:tc>
                  <a:txBody>
                    <a:bodyPr wrap="square"/>
                    <a:lstStyle/>
                    <a:p>
                      <a:pPr algn="l"/>
                      <a:r>
                        <a:rPr sz="1700" b="1">
                          <a:solidFill>
                            <a:srgbClr val="111111"/>
                          </a:solidFill>
                          <a:latin typeface="Calibri"/>
                        </a:rPr>
                        <a:t>Range with uncertainty</a:t>
                      </a:r>
                    </a:p>
                  </a:txBody>
                  <a:tcPr marL="73152" marR="73152" anchor="ctr">
                    <a:solidFill>
                      <a:srgbClr val="EEF3FA"/>
                    </a:solidFill>
                  </a:tcPr>
                </a:tc>
                <a:tc>
                  <a:txBody>
                    <a:bodyPr wrap="square"/>
                    <a:lstStyle/>
                    <a:p>
                      <a:pPr algn="ctr"/>
                      <a:r>
                        <a:rPr sz="1700" b="0">
                          <a:solidFill>
                            <a:srgbClr val="EB6834"/>
                          </a:solidFill>
                          <a:latin typeface="Calibri"/>
                        </a:rPr>
                        <a:t>No</a:t>
                      </a:r>
                    </a:p>
                  </a:txBody>
                  <a:tcPr marL="73152" marR="73152" anchor="ctr">
                    <a:solidFill>
                      <a:srgbClr val="EEF3FA"/>
                    </a:solidFill>
                  </a:tcPr>
                </a:tc>
                <a:tc>
                  <a:txBody>
                    <a:bodyPr wrap="square"/>
                    <a:lstStyle/>
                    <a:p>
                      <a:pPr algn="ctr"/>
                      <a:r>
                        <a:rPr sz="1700" b="0">
                          <a:solidFill>
                            <a:srgbClr val="EB6834"/>
                          </a:solidFill>
                          <a:latin typeface="Calibri"/>
                        </a:rPr>
                        <a:t>No</a:t>
                      </a:r>
                    </a:p>
                  </a:txBody>
                  <a:tcPr marL="73152" marR="73152" anchor="ctr">
                    <a:solidFill>
                      <a:srgbClr val="EEF3FA"/>
                    </a:solidFill>
                  </a:tcPr>
                </a:tc>
                <a:tc>
                  <a:txBody>
                    <a:bodyPr wrap="square"/>
                    <a:lstStyle/>
                    <a:p>
                      <a:pPr algn="ctr"/>
                      <a:r>
                        <a:rPr sz="1700" b="0">
                          <a:solidFill>
                            <a:srgbClr val="EB6834"/>
                          </a:solidFill>
                          <a:latin typeface="Calibri"/>
                        </a:rPr>
                        <a:t>No</a:t>
                      </a:r>
                    </a:p>
                  </a:txBody>
                  <a:tcPr marL="73152" marR="73152" anchor="ctr">
                    <a:solidFill>
                      <a:srgbClr val="EEF3FA"/>
                    </a:solidFill>
                  </a:tcPr>
                </a:tc>
                <a:tc>
                  <a:txBody>
                    <a:bodyPr wrap="square"/>
                    <a:lstStyle/>
                    <a:p>
                      <a:pPr algn="ctr"/>
                      <a:r>
                        <a:rPr sz="1700" b="0">
                          <a:solidFill>
                            <a:srgbClr val="EB6834"/>
                          </a:solidFill>
                          <a:latin typeface="Calibri"/>
                        </a:rPr>
                        <a:t>No</a:t>
                      </a:r>
                    </a:p>
                  </a:txBody>
                  <a:tcPr marL="73152" marR="73152" anchor="ctr">
                    <a:solidFill>
                      <a:srgbClr val="EEF3FA"/>
                    </a:solidFill>
                  </a:tcPr>
                </a:tc>
                <a:tc>
                  <a:txBody>
                    <a:bodyPr wrap="square"/>
                    <a:lstStyle/>
                    <a:p>
                      <a:pPr algn="ctr"/>
                      <a:r>
                        <a:rPr sz="1700" b="1">
                          <a:solidFill>
                            <a:srgbClr val="1BAF7A"/>
                          </a:solidFill>
                          <a:latin typeface="Calibri"/>
                        </a:rPr>
                        <a:t>Yes</a:t>
                      </a:r>
                    </a:p>
                  </a:txBody>
                  <a:tcPr marL="73152" marR="73152" anchor="ctr">
                    <a:solidFill>
                      <a:srgbClr val="EEF3FA"/>
                    </a:solidFill>
                  </a:tcPr>
                </a:tc>
              </a:tr>
              <a:tr h="566928">
                <a:tc>
                  <a:txBody>
                    <a:bodyPr wrap="square"/>
                    <a:lstStyle/>
                    <a:p>
                      <a:pPr algn="l"/>
                      <a:r>
                        <a:rPr sz="1700" b="1">
                          <a:solidFill>
                            <a:srgbClr val="111111"/>
                          </a:solidFill>
                          <a:latin typeface="Calibri"/>
                        </a:rPr>
                        <a:t>Individual explanation + what-if</a:t>
                      </a:r>
                    </a:p>
                  </a:txBody>
                  <a:tcPr marL="73152" marR="73152" anchor="ctr">
                    <a:solidFill>
                      <a:srgbClr val="FFFFFF"/>
                    </a:solidFill>
                  </a:tcPr>
                </a:tc>
                <a:tc>
                  <a:txBody>
                    <a:bodyPr wrap="square"/>
                    <a:lstStyle/>
                    <a:p>
                      <a:pPr algn="ctr"/>
                      <a:r>
                        <a:rPr sz="1700" b="0">
                          <a:solidFill>
                            <a:srgbClr val="EB6834"/>
                          </a:solidFill>
                          <a:latin typeface="Calibri"/>
                        </a:rPr>
                        <a:t>No</a:t>
                      </a:r>
                    </a:p>
                  </a:txBody>
                  <a:tcPr marL="73152" marR="73152" anchor="ctr">
                    <a:solidFill>
                      <a:srgbClr val="FFFFFF"/>
                    </a:solidFill>
                  </a:tcPr>
                </a:tc>
                <a:tc>
                  <a:txBody>
                    <a:bodyPr wrap="square"/>
                    <a:lstStyle/>
                    <a:p>
                      <a:pPr algn="ctr"/>
                      <a:r>
                        <a:rPr sz="1700" b="0">
                          <a:solidFill>
                            <a:srgbClr val="EB6834"/>
                          </a:solidFill>
                          <a:latin typeface="Calibri"/>
                        </a:rPr>
                        <a:t>No</a:t>
                      </a:r>
                    </a:p>
                  </a:txBody>
                  <a:tcPr marL="73152" marR="73152" anchor="ctr">
                    <a:solidFill>
                      <a:srgbClr val="FFFFFF"/>
                    </a:solidFill>
                  </a:tcPr>
                </a:tc>
                <a:tc>
                  <a:txBody>
                    <a:bodyPr wrap="square"/>
                    <a:lstStyle/>
                    <a:p>
                      <a:pPr algn="ctr"/>
                      <a:r>
                        <a:rPr sz="1700" b="1">
                          <a:solidFill>
                            <a:srgbClr val="B97A00"/>
                          </a:solidFill>
                          <a:latin typeface="Calibri"/>
                        </a:rPr>
                        <a:t>Partial</a:t>
                      </a:r>
                    </a:p>
                  </a:txBody>
                  <a:tcPr marL="73152" marR="73152" anchor="ctr">
                    <a:solidFill>
                      <a:srgbClr val="FFFFFF"/>
                    </a:solidFill>
                  </a:tcPr>
                </a:tc>
                <a:tc>
                  <a:txBody>
                    <a:bodyPr wrap="square"/>
                    <a:lstStyle/>
                    <a:p>
                      <a:pPr algn="ctr"/>
                      <a:r>
                        <a:rPr sz="1700" b="1">
                          <a:solidFill>
                            <a:srgbClr val="B97A00"/>
                          </a:solidFill>
                          <a:latin typeface="Calibri"/>
                        </a:rPr>
                        <a:t>Partial</a:t>
                      </a:r>
                    </a:p>
                  </a:txBody>
                  <a:tcPr marL="73152" marR="73152" anchor="ctr">
                    <a:solidFill>
                      <a:srgbClr val="FFFFFF"/>
                    </a:solidFill>
                  </a:tcPr>
                </a:tc>
                <a:tc>
                  <a:txBody>
                    <a:bodyPr wrap="square"/>
                    <a:lstStyle/>
                    <a:p>
                      <a:pPr algn="ctr"/>
                      <a:r>
                        <a:rPr sz="1700" b="1">
                          <a:solidFill>
                            <a:srgbClr val="1BAF7A"/>
                          </a:solidFill>
                          <a:latin typeface="Calibri"/>
                        </a:rPr>
                        <a:t>Yes</a:t>
                      </a:r>
                    </a:p>
                  </a:txBody>
                  <a:tcPr marL="73152" marR="73152" anchor="ctr">
                    <a:solidFill>
                      <a:srgbClr val="FFFFFF"/>
                    </a:solidFill>
                  </a:tcPr>
                </a:tc>
              </a:tr>
            </a:tbl>
          </a:graphicData>
        </a:graphic>
      </p:graphicFrame>
      <p:sp>
        <p:nvSpPr>
          <p:cNvPr id="10" name="TextBox 9"/>
          <p:cNvSpPr txBox="1"/>
          <p:nvPr/>
        </p:nvSpPr>
        <p:spPr>
          <a:xfrm>
            <a:off x="548640" y="4892040"/>
            <a:ext cx="11064240" cy="457200"/>
          </a:xfrm>
          <a:prstGeom prst="rect">
            <a:avLst/>
          </a:prstGeom>
          <a:noFill/>
        </p:spPr>
        <p:txBody>
          <a:bodyPr wrap="square" anchor="t" lIns="45720" rIns="45720" tIns="18288" bIns="18288">
            <a:spAutoFit/>
          </a:bodyPr>
          <a:lstStyle/>
          <a:p>
            <a:pPr algn="l"/>
            <a:r>
              <a:rPr sz="1700" b="0" i="0">
                <a:solidFill>
                  <a:srgbClr val="55565A"/>
                </a:solidFill>
                <a:latin typeface="Calibri"/>
              </a:rPr>
              <a:t>Closest local precedent: Rukais et al. (2025), an ensemble model over 820 IT employee profiles that predicts a career-path category, not time.</a:t>
            </a:r>
          </a:p>
        </p:txBody>
      </p:sp>
      <p:sp>
        <p:nvSpPr>
          <p:cNvPr id="11" name="Rounded Rectangle 10"/>
          <p:cNvSpPr/>
          <p:nvPr/>
        </p:nvSpPr>
        <p:spPr>
          <a:xfrm>
            <a:off x="548640" y="5486400"/>
            <a:ext cx="11064240" cy="822960"/>
          </a:xfrm>
          <a:prstGeom prst="roundRect">
            <a:avLst>
              <a:gd name="adj" fmla="val 15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486400"/>
            <a:ext cx="10607040" cy="822960"/>
          </a:xfrm>
          <a:prstGeom prst="rect">
            <a:avLst/>
          </a:prstGeom>
          <a:noFill/>
        </p:spPr>
        <p:txBody>
          <a:bodyPr wrap="square" anchor="ctr" lIns="45720" rIns="45720" tIns="18288" bIns="18288">
            <a:spAutoFit/>
          </a:bodyPr>
          <a:lstStyle/>
          <a:p>
            <a:pPr algn="l"/>
            <a:r>
              <a:rPr sz="1900" b="1" i="0">
                <a:solidFill>
                  <a:srgbClr val="FFFFFF"/>
                </a:solidFill>
                <a:latin typeface="Calibri"/>
              </a:rPr>
              <a:t>Gap: an explainable, time-to-event framework for Sri Lankan IT graduates, linked to real employer demand, and tested against a general LLM.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Objectives, research questions, and how each is answered</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PROBLEM</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6</a:t>
            </a:r>
          </a:p>
        </p:txBody>
      </p:sp>
      <p:graphicFrame>
        <p:nvGraphicFramePr>
          <p:cNvPr id="9" name="Table 8"/>
          <p:cNvGraphicFramePr>
            <a:graphicFrameLocks noGrp="1"/>
          </p:cNvGraphicFramePr>
          <p:nvPr/>
        </p:nvGraphicFramePr>
        <p:xfrm>
          <a:off x="548640" y="1234440"/>
          <a:ext cx="11064238" cy="5120640"/>
        </p:xfrm>
        <a:graphic>
          <a:graphicData uri="http://schemas.openxmlformats.org/drawingml/2006/table">
            <a:tbl>
              <a:tblPr firstRow="1" bandRow="1">
                <a:tableStyleId>{5C22544A-7EE6-4342-B048-85BDC9FD1C3A}</a:tableStyleId>
              </a:tblPr>
              <a:tblGrid>
                <a:gridCol w="1188719"/>
                <a:gridCol w="5852159"/>
                <a:gridCol w="4023360"/>
              </a:tblGrid>
              <a:tr h="1024128">
                <a:tc>
                  <a:txBody>
                    <a:bodyPr wrap="square"/>
                    <a:lstStyle/>
                    <a:p>
                      <a:pPr algn="l"/>
                      <a:r>
                        <a:rPr sz="1700" b="1">
                          <a:solidFill>
                            <a:srgbClr val="FFFFFF"/>
                          </a:solidFill>
                          <a:latin typeface="Calibri"/>
                        </a:rPr>
                        <a:t/>
                      </a:r>
                    </a:p>
                  </a:txBody>
                  <a:tcPr marL="73152" marR="73152" anchor="ctr">
                    <a:solidFill>
                      <a:srgbClr val="0D366B"/>
                    </a:solidFill>
                  </a:tcPr>
                </a:tc>
                <a:tc>
                  <a:txBody>
                    <a:bodyPr wrap="square"/>
                    <a:lstStyle/>
                    <a:p>
                      <a:pPr algn="ctr"/>
                      <a:r>
                        <a:rPr sz="1700" b="1">
                          <a:solidFill>
                            <a:srgbClr val="FFFFFF"/>
                          </a:solidFill>
                          <a:latin typeface="Calibri"/>
                        </a:rPr>
                        <a:t>Research question</a:t>
                      </a:r>
                    </a:p>
                  </a:txBody>
                  <a:tcPr marL="73152" marR="73152" anchor="ctr">
                    <a:solidFill>
                      <a:srgbClr val="0D366B"/>
                    </a:solidFill>
                  </a:tcPr>
                </a:tc>
                <a:tc>
                  <a:txBody>
                    <a:bodyPr wrap="square"/>
                    <a:lstStyle/>
                    <a:p>
                      <a:pPr algn="ctr"/>
                      <a:r>
                        <a:rPr sz="1700" b="1">
                          <a:solidFill>
                            <a:srgbClr val="FFFFFF"/>
                          </a:solidFill>
                          <a:latin typeface="Calibri"/>
                        </a:rPr>
                        <a:t>Answered by</a:t>
                      </a:r>
                    </a:p>
                  </a:txBody>
                  <a:tcPr marL="73152" marR="73152" anchor="ctr">
                    <a:solidFill>
                      <a:srgbClr val="0D366B"/>
                    </a:solidFill>
                  </a:tcPr>
                </a:tc>
              </a:tr>
              <a:tr h="1024128">
                <a:tc>
                  <a:txBody>
                    <a:bodyPr wrap="square"/>
                    <a:lstStyle/>
                    <a:p>
                      <a:pPr algn="l"/>
                      <a:r>
                        <a:rPr sz="1700" b="1">
                          <a:solidFill>
                            <a:srgbClr val="111111"/>
                          </a:solidFill>
                          <a:latin typeface="Calibri"/>
                        </a:rPr>
                        <a:t>O1 / RQ1</a:t>
                      </a:r>
                    </a:p>
                  </a:txBody>
                  <a:tcPr marL="73152" marR="73152" anchor="ctr">
                    <a:solidFill>
                      <a:srgbClr val="FFFFFF"/>
                    </a:solidFill>
                  </a:tcPr>
                </a:tc>
                <a:tc>
                  <a:txBody>
                    <a:bodyPr wrap="square"/>
                    <a:lstStyle/>
                    <a:p>
                      <a:pPr algn="ctr"/>
                      <a:r>
                        <a:rPr sz="1700" b="0">
                          <a:solidFill>
                            <a:srgbClr val="111111"/>
                          </a:solidFill>
                          <a:latin typeface="Calibri"/>
                        </a:rPr>
                        <a:t>Which academic, technical, professional and experiential factors are associated with time-to-employment?</a:t>
                      </a:r>
                    </a:p>
                  </a:txBody>
                  <a:tcPr marL="73152" marR="73152" anchor="ctr">
                    <a:solidFill>
                      <a:srgbClr val="FFFFFF"/>
                    </a:solidFill>
                  </a:tcPr>
                </a:tc>
                <a:tc>
                  <a:txBody>
                    <a:bodyPr wrap="square"/>
                    <a:lstStyle/>
                    <a:p>
                      <a:pPr algn="ctr"/>
                      <a:r>
                        <a:rPr sz="1700" b="0">
                          <a:solidFill>
                            <a:srgbClr val="111111"/>
                          </a:solidFill>
                          <a:latin typeface="Calibri"/>
                        </a:rPr>
                        <a:t>Kaplan-Meier, log-rank, Cox / AFT time ratios</a:t>
                      </a:r>
                    </a:p>
                  </a:txBody>
                  <a:tcPr marL="73152" marR="73152" anchor="ctr">
                    <a:solidFill>
                      <a:srgbClr val="FFFFFF"/>
                    </a:solidFill>
                  </a:tcPr>
                </a:tc>
              </a:tr>
              <a:tr h="1024128">
                <a:tc>
                  <a:txBody>
                    <a:bodyPr wrap="square"/>
                    <a:lstStyle/>
                    <a:p>
                      <a:pPr algn="l"/>
                      <a:r>
                        <a:rPr sz="1700" b="1">
                          <a:solidFill>
                            <a:srgbClr val="111111"/>
                          </a:solidFill>
                          <a:latin typeface="Calibri"/>
                        </a:rPr>
                        <a:t>O2 / RQ2</a:t>
                      </a:r>
                    </a:p>
                  </a:txBody>
                  <a:tcPr marL="73152" marR="73152" anchor="ctr">
                    <a:solidFill>
                      <a:srgbClr val="EEF3FA"/>
                    </a:solidFill>
                  </a:tcPr>
                </a:tc>
                <a:tc>
                  <a:txBody>
                    <a:bodyPr wrap="square"/>
                    <a:lstStyle/>
                    <a:p>
                      <a:pPr algn="ctr"/>
                      <a:r>
                        <a:rPr sz="1700" b="0">
                          <a:solidFill>
                            <a:srgbClr val="111111"/>
                          </a:solidFill>
                          <a:latin typeface="Calibri"/>
                        </a:rPr>
                        <a:t>How well do graduate profiles align with employer requirements and job-market demand?</a:t>
                      </a:r>
                    </a:p>
                  </a:txBody>
                  <a:tcPr marL="73152" marR="73152" anchor="ctr">
                    <a:solidFill>
                      <a:srgbClr val="EEF3FA"/>
                    </a:solidFill>
                  </a:tcPr>
                </a:tc>
                <a:tc>
                  <a:txBody>
                    <a:bodyPr wrap="square"/>
                    <a:lstStyle/>
                    <a:p>
                      <a:pPr algn="ctr"/>
                      <a:r>
                        <a:rPr sz="1700" b="0">
                          <a:solidFill>
                            <a:srgbClr val="111111"/>
                          </a:solidFill>
                          <a:latin typeface="Calibri"/>
                        </a:rPr>
                        <a:t>Graduate vs employer ratings, 324 job ads</a:t>
                      </a:r>
                    </a:p>
                  </a:txBody>
                  <a:tcPr marL="73152" marR="73152" anchor="ctr">
                    <a:solidFill>
                      <a:srgbClr val="EEF3FA"/>
                    </a:solidFill>
                  </a:tcPr>
                </a:tc>
              </a:tr>
              <a:tr h="1024128">
                <a:tc>
                  <a:txBody>
                    <a:bodyPr wrap="square"/>
                    <a:lstStyle/>
                    <a:p>
                      <a:pPr algn="l"/>
                      <a:r>
                        <a:rPr sz="1700" b="1">
                          <a:solidFill>
                            <a:srgbClr val="111111"/>
                          </a:solidFill>
                          <a:latin typeface="Calibri"/>
                        </a:rPr>
                        <a:t>O3 / RQ3</a:t>
                      </a:r>
                    </a:p>
                  </a:txBody>
                  <a:tcPr marL="73152" marR="73152" anchor="ctr">
                    <a:solidFill>
                      <a:srgbClr val="FFFFFF"/>
                    </a:solidFill>
                  </a:tcPr>
                </a:tc>
                <a:tc>
                  <a:txBody>
                    <a:bodyPr wrap="square"/>
                    <a:lstStyle/>
                    <a:p>
                      <a:pPr algn="ctr"/>
                      <a:r>
                        <a:rPr sz="1700" b="0">
                          <a:solidFill>
                            <a:srgbClr val="111111"/>
                          </a:solidFill>
                          <a:latin typeface="Calibri"/>
                        </a:rPr>
                        <a:t>How accurately can a survival framework predict time-to-employment, and how do linear, regularised, parametric and nonlinear models compare?</a:t>
                      </a:r>
                    </a:p>
                  </a:txBody>
                  <a:tcPr marL="73152" marR="73152" anchor="ctr">
                    <a:solidFill>
                      <a:srgbClr val="FFFFFF"/>
                    </a:solidFill>
                  </a:tcPr>
                </a:tc>
                <a:tc>
                  <a:txBody>
                    <a:bodyPr wrap="square"/>
                    <a:lstStyle/>
                    <a:p>
                      <a:pPr algn="ctr"/>
                      <a:r>
                        <a:rPr sz="1700" b="0">
                          <a:solidFill>
                            <a:srgbClr val="111111"/>
                          </a:solidFill>
                          <a:latin typeface="Calibri"/>
                        </a:rPr>
                        <a:t>7 models, locked test set, calibration, fairness</a:t>
                      </a:r>
                    </a:p>
                  </a:txBody>
                  <a:tcPr marL="73152" marR="73152" anchor="ctr">
                    <a:solidFill>
                      <a:srgbClr val="FFFFFF"/>
                    </a:solidFill>
                  </a:tcPr>
                </a:tc>
              </a:tr>
              <a:tr h="1024128">
                <a:tc>
                  <a:txBody>
                    <a:bodyPr wrap="square"/>
                    <a:lstStyle/>
                    <a:p>
                      <a:pPr algn="l"/>
                      <a:r>
                        <a:rPr sz="1700" b="1">
                          <a:solidFill>
                            <a:srgbClr val="111111"/>
                          </a:solidFill>
                          <a:latin typeface="Calibri"/>
                        </a:rPr>
                        <a:t>O4 / RQ4</a:t>
                      </a:r>
                    </a:p>
                  </a:txBody>
                  <a:tcPr marL="73152" marR="73152" anchor="ctr">
                    <a:solidFill>
                      <a:srgbClr val="EEF3FA"/>
                    </a:solidFill>
                  </a:tcPr>
                </a:tc>
                <a:tc>
                  <a:txBody>
                    <a:bodyPr wrap="square"/>
                    <a:lstStyle/>
                    <a:p>
                      <a:pPr algn="ctr"/>
                      <a:r>
                        <a:rPr sz="1700" b="0">
                          <a:solidFill>
                            <a:srgbClr val="111111"/>
                          </a:solidFill>
                          <a:latin typeface="Calibri"/>
                        </a:rPr>
                        <a:t>Does the prototype give accurate, explainable, actionable guidance (usability and a benchmark against a general LLM)?</a:t>
                      </a:r>
                    </a:p>
                  </a:txBody>
                  <a:tcPr marL="73152" marR="73152" anchor="ctr">
                    <a:solidFill>
                      <a:srgbClr val="EEF3FA"/>
                    </a:solidFill>
                  </a:tcPr>
                </a:tc>
                <a:tc>
                  <a:txBody>
                    <a:bodyPr wrap="square"/>
                    <a:lstStyle/>
                    <a:p>
                      <a:pPr algn="ctr"/>
                      <a:r>
                        <a:rPr sz="1700" b="0">
                          <a:solidFill>
                            <a:srgbClr val="111111"/>
                          </a:solidFill>
                          <a:latin typeface="Calibri"/>
                        </a:rPr>
                        <a:t>SUS with 12 users, ChatGPT benchmark</a:t>
                      </a:r>
                    </a:p>
                  </a:txBody>
                  <a:tcPr marL="73152" marR="73152" anchor="ctr">
                    <a:solidFill>
                      <a:srgbClr val="EEF3F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Research design at a glance</a:t>
            </a:r>
          </a:p>
        </p:txBody>
      </p:sp>
      <p:sp>
        <p:nvSpPr>
          <p:cNvPr id="5" name="Rounded Rectangle 4"/>
          <p:cNvSpPr/>
          <p:nvPr/>
        </p:nvSpPr>
        <p:spPr>
          <a:xfrm>
            <a:off x="10241280" y="292608"/>
            <a:ext cx="1691640" cy="347472"/>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METHOD</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7</a:t>
            </a:r>
          </a:p>
        </p:txBody>
      </p:sp>
      <p:sp>
        <p:nvSpPr>
          <p:cNvPr id="9" name="Rounded Rectangle 8"/>
          <p:cNvSpPr/>
          <p:nvPr/>
        </p:nvSpPr>
        <p:spPr>
          <a:xfrm>
            <a:off x="502920" y="1371600"/>
            <a:ext cx="2697480" cy="1828800"/>
          </a:xfrm>
          <a:prstGeom prst="roundRect">
            <a:avLst>
              <a:gd name="adj" fmla="val 10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 y="150876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411480" cy="411480"/>
          </a:xfrm>
          <a:prstGeom prst="rect">
            <a:avLst/>
          </a:prstGeom>
          <a:noFill/>
        </p:spPr>
        <p:txBody>
          <a:bodyPr wrap="square" anchor="ctr" lIns="45720" rIns="45720" tIns="18288" bIns="18288">
            <a:spAutoFit/>
          </a:bodyPr>
          <a:lstStyle/>
          <a:p>
            <a:pPr algn="ctr"/>
            <a:r>
              <a:rPr sz="1600" b="1" i="0">
                <a:solidFill>
                  <a:srgbClr val="FFFFFF"/>
                </a:solidFill>
                <a:latin typeface="Calibri"/>
              </a:rPr>
              <a:t>1</a:t>
            </a:r>
          </a:p>
        </p:txBody>
      </p:sp>
      <p:sp>
        <p:nvSpPr>
          <p:cNvPr id="12" name="TextBox 11"/>
          <p:cNvSpPr txBox="1"/>
          <p:nvPr/>
        </p:nvSpPr>
        <p:spPr>
          <a:xfrm>
            <a:off x="1143000" y="1481328"/>
            <a:ext cx="2011680" cy="502920"/>
          </a:xfrm>
          <a:prstGeom prst="rect">
            <a:avLst/>
          </a:prstGeom>
          <a:noFill/>
        </p:spPr>
        <p:txBody>
          <a:bodyPr wrap="square" anchor="ctr" lIns="45720" rIns="45720" tIns="18288" bIns="18288">
            <a:spAutoFit/>
          </a:bodyPr>
          <a:lstStyle/>
          <a:p>
            <a:pPr algn="l"/>
            <a:r>
              <a:rPr sz="1800" b="1" i="0">
                <a:solidFill>
                  <a:srgbClr val="111111"/>
                </a:solidFill>
                <a:latin typeface="Calibri"/>
              </a:rPr>
              <a:t>Collect</a:t>
            </a:r>
          </a:p>
        </p:txBody>
      </p:sp>
      <p:sp>
        <p:nvSpPr>
          <p:cNvPr id="13" name="TextBox 12"/>
          <p:cNvSpPr txBox="1"/>
          <p:nvPr/>
        </p:nvSpPr>
        <p:spPr>
          <a:xfrm>
            <a:off x="667512" y="2194560"/>
            <a:ext cx="2377440" cy="914400"/>
          </a:xfrm>
          <a:prstGeom prst="rect">
            <a:avLst/>
          </a:prstGeom>
          <a:noFill/>
        </p:spPr>
        <p:txBody>
          <a:bodyPr wrap="square" anchor="t" lIns="45720" rIns="45720" tIns="18288" bIns="18288">
            <a:spAutoFit/>
          </a:bodyPr>
          <a:lstStyle/>
          <a:p>
            <a:pPr algn="l"/>
            <a:r>
              <a:rPr sz="1600" b="0" i="0">
                <a:solidFill>
                  <a:srgbClr val="55565A"/>
                </a:solidFill>
                <a:latin typeface="Calibri"/>
              </a:rPr>
              <a:t>graduates, employers, job ads</a:t>
            </a:r>
          </a:p>
        </p:txBody>
      </p:sp>
      <p:sp>
        <p:nvSpPr>
          <p:cNvPr id="14" name="Rounded Rectangle 13"/>
          <p:cNvSpPr/>
          <p:nvPr/>
        </p:nvSpPr>
        <p:spPr>
          <a:xfrm>
            <a:off x="3337560" y="1371600"/>
            <a:ext cx="2697480" cy="1828800"/>
          </a:xfrm>
          <a:prstGeom prst="roundRect">
            <a:avLst>
              <a:gd name="adj" fmla="val 10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74720" y="150876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1508760"/>
            <a:ext cx="411480" cy="411480"/>
          </a:xfrm>
          <a:prstGeom prst="rect">
            <a:avLst/>
          </a:prstGeom>
          <a:noFill/>
        </p:spPr>
        <p:txBody>
          <a:bodyPr wrap="square" anchor="ctr" lIns="45720" rIns="45720" tIns="18288" bIns="18288">
            <a:spAutoFit/>
          </a:bodyPr>
          <a:lstStyle/>
          <a:p>
            <a:pPr algn="ctr"/>
            <a:r>
              <a:rPr sz="1600" b="1" i="0">
                <a:solidFill>
                  <a:srgbClr val="FFFFFF"/>
                </a:solidFill>
                <a:latin typeface="Calibri"/>
              </a:rPr>
              <a:t>2</a:t>
            </a:r>
          </a:p>
        </p:txBody>
      </p:sp>
      <p:sp>
        <p:nvSpPr>
          <p:cNvPr id="17" name="TextBox 16"/>
          <p:cNvSpPr txBox="1"/>
          <p:nvPr/>
        </p:nvSpPr>
        <p:spPr>
          <a:xfrm>
            <a:off x="3977640" y="1481328"/>
            <a:ext cx="2011680" cy="502920"/>
          </a:xfrm>
          <a:prstGeom prst="rect">
            <a:avLst/>
          </a:prstGeom>
          <a:noFill/>
        </p:spPr>
        <p:txBody>
          <a:bodyPr wrap="square" anchor="ctr" lIns="45720" rIns="45720" tIns="18288" bIns="18288">
            <a:spAutoFit/>
          </a:bodyPr>
          <a:lstStyle/>
          <a:p>
            <a:pPr algn="l"/>
            <a:r>
              <a:rPr sz="1800" b="1" i="0">
                <a:solidFill>
                  <a:srgbClr val="111111"/>
                </a:solidFill>
                <a:latin typeface="Calibri"/>
              </a:rPr>
              <a:t>Clean &amp; audit</a:t>
            </a:r>
          </a:p>
        </p:txBody>
      </p:sp>
      <p:sp>
        <p:nvSpPr>
          <p:cNvPr id="18" name="TextBox 17"/>
          <p:cNvSpPr txBox="1"/>
          <p:nvPr/>
        </p:nvSpPr>
        <p:spPr>
          <a:xfrm>
            <a:off x="3502152" y="2194560"/>
            <a:ext cx="2377440" cy="914400"/>
          </a:xfrm>
          <a:prstGeom prst="rect">
            <a:avLst/>
          </a:prstGeom>
          <a:noFill/>
        </p:spPr>
        <p:txBody>
          <a:bodyPr wrap="square" anchor="t" lIns="45720" rIns="45720" tIns="18288" bIns="18288">
            <a:spAutoFit/>
          </a:bodyPr>
          <a:lstStyle/>
          <a:p>
            <a:pPr algn="l"/>
            <a:r>
              <a:rPr sz="1600" b="0" i="0">
                <a:solidFill>
                  <a:srgbClr val="55565A"/>
                </a:solidFill>
                <a:latin typeface="Calibri"/>
              </a:rPr>
              <a:t>rules fixed, every removal logged</a:t>
            </a:r>
          </a:p>
        </p:txBody>
      </p:sp>
      <p:sp>
        <p:nvSpPr>
          <p:cNvPr id="19" name="Rounded Rectangle 18"/>
          <p:cNvSpPr/>
          <p:nvPr/>
        </p:nvSpPr>
        <p:spPr>
          <a:xfrm>
            <a:off x="6172200" y="1371600"/>
            <a:ext cx="2697480" cy="1828800"/>
          </a:xfrm>
          <a:prstGeom prst="roundRect">
            <a:avLst>
              <a:gd name="adj" fmla="val 10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09360" y="150876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1508760"/>
            <a:ext cx="411480" cy="411480"/>
          </a:xfrm>
          <a:prstGeom prst="rect">
            <a:avLst/>
          </a:prstGeom>
          <a:noFill/>
        </p:spPr>
        <p:txBody>
          <a:bodyPr wrap="square" anchor="ctr" lIns="45720" rIns="45720" tIns="18288" bIns="18288">
            <a:spAutoFit/>
          </a:bodyPr>
          <a:lstStyle/>
          <a:p>
            <a:pPr algn="ctr"/>
            <a:r>
              <a:rPr sz="1600" b="1" i="0">
                <a:solidFill>
                  <a:srgbClr val="FFFFFF"/>
                </a:solidFill>
                <a:latin typeface="Calibri"/>
              </a:rPr>
              <a:t>3</a:t>
            </a:r>
          </a:p>
        </p:txBody>
      </p:sp>
      <p:sp>
        <p:nvSpPr>
          <p:cNvPr id="22" name="TextBox 21"/>
          <p:cNvSpPr txBox="1"/>
          <p:nvPr/>
        </p:nvSpPr>
        <p:spPr>
          <a:xfrm>
            <a:off x="6812280" y="1481328"/>
            <a:ext cx="2011680" cy="502920"/>
          </a:xfrm>
          <a:prstGeom prst="rect">
            <a:avLst/>
          </a:prstGeom>
          <a:noFill/>
        </p:spPr>
        <p:txBody>
          <a:bodyPr wrap="square" anchor="ctr" lIns="45720" rIns="45720" tIns="18288" bIns="18288">
            <a:spAutoFit/>
          </a:bodyPr>
          <a:lstStyle/>
          <a:p>
            <a:pPr algn="l"/>
            <a:r>
              <a:rPr sz="1800" b="1" i="0">
                <a:solidFill>
                  <a:srgbClr val="111111"/>
                </a:solidFill>
                <a:latin typeface="Calibri"/>
              </a:rPr>
              <a:t>Split once</a:t>
            </a:r>
          </a:p>
        </p:txBody>
      </p:sp>
      <p:sp>
        <p:nvSpPr>
          <p:cNvPr id="23" name="TextBox 22"/>
          <p:cNvSpPr txBox="1"/>
          <p:nvPr/>
        </p:nvSpPr>
        <p:spPr>
          <a:xfrm>
            <a:off x="6336792" y="2194560"/>
            <a:ext cx="2377440" cy="914400"/>
          </a:xfrm>
          <a:prstGeom prst="rect">
            <a:avLst/>
          </a:prstGeom>
          <a:noFill/>
        </p:spPr>
        <p:txBody>
          <a:bodyPr wrap="square" anchor="t" lIns="45720" rIns="45720" tIns="18288" bIns="18288">
            <a:spAutoFit/>
          </a:bodyPr>
          <a:lstStyle/>
          <a:p>
            <a:pPr algn="l"/>
            <a:r>
              <a:rPr sz="1600" b="0" i="0">
                <a:solidFill>
                  <a:srgbClr val="55565A"/>
                </a:solidFill>
                <a:latin typeface="Calibri"/>
              </a:rPr>
              <a:t>70 / 15 / 15, stratified</a:t>
            </a:r>
          </a:p>
        </p:txBody>
      </p:sp>
      <p:sp>
        <p:nvSpPr>
          <p:cNvPr id="24" name="Rounded Rectangle 23"/>
          <p:cNvSpPr/>
          <p:nvPr/>
        </p:nvSpPr>
        <p:spPr>
          <a:xfrm>
            <a:off x="9006840" y="1371600"/>
            <a:ext cx="2697480" cy="1828800"/>
          </a:xfrm>
          <a:prstGeom prst="roundRect">
            <a:avLst>
              <a:gd name="adj" fmla="val 10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4000" y="150876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508760"/>
            <a:ext cx="411480" cy="411480"/>
          </a:xfrm>
          <a:prstGeom prst="rect">
            <a:avLst/>
          </a:prstGeom>
          <a:noFill/>
        </p:spPr>
        <p:txBody>
          <a:bodyPr wrap="square" anchor="ctr" lIns="45720" rIns="45720" tIns="18288" bIns="18288">
            <a:spAutoFit/>
          </a:bodyPr>
          <a:lstStyle/>
          <a:p>
            <a:pPr algn="ctr"/>
            <a:r>
              <a:rPr sz="1600" b="1" i="0">
                <a:solidFill>
                  <a:srgbClr val="FFFFFF"/>
                </a:solidFill>
                <a:latin typeface="Calibri"/>
              </a:rPr>
              <a:t>4</a:t>
            </a:r>
          </a:p>
        </p:txBody>
      </p:sp>
      <p:sp>
        <p:nvSpPr>
          <p:cNvPr id="27" name="TextBox 26"/>
          <p:cNvSpPr txBox="1"/>
          <p:nvPr/>
        </p:nvSpPr>
        <p:spPr>
          <a:xfrm>
            <a:off x="9646920" y="1481328"/>
            <a:ext cx="2011680" cy="502920"/>
          </a:xfrm>
          <a:prstGeom prst="rect">
            <a:avLst/>
          </a:prstGeom>
          <a:noFill/>
        </p:spPr>
        <p:txBody>
          <a:bodyPr wrap="square" anchor="ctr" lIns="45720" rIns="45720" tIns="18288" bIns="18288">
            <a:spAutoFit/>
          </a:bodyPr>
          <a:lstStyle/>
          <a:p>
            <a:pPr algn="l"/>
            <a:r>
              <a:rPr sz="1800" b="1" i="0">
                <a:solidFill>
                  <a:srgbClr val="111111"/>
                </a:solidFill>
                <a:latin typeface="Calibri"/>
              </a:rPr>
              <a:t>Fit 7 models</a:t>
            </a:r>
          </a:p>
        </p:txBody>
      </p:sp>
      <p:sp>
        <p:nvSpPr>
          <p:cNvPr id="28" name="TextBox 27"/>
          <p:cNvSpPr txBox="1"/>
          <p:nvPr/>
        </p:nvSpPr>
        <p:spPr>
          <a:xfrm>
            <a:off x="9171432" y="2194560"/>
            <a:ext cx="2377440" cy="914400"/>
          </a:xfrm>
          <a:prstGeom prst="rect">
            <a:avLst/>
          </a:prstGeom>
          <a:noFill/>
        </p:spPr>
        <p:txBody>
          <a:bodyPr wrap="square" anchor="t" lIns="45720" rIns="45720" tIns="18288" bIns="18288">
            <a:spAutoFit/>
          </a:bodyPr>
          <a:lstStyle/>
          <a:p>
            <a:pPr algn="l"/>
            <a:r>
              <a:rPr sz="1600" b="0" i="0">
                <a:solidFill>
                  <a:srgbClr val="55565A"/>
                </a:solidFill>
                <a:latin typeface="Calibri"/>
              </a:rPr>
              <a:t>on training only</a:t>
            </a:r>
          </a:p>
        </p:txBody>
      </p:sp>
      <p:sp>
        <p:nvSpPr>
          <p:cNvPr id="29" name="Rounded Rectangle 28"/>
          <p:cNvSpPr/>
          <p:nvPr/>
        </p:nvSpPr>
        <p:spPr>
          <a:xfrm>
            <a:off x="502920" y="3566160"/>
            <a:ext cx="2697480" cy="1828800"/>
          </a:xfrm>
          <a:prstGeom prst="roundRect">
            <a:avLst>
              <a:gd name="adj" fmla="val 10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0080" y="370332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3703320"/>
            <a:ext cx="411480" cy="411480"/>
          </a:xfrm>
          <a:prstGeom prst="rect">
            <a:avLst/>
          </a:prstGeom>
          <a:noFill/>
        </p:spPr>
        <p:txBody>
          <a:bodyPr wrap="square" anchor="ctr" lIns="45720" rIns="45720" tIns="18288" bIns="18288">
            <a:spAutoFit/>
          </a:bodyPr>
          <a:lstStyle/>
          <a:p>
            <a:pPr algn="ctr"/>
            <a:r>
              <a:rPr sz="1600" b="1" i="0">
                <a:solidFill>
                  <a:srgbClr val="FFFFFF"/>
                </a:solidFill>
                <a:latin typeface="Calibri"/>
              </a:rPr>
              <a:t>5</a:t>
            </a:r>
          </a:p>
        </p:txBody>
      </p:sp>
      <p:sp>
        <p:nvSpPr>
          <p:cNvPr id="32" name="TextBox 31"/>
          <p:cNvSpPr txBox="1"/>
          <p:nvPr/>
        </p:nvSpPr>
        <p:spPr>
          <a:xfrm>
            <a:off x="1143000" y="3675888"/>
            <a:ext cx="2011680" cy="502920"/>
          </a:xfrm>
          <a:prstGeom prst="rect">
            <a:avLst/>
          </a:prstGeom>
          <a:noFill/>
        </p:spPr>
        <p:txBody>
          <a:bodyPr wrap="square" anchor="ctr" lIns="45720" rIns="45720" tIns="18288" bIns="18288">
            <a:spAutoFit/>
          </a:bodyPr>
          <a:lstStyle/>
          <a:p>
            <a:pPr algn="l"/>
            <a:r>
              <a:rPr sz="1800" b="1" i="0">
                <a:solidFill>
                  <a:srgbClr val="111111"/>
                </a:solidFill>
                <a:latin typeface="Calibri"/>
              </a:rPr>
              <a:t>Select</a:t>
            </a:r>
          </a:p>
        </p:txBody>
      </p:sp>
      <p:sp>
        <p:nvSpPr>
          <p:cNvPr id="33" name="TextBox 32"/>
          <p:cNvSpPr txBox="1"/>
          <p:nvPr/>
        </p:nvSpPr>
        <p:spPr>
          <a:xfrm>
            <a:off x="667512" y="4389120"/>
            <a:ext cx="2377440" cy="914400"/>
          </a:xfrm>
          <a:prstGeom prst="rect">
            <a:avLst/>
          </a:prstGeom>
          <a:noFill/>
        </p:spPr>
        <p:txBody>
          <a:bodyPr wrap="square" anchor="t" lIns="45720" rIns="45720" tIns="18288" bIns="18288">
            <a:spAutoFit/>
          </a:bodyPr>
          <a:lstStyle/>
          <a:p>
            <a:pPr algn="l"/>
            <a:r>
              <a:rPr sz="1600" b="0" i="0">
                <a:solidFill>
                  <a:srgbClr val="55565A"/>
                </a:solidFill>
                <a:latin typeface="Calibri"/>
              </a:rPr>
              <a:t>pre-set rule on validation</a:t>
            </a:r>
          </a:p>
        </p:txBody>
      </p:sp>
      <p:sp>
        <p:nvSpPr>
          <p:cNvPr id="34" name="Rounded Rectangle 33"/>
          <p:cNvSpPr/>
          <p:nvPr/>
        </p:nvSpPr>
        <p:spPr>
          <a:xfrm>
            <a:off x="3337560" y="3566160"/>
            <a:ext cx="2697480" cy="1828800"/>
          </a:xfrm>
          <a:prstGeom prst="roundRect">
            <a:avLst>
              <a:gd name="adj" fmla="val 10000"/>
            </a:avLst>
          </a:prstGeom>
          <a:solidFill>
            <a:srgbClr val="FDEEE6"/>
          </a:solidFill>
          <a:ln w="1270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474720" y="3703320"/>
            <a:ext cx="411480" cy="4114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74720" y="3703320"/>
            <a:ext cx="411480" cy="411480"/>
          </a:xfrm>
          <a:prstGeom prst="rect">
            <a:avLst/>
          </a:prstGeom>
          <a:noFill/>
        </p:spPr>
        <p:txBody>
          <a:bodyPr wrap="square" anchor="ctr" lIns="45720" rIns="45720" tIns="18288" bIns="18288">
            <a:spAutoFit/>
          </a:bodyPr>
          <a:lstStyle/>
          <a:p>
            <a:pPr algn="ctr"/>
            <a:r>
              <a:rPr sz="1600" b="1" i="0">
                <a:solidFill>
                  <a:srgbClr val="FFFFFF"/>
                </a:solidFill>
                <a:latin typeface="Calibri"/>
              </a:rPr>
              <a:t>6</a:t>
            </a:r>
          </a:p>
        </p:txBody>
      </p:sp>
      <p:sp>
        <p:nvSpPr>
          <p:cNvPr id="37" name="TextBox 36"/>
          <p:cNvSpPr txBox="1"/>
          <p:nvPr/>
        </p:nvSpPr>
        <p:spPr>
          <a:xfrm>
            <a:off x="3977640" y="3675888"/>
            <a:ext cx="2011680" cy="502920"/>
          </a:xfrm>
          <a:prstGeom prst="rect">
            <a:avLst/>
          </a:prstGeom>
          <a:noFill/>
        </p:spPr>
        <p:txBody>
          <a:bodyPr wrap="square" anchor="ctr" lIns="45720" rIns="45720" tIns="18288" bIns="18288">
            <a:spAutoFit/>
          </a:bodyPr>
          <a:lstStyle/>
          <a:p>
            <a:pPr algn="l"/>
            <a:r>
              <a:rPr sz="1800" b="1" i="0">
                <a:solidFill>
                  <a:srgbClr val="111111"/>
                </a:solidFill>
                <a:latin typeface="Calibri"/>
              </a:rPr>
              <a:t>Test once</a:t>
            </a:r>
          </a:p>
        </p:txBody>
      </p:sp>
      <p:sp>
        <p:nvSpPr>
          <p:cNvPr id="38" name="TextBox 37"/>
          <p:cNvSpPr txBox="1"/>
          <p:nvPr/>
        </p:nvSpPr>
        <p:spPr>
          <a:xfrm>
            <a:off x="3502152" y="4389120"/>
            <a:ext cx="2377440" cy="914400"/>
          </a:xfrm>
          <a:prstGeom prst="rect">
            <a:avLst/>
          </a:prstGeom>
          <a:noFill/>
        </p:spPr>
        <p:txBody>
          <a:bodyPr wrap="square" anchor="t" lIns="45720" rIns="45720" tIns="18288" bIns="18288">
            <a:spAutoFit/>
          </a:bodyPr>
          <a:lstStyle/>
          <a:p>
            <a:pPr algn="l"/>
            <a:r>
              <a:rPr sz="1600" b="0" i="0">
                <a:solidFill>
                  <a:srgbClr val="55565A"/>
                </a:solidFill>
                <a:latin typeface="Calibri"/>
              </a:rPr>
              <a:t>locked, never re-tuned</a:t>
            </a:r>
          </a:p>
        </p:txBody>
      </p:sp>
      <p:sp>
        <p:nvSpPr>
          <p:cNvPr id="39" name="Rounded Rectangle 38"/>
          <p:cNvSpPr/>
          <p:nvPr/>
        </p:nvSpPr>
        <p:spPr>
          <a:xfrm>
            <a:off x="6172200" y="3566160"/>
            <a:ext cx="2697480" cy="1828800"/>
          </a:xfrm>
          <a:prstGeom prst="roundRect">
            <a:avLst>
              <a:gd name="adj" fmla="val 10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309360" y="370332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9360" y="3703320"/>
            <a:ext cx="411480" cy="411480"/>
          </a:xfrm>
          <a:prstGeom prst="rect">
            <a:avLst/>
          </a:prstGeom>
          <a:noFill/>
        </p:spPr>
        <p:txBody>
          <a:bodyPr wrap="square" anchor="ctr" lIns="45720" rIns="45720" tIns="18288" bIns="18288">
            <a:spAutoFit/>
          </a:bodyPr>
          <a:lstStyle/>
          <a:p>
            <a:pPr algn="ctr"/>
            <a:r>
              <a:rPr sz="1600" b="1" i="0">
                <a:solidFill>
                  <a:srgbClr val="FFFFFF"/>
                </a:solidFill>
                <a:latin typeface="Calibri"/>
              </a:rPr>
              <a:t>7</a:t>
            </a:r>
          </a:p>
        </p:txBody>
      </p:sp>
      <p:sp>
        <p:nvSpPr>
          <p:cNvPr id="42" name="TextBox 41"/>
          <p:cNvSpPr txBox="1"/>
          <p:nvPr/>
        </p:nvSpPr>
        <p:spPr>
          <a:xfrm>
            <a:off x="6812280" y="3675888"/>
            <a:ext cx="2011680" cy="502920"/>
          </a:xfrm>
          <a:prstGeom prst="rect">
            <a:avLst/>
          </a:prstGeom>
          <a:noFill/>
        </p:spPr>
        <p:txBody>
          <a:bodyPr wrap="square" anchor="ctr" lIns="45720" rIns="45720" tIns="18288" bIns="18288">
            <a:spAutoFit/>
          </a:bodyPr>
          <a:lstStyle/>
          <a:p>
            <a:pPr algn="l"/>
            <a:r>
              <a:rPr sz="1800" b="1" i="0">
                <a:solidFill>
                  <a:srgbClr val="111111"/>
                </a:solidFill>
                <a:latin typeface="Calibri"/>
              </a:rPr>
              <a:t>Explain</a:t>
            </a:r>
          </a:p>
        </p:txBody>
      </p:sp>
      <p:sp>
        <p:nvSpPr>
          <p:cNvPr id="43" name="TextBox 42"/>
          <p:cNvSpPr txBox="1"/>
          <p:nvPr/>
        </p:nvSpPr>
        <p:spPr>
          <a:xfrm>
            <a:off x="6336792" y="4389120"/>
            <a:ext cx="2377440" cy="914400"/>
          </a:xfrm>
          <a:prstGeom prst="rect">
            <a:avLst/>
          </a:prstGeom>
          <a:noFill/>
        </p:spPr>
        <p:txBody>
          <a:bodyPr wrap="square" anchor="t" lIns="45720" rIns="45720" tIns="18288" bIns="18288">
            <a:spAutoFit/>
          </a:bodyPr>
          <a:lstStyle/>
          <a:p>
            <a:pPr algn="l"/>
            <a:r>
              <a:rPr sz="1600" b="0" i="0">
                <a:solidFill>
                  <a:srgbClr val="55565A"/>
                </a:solidFill>
                <a:latin typeface="Calibri"/>
              </a:rPr>
              <a:t>time ratios, what-ifs</a:t>
            </a:r>
          </a:p>
        </p:txBody>
      </p:sp>
      <p:sp>
        <p:nvSpPr>
          <p:cNvPr id="44" name="Rounded Rectangle 43"/>
          <p:cNvSpPr/>
          <p:nvPr/>
        </p:nvSpPr>
        <p:spPr>
          <a:xfrm>
            <a:off x="9006840" y="3566160"/>
            <a:ext cx="2697480" cy="1828800"/>
          </a:xfrm>
          <a:prstGeom prst="roundRect">
            <a:avLst>
              <a:gd name="adj" fmla="val 10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144000" y="370332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0" y="3703320"/>
            <a:ext cx="411480" cy="411480"/>
          </a:xfrm>
          <a:prstGeom prst="rect">
            <a:avLst/>
          </a:prstGeom>
          <a:noFill/>
        </p:spPr>
        <p:txBody>
          <a:bodyPr wrap="square" anchor="ctr" lIns="45720" rIns="45720" tIns="18288" bIns="18288">
            <a:spAutoFit/>
          </a:bodyPr>
          <a:lstStyle/>
          <a:p>
            <a:pPr algn="ctr"/>
            <a:r>
              <a:rPr sz="1600" b="1" i="0">
                <a:solidFill>
                  <a:srgbClr val="FFFFFF"/>
                </a:solidFill>
                <a:latin typeface="Calibri"/>
              </a:rPr>
              <a:t>8</a:t>
            </a:r>
          </a:p>
        </p:txBody>
      </p:sp>
      <p:sp>
        <p:nvSpPr>
          <p:cNvPr id="47" name="TextBox 46"/>
          <p:cNvSpPr txBox="1"/>
          <p:nvPr/>
        </p:nvSpPr>
        <p:spPr>
          <a:xfrm>
            <a:off x="9646920" y="3675888"/>
            <a:ext cx="2011680" cy="502920"/>
          </a:xfrm>
          <a:prstGeom prst="rect">
            <a:avLst/>
          </a:prstGeom>
          <a:noFill/>
        </p:spPr>
        <p:txBody>
          <a:bodyPr wrap="square" anchor="ctr" lIns="45720" rIns="45720" tIns="18288" bIns="18288">
            <a:spAutoFit/>
          </a:bodyPr>
          <a:lstStyle/>
          <a:p>
            <a:pPr algn="l"/>
            <a:r>
              <a:rPr sz="1800" b="1" i="0">
                <a:solidFill>
                  <a:srgbClr val="111111"/>
                </a:solidFill>
                <a:latin typeface="Calibri"/>
              </a:rPr>
              <a:t>Deploy</a:t>
            </a:r>
          </a:p>
        </p:txBody>
      </p:sp>
      <p:sp>
        <p:nvSpPr>
          <p:cNvPr id="48" name="TextBox 47"/>
          <p:cNvSpPr txBox="1"/>
          <p:nvPr/>
        </p:nvSpPr>
        <p:spPr>
          <a:xfrm>
            <a:off x="9171432" y="4389120"/>
            <a:ext cx="2377440" cy="914400"/>
          </a:xfrm>
          <a:prstGeom prst="rect">
            <a:avLst/>
          </a:prstGeom>
          <a:noFill/>
        </p:spPr>
        <p:txBody>
          <a:bodyPr wrap="square" anchor="t" lIns="45720" rIns="45720" tIns="18288" bIns="18288">
            <a:spAutoFit/>
          </a:bodyPr>
          <a:lstStyle/>
          <a:p>
            <a:pPr algn="l"/>
            <a:r>
              <a:rPr sz="1600" b="0" i="0">
                <a:solidFill>
                  <a:srgbClr val="55565A"/>
                </a:solidFill>
                <a:latin typeface="Calibri"/>
              </a:rPr>
              <a:t>app + API, nothing stored</a:t>
            </a:r>
          </a:p>
        </p:txBody>
      </p:sp>
      <p:sp>
        <p:nvSpPr>
          <p:cNvPr id="49" name="TextBox 48"/>
          <p:cNvSpPr txBox="1"/>
          <p:nvPr/>
        </p:nvSpPr>
        <p:spPr>
          <a:xfrm>
            <a:off x="548640" y="5852160"/>
            <a:ext cx="11064240" cy="548640"/>
          </a:xfrm>
          <a:prstGeom prst="rect">
            <a:avLst/>
          </a:prstGeom>
          <a:noFill/>
        </p:spPr>
        <p:txBody>
          <a:bodyPr wrap="square">
            <a:spAutoFit/>
          </a:bodyPr>
          <a:lstStyle/>
          <a:p>
            <a:pPr>
              <a:spcAft>
                <a:spcPts val="400"/>
              </a:spcAft>
            </a:pPr>
            <a:r>
              <a:rPr sz="1800">
                <a:solidFill>
                  <a:srgbClr val="2A78D6"/>
                </a:solidFill>
                <a:latin typeface="Calibri"/>
              </a:rPr>
              <a:t>▪  </a:t>
            </a:r>
            <a:r>
              <a:rPr sz="1800" b="1">
                <a:solidFill>
                  <a:srgbClr val="111111"/>
                </a:solidFill>
                <a:latin typeface="Calibri"/>
              </a:rPr>
              <a:t>Pragmatist philosophy, deductive and quantitative</a:t>
            </a:r>
            <a:r>
              <a:rPr sz="1800" b="0">
                <a:solidFill>
                  <a:srgbClr val="111111"/>
                </a:solidFill>
                <a:latin typeface="Calibri"/>
              </a:rPr>
              <a:t>; the plan, metric and selection rule were fixed before analysis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Data: three sources, triangulated</a:t>
            </a:r>
          </a:p>
        </p:txBody>
      </p:sp>
      <p:sp>
        <p:nvSpPr>
          <p:cNvPr id="5" name="Rounded Rectangle 4"/>
          <p:cNvSpPr/>
          <p:nvPr/>
        </p:nvSpPr>
        <p:spPr>
          <a:xfrm>
            <a:off x="10241280" y="292608"/>
            <a:ext cx="1691640" cy="347472"/>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METHOD</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8</a:t>
            </a:r>
          </a:p>
        </p:txBody>
      </p:sp>
      <p:sp>
        <p:nvSpPr>
          <p:cNvPr id="9" name="Rounded Rectangle 8"/>
          <p:cNvSpPr/>
          <p:nvPr/>
        </p:nvSpPr>
        <p:spPr>
          <a:xfrm>
            <a:off x="548640" y="1280160"/>
            <a:ext cx="3566160" cy="192024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389888"/>
            <a:ext cx="45720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3566160" cy="685800"/>
          </a:xfrm>
          <a:prstGeom prst="rect">
            <a:avLst/>
          </a:prstGeom>
          <a:noFill/>
        </p:spPr>
        <p:txBody>
          <a:bodyPr wrap="square" anchor="ctr" lIns="45720" rIns="45720" tIns="18288" bIns="18288">
            <a:spAutoFit/>
          </a:bodyPr>
          <a:lstStyle/>
          <a:p>
            <a:pPr algn="ctr"/>
            <a:r>
              <a:rPr sz="3400" b="1" i="0">
                <a:solidFill>
                  <a:srgbClr val="2A78D6"/>
                </a:solidFill>
                <a:latin typeface="Calibri"/>
              </a:rPr>
              <a:t>1,175</a:t>
            </a:r>
          </a:p>
        </p:txBody>
      </p:sp>
      <p:sp>
        <p:nvSpPr>
          <p:cNvPr id="12" name="TextBox 11"/>
          <p:cNvSpPr txBox="1"/>
          <p:nvPr/>
        </p:nvSpPr>
        <p:spPr>
          <a:xfrm>
            <a:off x="658368" y="2148840"/>
            <a:ext cx="3346704" cy="1005840"/>
          </a:xfrm>
          <a:prstGeom prst="rect">
            <a:avLst/>
          </a:prstGeom>
          <a:noFill/>
        </p:spPr>
        <p:txBody>
          <a:bodyPr wrap="square" anchor="t" lIns="45720" rIns="45720" tIns="18288" bIns="18288">
            <a:spAutoFit/>
          </a:bodyPr>
          <a:lstStyle/>
          <a:p>
            <a:pPr algn="ctr"/>
            <a:r>
              <a:rPr sz="1400" b="0" i="0">
                <a:solidFill>
                  <a:srgbClr val="111111"/>
                </a:solidFill>
                <a:latin typeface="Calibri"/>
              </a:rPr>
              <a:t>graduate responses (47 items): outcome + profile + 26 skill ratings</a:t>
            </a:r>
          </a:p>
        </p:txBody>
      </p:sp>
      <p:sp>
        <p:nvSpPr>
          <p:cNvPr id="13" name="Rounded Rectangle 12"/>
          <p:cNvSpPr/>
          <p:nvPr/>
        </p:nvSpPr>
        <p:spPr>
          <a:xfrm>
            <a:off x="4297680" y="1280160"/>
            <a:ext cx="3566160" cy="192024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1389888"/>
            <a:ext cx="457200" cy="54864"/>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1463040"/>
            <a:ext cx="3566160" cy="685800"/>
          </a:xfrm>
          <a:prstGeom prst="rect">
            <a:avLst/>
          </a:prstGeom>
          <a:noFill/>
        </p:spPr>
        <p:txBody>
          <a:bodyPr wrap="square" anchor="ctr" lIns="45720" rIns="45720" tIns="18288" bIns="18288">
            <a:spAutoFit/>
          </a:bodyPr>
          <a:lstStyle/>
          <a:p>
            <a:pPr algn="ctr"/>
            <a:r>
              <a:rPr sz="3400" b="1" i="0">
                <a:solidFill>
                  <a:srgbClr val="1BAF7A"/>
                </a:solidFill>
                <a:latin typeface="Calibri"/>
              </a:rPr>
              <a:t>245</a:t>
            </a:r>
          </a:p>
        </p:txBody>
      </p:sp>
      <p:sp>
        <p:nvSpPr>
          <p:cNvPr id="16" name="TextBox 15"/>
          <p:cNvSpPr txBox="1"/>
          <p:nvPr/>
        </p:nvSpPr>
        <p:spPr>
          <a:xfrm>
            <a:off x="4407408" y="2148840"/>
            <a:ext cx="3346704" cy="1005840"/>
          </a:xfrm>
          <a:prstGeom prst="rect">
            <a:avLst/>
          </a:prstGeom>
          <a:noFill/>
        </p:spPr>
        <p:txBody>
          <a:bodyPr wrap="square" anchor="t" lIns="45720" rIns="45720" tIns="18288" bIns="18288">
            <a:spAutoFit/>
          </a:bodyPr>
          <a:lstStyle/>
          <a:p>
            <a:pPr algn="ctr"/>
            <a:r>
              <a:rPr sz="1400" b="0" i="0">
                <a:solidFill>
                  <a:srgbClr val="111111"/>
                </a:solidFill>
                <a:latin typeface="Calibri"/>
              </a:rPr>
              <a:t>employer responses (21 items): importance of skills and hiring factors</a:t>
            </a:r>
          </a:p>
        </p:txBody>
      </p:sp>
      <p:sp>
        <p:nvSpPr>
          <p:cNvPr id="17" name="Rounded Rectangle 16"/>
          <p:cNvSpPr/>
          <p:nvPr/>
        </p:nvSpPr>
        <p:spPr>
          <a:xfrm>
            <a:off x="8046720" y="1280160"/>
            <a:ext cx="3566160" cy="192024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20" y="1389888"/>
            <a:ext cx="457200" cy="54864"/>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0" y="1463040"/>
            <a:ext cx="3566160" cy="685800"/>
          </a:xfrm>
          <a:prstGeom prst="rect">
            <a:avLst/>
          </a:prstGeom>
          <a:noFill/>
        </p:spPr>
        <p:txBody>
          <a:bodyPr wrap="square" anchor="ctr" lIns="45720" rIns="45720" tIns="18288" bIns="18288">
            <a:spAutoFit/>
          </a:bodyPr>
          <a:lstStyle/>
          <a:p>
            <a:pPr algn="ctr"/>
            <a:r>
              <a:rPr sz="3400" b="1" i="0">
                <a:solidFill>
                  <a:srgbClr val="EB6834"/>
                </a:solidFill>
                <a:latin typeface="Calibri"/>
              </a:rPr>
              <a:t>324</a:t>
            </a:r>
          </a:p>
        </p:txBody>
      </p:sp>
      <p:sp>
        <p:nvSpPr>
          <p:cNvPr id="20" name="TextBox 19"/>
          <p:cNvSpPr txBox="1"/>
          <p:nvPr/>
        </p:nvSpPr>
        <p:spPr>
          <a:xfrm>
            <a:off x="8156448" y="2148840"/>
            <a:ext cx="3346704" cy="1005840"/>
          </a:xfrm>
          <a:prstGeom prst="rect">
            <a:avLst/>
          </a:prstGeom>
          <a:noFill/>
        </p:spPr>
        <p:txBody>
          <a:bodyPr wrap="square" anchor="t" lIns="45720" rIns="45720" tIns="18288" bIns="18288">
            <a:spAutoFit/>
          </a:bodyPr>
          <a:lstStyle/>
          <a:p>
            <a:pPr algn="ctr"/>
            <a:r>
              <a:rPr sz="1400" b="0" i="0">
                <a:solidFill>
                  <a:srgbClr val="111111"/>
                </a:solidFill>
                <a:latin typeface="Calibri"/>
              </a:rPr>
              <a:t>real entry-level IT job ads from 211 employers (12 Jul - 11 Oct 2026)</a:t>
            </a:r>
          </a:p>
        </p:txBody>
      </p:sp>
      <p:sp>
        <p:nvSpPr>
          <p:cNvPr id="21" name="TextBox 20"/>
          <p:cNvSpPr txBox="1"/>
          <p:nvPr/>
        </p:nvSpPr>
        <p:spPr>
          <a:xfrm>
            <a:off x="548640" y="3520440"/>
            <a:ext cx="11064240" cy="2926080"/>
          </a:xfrm>
          <a:prstGeom prst="rect">
            <a:avLst/>
          </a:prstGeom>
          <a:noFill/>
        </p:spPr>
        <p:txBody>
          <a:bodyPr wrap="square">
            <a:spAutoFit/>
          </a:bodyPr>
          <a:lstStyle/>
          <a:p>
            <a:pPr>
              <a:spcAft>
                <a:spcPts val="900"/>
              </a:spcAft>
            </a:pPr>
            <a:r>
              <a:rPr sz="2000">
                <a:solidFill>
                  <a:srgbClr val="2A78D6"/>
                </a:solidFill>
                <a:latin typeface="Calibri"/>
              </a:rPr>
              <a:t>▪  </a:t>
            </a:r>
            <a:r>
              <a:rPr sz="2000" b="1">
                <a:solidFill>
                  <a:srgbClr val="111111"/>
                </a:solidFill>
                <a:latin typeface="Calibri"/>
              </a:rPr>
              <a:t>Primary + secondary</a:t>
            </a:r>
            <a:r>
              <a:rPr sz="2000" b="0">
                <a:solidFill>
                  <a:srgbClr val="111111"/>
                </a:solidFill>
                <a:latin typeface="Calibri"/>
              </a:rPr>
              <a:t>: questionnaires (Google Forms) plus real job advertisements</a:t>
            </a:r>
          </a:p>
          <a:p>
            <a:pPr>
              <a:spcAft>
                <a:spcPts val="900"/>
              </a:spcAft>
            </a:pPr>
            <a:r>
              <a:rPr sz="2000">
                <a:solidFill>
                  <a:srgbClr val="2A78D6"/>
                </a:solidFill>
                <a:latin typeface="Calibri"/>
              </a:rPr>
              <a:t>▪  </a:t>
            </a:r>
            <a:r>
              <a:rPr sz="2000" b="1">
                <a:solidFill>
                  <a:srgbClr val="111111"/>
                </a:solidFill>
                <a:latin typeface="Calibri"/>
              </a:rPr>
              <a:t>Sampling</a:t>
            </a:r>
            <a:r>
              <a:rPr sz="2000" b="0">
                <a:solidFill>
                  <a:srgbClr val="111111"/>
                </a:solidFill>
                <a:latin typeface="Calibri"/>
              </a:rPr>
              <a:t>: purposive, convenience and snowball: non-probability, because no sampling frame of IT graduates exists</a:t>
            </a:r>
          </a:p>
          <a:p>
            <a:pPr>
              <a:spcAft>
                <a:spcPts val="900"/>
              </a:spcAft>
            </a:pPr>
            <a:r>
              <a:rPr sz="2000">
                <a:solidFill>
                  <a:srgbClr val="2A78D6"/>
                </a:solidFill>
                <a:latin typeface="Calibri"/>
              </a:rPr>
              <a:t>▪  </a:t>
            </a:r>
            <a:r>
              <a:rPr sz="2000" b="1">
                <a:solidFill>
                  <a:srgbClr val="111111"/>
                </a:solidFill>
                <a:latin typeface="Calibri"/>
              </a:rPr>
              <a:t>Sample size</a:t>
            </a:r>
            <a:r>
              <a:rPr sz="2000" b="0">
                <a:solidFill>
                  <a:srgbClr val="111111"/>
                </a:solidFill>
                <a:latin typeface="Calibri"/>
              </a:rPr>
              <a:t>: Cochran's formula n = Z²p(1-p)/e² = 384 (95%, ±5%, p = 0.5) → target about 400; collected 1,175</a:t>
            </a:r>
          </a:p>
          <a:p>
            <a:pPr>
              <a:spcAft>
                <a:spcPts val="900"/>
              </a:spcAft>
            </a:pPr>
            <a:r>
              <a:rPr sz="2000">
                <a:solidFill>
                  <a:srgbClr val="2A78D6"/>
                </a:solidFill>
                <a:latin typeface="Calibri"/>
              </a:rPr>
              <a:t>▪  </a:t>
            </a:r>
            <a:r>
              <a:rPr sz="2000" b="1">
                <a:solidFill>
                  <a:srgbClr val="111111"/>
                </a:solidFill>
                <a:latin typeface="Calibri"/>
              </a:rPr>
              <a:t>Ethics</a:t>
            </a:r>
            <a:r>
              <a:rPr sz="2000" b="0">
                <a:solidFill>
                  <a:srgbClr val="111111"/>
                </a:solidFill>
                <a:latin typeface="Calibri"/>
              </a:rPr>
              <a:t>: ethical approval before collection; consent on every response; no names or contacts; Sri Lanka PDPA 2022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Instrument quality: validity and reliability</a:t>
            </a:r>
          </a:p>
        </p:txBody>
      </p:sp>
      <p:sp>
        <p:nvSpPr>
          <p:cNvPr id="5" name="Rounded Rectangle 4"/>
          <p:cNvSpPr/>
          <p:nvPr/>
        </p:nvSpPr>
        <p:spPr>
          <a:xfrm>
            <a:off x="10241280" y="292608"/>
            <a:ext cx="1691640" cy="347472"/>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METHOD</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9</a:t>
            </a:r>
          </a:p>
        </p:txBody>
      </p:sp>
      <p:sp>
        <p:nvSpPr>
          <p:cNvPr id="9" name="Rounded Rectangle 8"/>
          <p:cNvSpPr/>
          <p:nvPr/>
        </p:nvSpPr>
        <p:spPr>
          <a:xfrm>
            <a:off x="548640" y="1280160"/>
            <a:ext cx="2651760" cy="17830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389888"/>
            <a:ext cx="45720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651760" cy="685800"/>
          </a:xfrm>
          <a:prstGeom prst="rect">
            <a:avLst/>
          </a:prstGeom>
          <a:noFill/>
        </p:spPr>
        <p:txBody>
          <a:bodyPr wrap="square" anchor="ctr" lIns="45720" rIns="45720" tIns="18288" bIns="18288">
            <a:spAutoFit/>
          </a:bodyPr>
          <a:lstStyle/>
          <a:p>
            <a:pPr algn="ctr"/>
            <a:r>
              <a:rPr sz="3400" b="1" i="0">
                <a:solidFill>
                  <a:srgbClr val="2A78D6"/>
                </a:solidFill>
                <a:latin typeface="Calibri"/>
              </a:rPr>
              <a:t>α 0.925</a:t>
            </a:r>
          </a:p>
        </p:txBody>
      </p:sp>
      <p:sp>
        <p:nvSpPr>
          <p:cNvPr id="12" name="TextBox 11"/>
          <p:cNvSpPr txBox="1"/>
          <p:nvPr/>
        </p:nvSpPr>
        <p:spPr>
          <a:xfrm>
            <a:off x="658368" y="2148840"/>
            <a:ext cx="2432304" cy="868680"/>
          </a:xfrm>
          <a:prstGeom prst="rect">
            <a:avLst/>
          </a:prstGeom>
          <a:noFill/>
        </p:spPr>
        <p:txBody>
          <a:bodyPr wrap="square" anchor="t" lIns="45720" rIns="45720" tIns="18288" bIns="18288">
            <a:spAutoFit/>
          </a:bodyPr>
          <a:lstStyle/>
          <a:p>
            <a:pPr algn="ctr"/>
            <a:r>
              <a:rPr sz="1400" b="0" i="0">
                <a:solidFill>
                  <a:srgbClr val="111111"/>
                </a:solidFill>
                <a:latin typeface="Calibri"/>
              </a:rPr>
              <a:t>technical skills (17 items), 95% CI 0.916-0.933</a:t>
            </a:r>
          </a:p>
        </p:txBody>
      </p:sp>
      <p:sp>
        <p:nvSpPr>
          <p:cNvPr id="13" name="Rounded Rectangle 12"/>
          <p:cNvSpPr/>
          <p:nvPr/>
        </p:nvSpPr>
        <p:spPr>
          <a:xfrm>
            <a:off x="3337560" y="1280160"/>
            <a:ext cx="2651760" cy="17830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66160" y="1389888"/>
            <a:ext cx="457200" cy="54864"/>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1463040"/>
            <a:ext cx="2651760" cy="685800"/>
          </a:xfrm>
          <a:prstGeom prst="rect">
            <a:avLst/>
          </a:prstGeom>
          <a:noFill/>
        </p:spPr>
        <p:txBody>
          <a:bodyPr wrap="square" anchor="ctr" lIns="45720" rIns="45720" tIns="18288" bIns="18288">
            <a:spAutoFit/>
          </a:bodyPr>
          <a:lstStyle/>
          <a:p>
            <a:pPr algn="ctr"/>
            <a:r>
              <a:rPr sz="3400" b="1" i="0">
                <a:solidFill>
                  <a:srgbClr val="1BAF7A"/>
                </a:solidFill>
                <a:latin typeface="Calibri"/>
              </a:rPr>
              <a:t>α 0.902</a:t>
            </a:r>
          </a:p>
        </p:txBody>
      </p:sp>
      <p:sp>
        <p:nvSpPr>
          <p:cNvPr id="16" name="TextBox 15"/>
          <p:cNvSpPr txBox="1"/>
          <p:nvPr/>
        </p:nvSpPr>
        <p:spPr>
          <a:xfrm>
            <a:off x="3447288" y="2148840"/>
            <a:ext cx="2432304" cy="868680"/>
          </a:xfrm>
          <a:prstGeom prst="rect">
            <a:avLst/>
          </a:prstGeom>
          <a:noFill/>
        </p:spPr>
        <p:txBody>
          <a:bodyPr wrap="square" anchor="t" lIns="45720" rIns="45720" tIns="18288" bIns="18288">
            <a:spAutoFit/>
          </a:bodyPr>
          <a:lstStyle/>
          <a:p>
            <a:pPr algn="ctr"/>
            <a:r>
              <a:rPr sz="1400" b="0" i="0">
                <a:solidFill>
                  <a:srgbClr val="111111"/>
                </a:solidFill>
                <a:latin typeface="Calibri"/>
              </a:rPr>
              <a:t>soft skills (9 items), 95% CI 0.890-0.913</a:t>
            </a:r>
          </a:p>
        </p:txBody>
      </p:sp>
      <p:sp>
        <p:nvSpPr>
          <p:cNvPr id="17" name="Rounded Rectangle 16"/>
          <p:cNvSpPr/>
          <p:nvPr/>
        </p:nvSpPr>
        <p:spPr>
          <a:xfrm>
            <a:off x="6126480" y="1280160"/>
            <a:ext cx="2651760" cy="17830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5080" y="1389888"/>
            <a:ext cx="457200" cy="54864"/>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1463040"/>
            <a:ext cx="2651760" cy="685800"/>
          </a:xfrm>
          <a:prstGeom prst="rect">
            <a:avLst/>
          </a:prstGeom>
          <a:noFill/>
        </p:spPr>
        <p:txBody>
          <a:bodyPr wrap="square" anchor="ctr" lIns="45720" rIns="45720" tIns="18288" bIns="18288">
            <a:spAutoFit/>
          </a:bodyPr>
          <a:lstStyle/>
          <a:p>
            <a:pPr algn="ctr"/>
            <a:r>
              <a:rPr sz="3400" b="1" i="0">
                <a:solidFill>
                  <a:srgbClr val="1C5CAB"/>
                </a:solidFill>
                <a:latin typeface="Calibri"/>
              </a:rPr>
              <a:t>KMO 0.95</a:t>
            </a:r>
          </a:p>
        </p:txBody>
      </p:sp>
      <p:sp>
        <p:nvSpPr>
          <p:cNvPr id="20" name="TextBox 19"/>
          <p:cNvSpPr txBox="1"/>
          <p:nvPr/>
        </p:nvSpPr>
        <p:spPr>
          <a:xfrm>
            <a:off x="6236208" y="2148840"/>
            <a:ext cx="2432304" cy="868680"/>
          </a:xfrm>
          <a:prstGeom prst="rect">
            <a:avLst/>
          </a:prstGeom>
          <a:noFill/>
        </p:spPr>
        <p:txBody>
          <a:bodyPr wrap="square" anchor="t" lIns="45720" rIns="45720" tIns="18288" bIns="18288">
            <a:spAutoFit/>
          </a:bodyPr>
          <a:lstStyle/>
          <a:p>
            <a:pPr algn="ctr"/>
            <a:r>
              <a:rPr sz="1400" b="0" i="0">
                <a:solidFill>
                  <a:srgbClr val="111111"/>
                </a:solidFill>
                <a:latin typeface="Calibri"/>
              </a:rPr>
              <a:t>sampling adequacy of both skill blocks</a:t>
            </a:r>
          </a:p>
        </p:txBody>
      </p:sp>
      <p:sp>
        <p:nvSpPr>
          <p:cNvPr id="21" name="Rounded Rectangle 20"/>
          <p:cNvSpPr/>
          <p:nvPr/>
        </p:nvSpPr>
        <p:spPr>
          <a:xfrm>
            <a:off x="8915400" y="1280160"/>
            <a:ext cx="2697480" cy="17830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1389888"/>
            <a:ext cx="457200" cy="54864"/>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400" y="1463040"/>
            <a:ext cx="2697480" cy="685800"/>
          </a:xfrm>
          <a:prstGeom prst="rect">
            <a:avLst/>
          </a:prstGeom>
          <a:noFill/>
        </p:spPr>
        <p:txBody>
          <a:bodyPr wrap="square" anchor="ctr" lIns="45720" rIns="45720" tIns="18288" bIns="18288">
            <a:spAutoFit/>
          </a:bodyPr>
          <a:lstStyle/>
          <a:p>
            <a:pPr algn="ctr"/>
            <a:r>
              <a:rPr sz="3400" b="1" i="0">
                <a:solidFill>
                  <a:srgbClr val="EB6834"/>
                </a:solidFill>
                <a:latin typeface="Calibri"/>
              </a:rPr>
              <a:t>HTMT 0.68</a:t>
            </a:r>
          </a:p>
        </p:txBody>
      </p:sp>
      <p:sp>
        <p:nvSpPr>
          <p:cNvPr id="24" name="TextBox 23"/>
          <p:cNvSpPr txBox="1"/>
          <p:nvPr/>
        </p:nvSpPr>
        <p:spPr>
          <a:xfrm>
            <a:off x="9025128" y="2148840"/>
            <a:ext cx="2478024" cy="868680"/>
          </a:xfrm>
          <a:prstGeom prst="rect">
            <a:avLst/>
          </a:prstGeom>
          <a:noFill/>
        </p:spPr>
        <p:txBody>
          <a:bodyPr wrap="square" anchor="t" lIns="45720" rIns="45720" tIns="18288" bIns="18288">
            <a:spAutoFit/>
          </a:bodyPr>
          <a:lstStyle/>
          <a:p>
            <a:pPr algn="ctr"/>
            <a:r>
              <a:rPr sz="1400" b="0" i="0">
                <a:solidFill>
                  <a:srgbClr val="111111"/>
                </a:solidFill>
                <a:latin typeface="Calibri"/>
              </a:rPr>
              <a:t>below 0.85: technical and soft skills are distinct</a:t>
            </a:r>
          </a:p>
        </p:txBody>
      </p:sp>
      <p:sp>
        <p:nvSpPr>
          <p:cNvPr id="25" name="TextBox 24"/>
          <p:cNvSpPr txBox="1"/>
          <p:nvPr/>
        </p:nvSpPr>
        <p:spPr>
          <a:xfrm>
            <a:off x="548640" y="3383280"/>
            <a:ext cx="11064240" cy="3017520"/>
          </a:xfrm>
          <a:prstGeom prst="rect">
            <a:avLst/>
          </a:prstGeom>
          <a:noFill/>
        </p:spPr>
        <p:txBody>
          <a:bodyPr wrap="square">
            <a:spAutoFit/>
          </a:bodyPr>
          <a:lstStyle/>
          <a:p>
            <a:pPr>
              <a:spcAft>
                <a:spcPts val="900"/>
              </a:spcAft>
            </a:pPr>
            <a:r>
              <a:rPr sz="2000">
                <a:solidFill>
                  <a:srgbClr val="2A78D6"/>
                </a:solidFill>
                <a:latin typeface="Calibri"/>
              </a:rPr>
              <a:t>▪  </a:t>
            </a:r>
            <a:r>
              <a:rPr sz="2000" b="1">
                <a:solidFill>
                  <a:srgbClr val="111111"/>
                </a:solidFill>
                <a:latin typeface="Calibri"/>
              </a:rPr>
              <a:t>Content validity</a:t>
            </a:r>
            <a:r>
              <a:rPr sz="2000" b="0">
                <a:solidFill>
                  <a:srgbClr val="111111"/>
                </a:solidFill>
                <a:latin typeface="Calibri"/>
              </a:rPr>
              <a:t>: 6 experts (2 lecturers, 1 survival-analysis researcher, 3 practitioners) + a per-item evidence matrix</a:t>
            </a:r>
          </a:p>
          <a:p>
            <a:pPr>
              <a:spcAft>
                <a:spcPts val="900"/>
              </a:spcAft>
            </a:pPr>
            <a:r>
              <a:rPr sz="2000">
                <a:solidFill>
                  <a:srgbClr val="2A78D6"/>
                </a:solidFill>
                <a:latin typeface="Calibri"/>
              </a:rPr>
              <a:t>▪  </a:t>
            </a:r>
            <a:r>
              <a:rPr sz="2000" b="1">
                <a:solidFill>
                  <a:srgbClr val="111111"/>
                </a:solidFill>
                <a:latin typeface="Calibri"/>
              </a:rPr>
              <a:t>Pilot</a:t>
            </a:r>
            <a:r>
              <a:rPr sz="2000" b="0">
                <a:solidFill>
                  <a:srgbClr val="111111"/>
                </a:solidFill>
                <a:latin typeface="Calibri"/>
              </a:rPr>
              <a:t>: 21 graduates and 9 employers, run before the main survey</a:t>
            </a:r>
          </a:p>
          <a:p>
            <a:pPr>
              <a:spcAft>
                <a:spcPts val="900"/>
              </a:spcAft>
            </a:pPr>
            <a:r>
              <a:rPr sz="2000">
                <a:solidFill>
                  <a:srgbClr val="2A78D6"/>
                </a:solidFill>
                <a:latin typeface="Calibri"/>
              </a:rPr>
              <a:t>▪  </a:t>
            </a:r>
            <a:r>
              <a:rPr sz="2000" b="1">
                <a:solidFill>
                  <a:srgbClr val="111111"/>
                </a:solidFill>
                <a:latin typeface="Calibri"/>
              </a:rPr>
              <a:t>Construct validity</a:t>
            </a:r>
            <a:r>
              <a:rPr sz="2000" b="0">
                <a:solidFill>
                  <a:srgbClr val="111111"/>
                </a:solidFill>
                <a:latin typeface="Calibri"/>
              </a:rPr>
              <a:t>: factor analysis (parallel analysis), AVE, Fornell-Larcker, HTMT</a:t>
            </a:r>
          </a:p>
          <a:p>
            <a:pPr>
              <a:spcAft>
                <a:spcPts val="900"/>
              </a:spcAft>
            </a:pPr>
            <a:r>
              <a:rPr sz="2000">
                <a:solidFill>
                  <a:srgbClr val="2A78D6"/>
                </a:solidFill>
                <a:latin typeface="Calibri"/>
              </a:rPr>
              <a:t>▪  </a:t>
            </a:r>
            <a:r>
              <a:rPr sz="2000" b="1">
                <a:solidFill>
                  <a:srgbClr val="111111"/>
                </a:solidFill>
                <a:latin typeface="Calibri"/>
              </a:rPr>
              <a:t>Reliability</a:t>
            </a:r>
            <a:r>
              <a:rPr sz="2000" b="0">
                <a:solidFill>
                  <a:srgbClr val="111111"/>
                </a:solidFill>
                <a:latin typeface="Calibri"/>
              </a:rPr>
              <a:t>: Cronbach's alpha with Feldt CIs, and omega; attention-check item Q18 removed 24 careless responses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From 1,175 responses to 885 modelled graduates</a:t>
            </a:r>
          </a:p>
        </p:txBody>
      </p:sp>
      <p:sp>
        <p:nvSpPr>
          <p:cNvPr id="5" name="Rounded Rectangle 4"/>
          <p:cNvSpPr/>
          <p:nvPr/>
        </p:nvSpPr>
        <p:spPr>
          <a:xfrm>
            <a:off x="10241280" y="292608"/>
            <a:ext cx="1691640" cy="347472"/>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METHOD</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10</a:t>
            </a:r>
          </a:p>
        </p:txBody>
      </p:sp>
      <p:sp>
        <p:nvSpPr>
          <p:cNvPr id="9" name="Rectangle 8"/>
          <p:cNvSpPr/>
          <p:nvPr/>
        </p:nvSpPr>
        <p:spPr>
          <a:xfrm>
            <a:off x="548640" y="1280160"/>
            <a:ext cx="7223760" cy="82296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80160"/>
            <a:ext cx="1645920" cy="822960"/>
          </a:xfrm>
          <a:prstGeom prst="rect">
            <a:avLst/>
          </a:prstGeom>
          <a:noFill/>
        </p:spPr>
        <p:txBody>
          <a:bodyPr wrap="square" anchor="ctr" lIns="45720" rIns="45720" tIns="18288" bIns="18288">
            <a:spAutoFit/>
          </a:bodyPr>
          <a:lstStyle/>
          <a:p>
            <a:pPr algn="l"/>
            <a:r>
              <a:rPr sz="2800" b="1" i="0">
                <a:solidFill>
                  <a:srgbClr val="FFFFFF"/>
                </a:solidFill>
                <a:latin typeface="Calibri"/>
              </a:rPr>
              <a:t>1,175</a:t>
            </a:r>
          </a:p>
        </p:txBody>
      </p:sp>
      <p:sp>
        <p:nvSpPr>
          <p:cNvPr id="11" name="TextBox 10"/>
          <p:cNvSpPr txBox="1"/>
          <p:nvPr/>
        </p:nvSpPr>
        <p:spPr>
          <a:xfrm>
            <a:off x="7909560" y="1280160"/>
            <a:ext cx="4754880" cy="822960"/>
          </a:xfrm>
          <a:prstGeom prst="rect">
            <a:avLst/>
          </a:prstGeom>
          <a:noFill/>
        </p:spPr>
        <p:txBody>
          <a:bodyPr wrap="square" anchor="ctr" lIns="45720" rIns="45720" tIns="18288" bIns="18288">
            <a:spAutoFit/>
          </a:bodyPr>
          <a:lstStyle/>
          <a:p>
            <a:pPr algn="l"/>
            <a:r>
              <a:rPr sz="1400" b="0" i="0">
                <a:solidFill>
                  <a:srgbClr val="111111"/>
                </a:solidFill>
                <a:latin typeface="Calibri"/>
              </a:rPr>
              <a:t>raw responses</a:t>
            </a:r>
          </a:p>
        </p:txBody>
      </p:sp>
      <p:sp>
        <p:nvSpPr>
          <p:cNvPr id="12" name="Rectangle 11"/>
          <p:cNvSpPr/>
          <p:nvPr/>
        </p:nvSpPr>
        <p:spPr>
          <a:xfrm>
            <a:off x="548640" y="2304288"/>
            <a:ext cx="7062514" cy="82296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04288"/>
            <a:ext cx="1645920" cy="822960"/>
          </a:xfrm>
          <a:prstGeom prst="rect">
            <a:avLst/>
          </a:prstGeom>
          <a:noFill/>
        </p:spPr>
        <p:txBody>
          <a:bodyPr wrap="square" anchor="ctr" lIns="45720" rIns="45720" tIns="18288" bIns="18288">
            <a:spAutoFit/>
          </a:bodyPr>
          <a:lstStyle/>
          <a:p>
            <a:pPr algn="l"/>
            <a:r>
              <a:rPr sz="2800" b="1" i="0">
                <a:solidFill>
                  <a:srgbClr val="FFFFFF"/>
                </a:solidFill>
                <a:latin typeface="Calibri"/>
              </a:rPr>
              <a:t>1,147</a:t>
            </a:r>
          </a:p>
        </p:txBody>
      </p:sp>
      <p:sp>
        <p:nvSpPr>
          <p:cNvPr id="14" name="TextBox 13"/>
          <p:cNvSpPr txBox="1"/>
          <p:nvPr/>
        </p:nvSpPr>
        <p:spPr>
          <a:xfrm>
            <a:off x="7748314" y="2304288"/>
            <a:ext cx="4754880" cy="822960"/>
          </a:xfrm>
          <a:prstGeom prst="rect">
            <a:avLst/>
          </a:prstGeom>
          <a:noFill/>
        </p:spPr>
        <p:txBody>
          <a:bodyPr wrap="square" anchor="ctr" lIns="45720" rIns="45720" tIns="18288" bIns="18288">
            <a:spAutoFit/>
          </a:bodyPr>
          <a:lstStyle/>
          <a:p>
            <a:pPr algn="l"/>
            <a:r>
              <a:rPr sz="1400" b="0" i="0">
                <a:solidFill>
                  <a:srgbClr val="111111"/>
                </a:solidFill>
                <a:latin typeface="Calibri"/>
              </a:rPr>
              <a:t>after quality checks</a:t>
            </a:r>
          </a:p>
          <a:p>
            <a:pPr algn="l"/>
            <a:r>
              <a:rPr sz="1400" b="0" i="0">
                <a:solidFill>
                  <a:srgbClr val="111111"/>
                </a:solidFill>
                <a:latin typeface="Calibri"/>
              </a:rPr>
              <a:t>(−4 duplicates, −24 failed attention check)</a:t>
            </a:r>
          </a:p>
        </p:txBody>
      </p:sp>
      <p:sp>
        <p:nvSpPr>
          <p:cNvPr id="15" name="Rectangle 14"/>
          <p:cNvSpPr/>
          <p:nvPr/>
        </p:nvSpPr>
        <p:spPr>
          <a:xfrm>
            <a:off x="548640" y="3328416"/>
            <a:ext cx="5737996" cy="8229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328416"/>
            <a:ext cx="1645920" cy="822960"/>
          </a:xfrm>
          <a:prstGeom prst="rect">
            <a:avLst/>
          </a:prstGeom>
          <a:noFill/>
        </p:spPr>
        <p:txBody>
          <a:bodyPr wrap="square" anchor="ctr" lIns="45720" rIns="45720" tIns="18288" bIns="18288">
            <a:spAutoFit/>
          </a:bodyPr>
          <a:lstStyle/>
          <a:p>
            <a:pPr algn="l"/>
            <a:r>
              <a:rPr sz="2800" b="1" i="0">
                <a:solidFill>
                  <a:srgbClr val="FFFFFF"/>
                </a:solidFill>
                <a:latin typeface="Calibri"/>
              </a:rPr>
              <a:t>917</a:t>
            </a:r>
          </a:p>
        </p:txBody>
      </p:sp>
      <p:sp>
        <p:nvSpPr>
          <p:cNvPr id="17" name="TextBox 16"/>
          <p:cNvSpPr txBox="1"/>
          <p:nvPr/>
        </p:nvSpPr>
        <p:spPr>
          <a:xfrm>
            <a:off x="6423796" y="3328416"/>
            <a:ext cx="4754880" cy="822960"/>
          </a:xfrm>
          <a:prstGeom prst="rect">
            <a:avLst/>
          </a:prstGeom>
          <a:noFill/>
        </p:spPr>
        <p:txBody>
          <a:bodyPr wrap="square" anchor="ctr" lIns="45720" rIns="45720" tIns="18288" bIns="18288">
            <a:spAutoFit/>
          </a:bodyPr>
          <a:lstStyle/>
          <a:p>
            <a:pPr algn="l"/>
            <a:r>
              <a:rPr sz="1400" b="0" i="0">
                <a:solidFill>
                  <a:srgbClr val="111111"/>
                </a:solidFill>
                <a:latin typeface="Calibri"/>
              </a:rPr>
              <a:t>after setting aside</a:t>
            </a:r>
          </a:p>
          <a:p>
            <a:pPr algn="l"/>
            <a:r>
              <a:rPr sz="1400" b="0" i="0">
                <a:solidFill>
                  <a:srgbClr val="111111"/>
                </a:solidFill>
                <a:latin typeface="Calibri"/>
              </a:rPr>
              <a:t>230 final-year students (no outcome yet)</a:t>
            </a:r>
          </a:p>
        </p:txBody>
      </p:sp>
      <p:sp>
        <p:nvSpPr>
          <p:cNvPr id="18" name="Rectangle 17"/>
          <p:cNvSpPr/>
          <p:nvPr/>
        </p:nvSpPr>
        <p:spPr>
          <a:xfrm>
            <a:off x="548640" y="4352544"/>
            <a:ext cx="5553715" cy="82296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352544"/>
            <a:ext cx="1645920" cy="822960"/>
          </a:xfrm>
          <a:prstGeom prst="rect">
            <a:avLst/>
          </a:prstGeom>
          <a:noFill/>
        </p:spPr>
        <p:txBody>
          <a:bodyPr wrap="square" anchor="ctr" lIns="45720" rIns="45720" tIns="18288" bIns="18288">
            <a:spAutoFit/>
          </a:bodyPr>
          <a:lstStyle/>
          <a:p>
            <a:pPr algn="l"/>
            <a:r>
              <a:rPr sz="2800" b="1" i="0">
                <a:solidFill>
                  <a:srgbClr val="FFFFFF"/>
                </a:solidFill>
                <a:latin typeface="Calibri"/>
              </a:rPr>
              <a:t>885</a:t>
            </a:r>
          </a:p>
        </p:txBody>
      </p:sp>
      <p:sp>
        <p:nvSpPr>
          <p:cNvPr id="20" name="TextBox 19"/>
          <p:cNvSpPr txBox="1"/>
          <p:nvPr/>
        </p:nvSpPr>
        <p:spPr>
          <a:xfrm>
            <a:off x="6239515" y="4352544"/>
            <a:ext cx="4754880" cy="822960"/>
          </a:xfrm>
          <a:prstGeom prst="rect">
            <a:avLst/>
          </a:prstGeom>
          <a:noFill/>
        </p:spPr>
        <p:txBody>
          <a:bodyPr wrap="square" anchor="ctr" lIns="45720" rIns="45720" tIns="18288" bIns="18288">
            <a:spAutoFit/>
          </a:bodyPr>
          <a:lstStyle/>
          <a:p>
            <a:pPr algn="l"/>
            <a:r>
              <a:rPr sz="1400" b="0" i="0">
                <a:solidFill>
                  <a:srgbClr val="111111"/>
                </a:solidFill>
                <a:latin typeface="Calibri"/>
              </a:rPr>
              <a:t>modelling graduates</a:t>
            </a:r>
          </a:p>
          <a:p>
            <a:pPr algn="l"/>
            <a:r>
              <a:rPr sz="1400" b="0" i="0">
                <a:solidFill>
                  <a:srgbClr val="111111"/>
                </a:solidFill>
                <a:latin typeface="Calibri"/>
              </a:rPr>
              <a:t>(−32 outside eligibility / not in IT job market)</a:t>
            </a:r>
          </a:p>
        </p:txBody>
      </p:sp>
      <p:sp>
        <p:nvSpPr>
          <p:cNvPr id="21" name="Rounded Rectangle 20"/>
          <p:cNvSpPr/>
          <p:nvPr/>
        </p:nvSpPr>
        <p:spPr>
          <a:xfrm>
            <a:off x="548640" y="5440680"/>
            <a:ext cx="3566160" cy="91440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550408"/>
            <a:ext cx="457200" cy="54864"/>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623560"/>
            <a:ext cx="3566160" cy="685800"/>
          </a:xfrm>
          <a:prstGeom prst="rect">
            <a:avLst/>
          </a:prstGeom>
          <a:noFill/>
        </p:spPr>
        <p:txBody>
          <a:bodyPr wrap="square" anchor="ctr" lIns="45720" rIns="45720" tIns="18288" bIns="18288">
            <a:spAutoFit/>
          </a:bodyPr>
          <a:lstStyle/>
          <a:p>
            <a:pPr algn="ctr"/>
            <a:r>
              <a:rPr sz="2400" b="1" i="0">
                <a:solidFill>
                  <a:srgbClr val="1BAF7A"/>
                </a:solidFill>
                <a:latin typeface="Calibri"/>
              </a:rPr>
              <a:t>667 found a job</a:t>
            </a:r>
          </a:p>
        </p:txBody>
      </p:sp>
      <p:sp>
        <p:nvSpPr>
          <p:cNvPr id="24" name="TextBox 23"/>
          <p:cNvSpPr txBox="1"/>
          <p:nvPr/>
        </p:nvSpPr>
        <p:spPr>
          <a:xfrm>
            <a:off x="658368" y="6309360"/>
            <a:ext cx="3346704" cy="0"/>
          </a:xfrm>
          <a:prstGeom prst="rect">
            <a:avLst/>
          </a:prstGeom>
          <a:noFill/>
        </p:spPr>
        <p:txBody>
          <a:bodyPr wrap="square" anchor="t" lIns="45720" rIns="45720" tIns="18288" bIns="18288">
            <a:spAutoFit/>
          </a:bodyPr>
          <a:lstStyle/>
          <a:p>
            <a:pPr algn="ctr"/>
            <a:r>
              <a:rPr sz="1400" b="0" i="0">
                <a:solidFill>
                  <a:srgbClr val="111111"/>
                </a:solidFill>
                <a:latin typeface="Calibri"/>
              </a:rPr>
              <a:t/>
            </a:r>
          </a:p>
        </p:txBody>
      </p:sp>
      <p:sp>
        <p:nvSpPr>
          <p:cNvPr id="25" name="Rounded Rectangle 24"/>
          <p:cNvSpPr/>
          <p:nvPr/>
        </p:nvSpPr>
        <p:spPr>
          <a:xfrm>
            <a:off x="4297680" y="5440680"/>
            <a:ext cx="3566160" cy="91440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6280" y="5550408"/>
            <a:ext cx="457200" cy="54864"/>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7680" y="5623560"/>
            <a:ext cx="3566160" cy="685800"/>
          </a:xfrm>
          <a:prstGeom prst="rect">
            <a:avLst/>
          </a:prstGeom>
          <a:noFill/>
        </p:spPr>
        <p:txBody>
          <a:bodyPr wrap="square" anchor="ctr" lIns="45720" rIns="45720" tIns="18288" bIns="18288">
            <a:spAutoFit/>
          </a:bodyPr>
          <a:lstStyle/>
          <a:p>
            <a:pPr algn="ctr"/>
            <a:r>
              <a:rPr sz="2400" b="1" i="0">
                <a:solidFill>
                  <a:srgbClr val="EB6834"/>
                </a:solidFill>
                <a:latin typeface="Calibri"/>
              </a:rPr>
              <a:t>218 still searching</a:t>
            </a:r>
          </a:p>
        </p:txBody>
      </p:sp>
      <p:sp>
        <p:nvSpPr>
          <p:cNvPr id="28" name="TextBox 27"/>
          <p:cNvSpPr txBox="1"/>
          <p:nvPr/>
        </p:nvSpPr>
        <p:spPr>
          <a:xfrm>
            <a:off x="4407408" y="6309360"/>
            <a:ext cx="3346704" cy="0"/>
          </a:xfrm>
          <a:prstGeom prst="rect">
            <a:avLst/>
          </a:prstGeom>
          <a:noFill/>
        </p:spPr>
        <p:txBody>
          <a:bodyPr wrap="square" anchor="t" lIns="45720" rIns="45720" tIns="18288" bIns="18288">
            <a:spAutoFit/>
          </a:bodyPr>
          <a:lstStyle/>
          <a:p>
            <a:pPr algn="ctr"/>
            <a:r>
              <a:rPr sz="1400" b="0" i="0">
                <a:solidFill>
                  <a:srgbClr val="111111"/>
                </a:solidFill>
                <a:latin typeface="Calibri"/>
              </a:rPr>
              <a:t/>
            </a:r>
          </a:p>
        </p:txBody>
      </p:sp>
      <p:sp>
        <p:nvSpPr>
          <p:cNvPr id="29" name="Rounded Rectangle 28"/>
          <p:cNvSpPr/>
          <p:nvPr/>
        </p:nvSpPr>
        <p:spPr>
          <a:xfrm>
            <a:off x="8046720" y="5440680"/>
            <a:ext cx="3566160" cy="91440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75320" y="5550408"/>
            <a:ext cx="457200" cy="54864"/>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0" y="5623560"/>
            <a:ext cx="3566160" cy="685800"/>
          </a:xfrm>
          <a:prstGeom prst="rect">
            <a:avLst/>
          </a:prstGeom>
          <a:noFill/>
        </p:spPr>
        <p:txBody>
          <a:bodyPr wrap="square" anchor="ctr" lIns="45720" rIns="45720" tIns="18288" bIns="18288">
            <a:spAutoFit/>
          </a:bodyPr>
          <a:lstStyle/>
          <a:p>
            <a:pPr algn="ctr"/>
            <a:r>
              <a:rPr sz="2400" b="1" i="0">
                <a:solidFill>
                  <a:srgbClr val="1C5CAB"/>
                </a:solidFill>
                <a:latin typeface="Calibri"/>
              </a:rPr>
              <a:t>24.6% censored</a:t>
            </a:r>
          </a:p>
        </p:txBody>
      </p:sp>
      <p:sp>
        <p:nvSpPr>
          <p:cNvPr id="32" name="TextBox 31"/>
          <p:cNvSpPr txBox="1"/>
          <p:nvPr/>
        </p:nvSpPr>
        <p:spPr>
          <a:xfrm>
            <a:off x="8156448" y="6309360"/>
            <a:ext cx="3346704" cy="0"/>
          </a:xfrm>
          <a:prstGeom prst="rect">
            <a:avLst/>
          </a:prstGeom>
          <a:noFill/>
        </p:spPr>
        <p:txBody>
          <a:bodyPr wrap="square" anchor="t" lIns="45720" rIns="45720" tIns="18288" bIns="18288">
            <a:spAutoFit/>
          </a:bodyPr>
          <a:lstStyle/>
          <a:p>
            <a:pPr algn="ctr"/>
            <a:r>
              <a:rPr sz="1400" b="0" i="0">
                <a:solidFill>
                  <a:srgbClr val="111111"/>
                </a:solidFill>
                <a:latin typeface="Calibri"/>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What the data show: most find work within a few months</a:t>
            </a:r>
          </a:p>
        </p:txBody>
      </p:sp>
      <p:sp>
        <p:nvSpPr>
          <p:cNvPr id="5" name="Rounded Rectangle 4"/>
          <p:cNvSpPr/>
          <p:nvPr/>
        </p:nvSpPr>
        <p:spPr>
          <a:xfrm>
            <a:off x="10241280" y="292608"/>
            <a:ext cx="1691640" cy="347472"/>
          </a:xfrm>
          <a:prstGeom prst="roundRect">
            <a:avLst>
              <a:gd name="adj" fmla="val 50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RESULTS</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11</a:t>
            </a:r>
          </a:p>
        </p:txBody>
      </p:sp>
      <p:pic>
        <p:nvPicPr>
          <p:cNvPr id="9" name="Picture 8" descr="km_overall.png"/>
          <p:cNvPicPr>
            <a:picLocks noChangeAspect="1"/>
          </p:cNvPicPr>
          <p:nvPr/>
        </p:nvPicPr>
        <p:blipFill>
          <a:blip r:embed="rId3"/>
          <a:stretch>
            <a:fillRect/>
          </a:stretch>
        </p:blipFill>
        <p:spPr>
          <a:xfrm>
            <a:off x="411480" y="2011680"/>
            <a:ext cx="6400800" cy="3474720"/>
          </a:xfrm>
          <a:prstGeom prst="rect">
            <a:avLst/>
          </a:prstGeom>
          <a:ln w="15875">
            <a:solidFill>
              <a:srgbClr val="C9D6E8"/>
            </a:solidFill>
          </a:ln>
        </p:spPr>
      </p:pic>
      <p:sp>
        <p:nvSpPr>
          <p:cNvPr id="10" name="Rounded Rectangle 9"/>
          <p:cNvSpPr/>
          <p:nvPr/>
        </p:nvSpPr>
        <p:spPr>
          <a:xfrm>
            <a:off x="7086600" y="1280160"/>
            <a:ext cx="2331720" cy="164592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1389888"/>
            <a:ext cx="45720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1463040"/>
            <a:ext cx="2331720" cy="685800"/>
          </a:xfrm>
          <a:prstGeom prst="rect">
            <a:avLst/>
          </a:prstGeom>
          <a:noFill/>
        </p:spPr>
        <p:txBody>
          <a:bodyPr wrap="square" anchor="ctr" lIns="45720" rIns="45720" tIns="18288" bIns="18288">
            <a:spAutoFit/>
          </a:bodyPr>
          <a:lstStyle/>
          <a:p>
            <a:pPr algn="ctr"/>
            <a:r>
              <a:rPr sz="3000" b="1" i="0">
                <a:solidFill>
                  <a:srgbClr val="2A78D6"/>
                </a:solidFill>
                <a:latin typeface="Calibri"/>
              </a:rPr>
              <a:t>43.6%</a:t>
            </a:r>
          </a:p>
        </p:txBody>
      </p:sp>
      <p:sp>
        <p:nvSpPr>
          <p:cNvPr id="13" name="TextBox 12"/>
          <p:cNvSpPr txBox="1"/>
          <p:nvPr/>
        </p:nvSpPr>
        <p:spPr>
          <a:xfrm>
            <a:off x="7196328" y="2148840"/>
            <a:ext cx="2112264" cy="731520"/>
          </a:xfrm>
          <a:prstGeom prst="rect">
            <a:avLst/>
          </a:prstGeom>
          <a:noFill/>
        </p:spPr>
        <p:txBody>
          <a:bodyPr wrap="square" anchor="t" lIns="45720" rIns="45720" tIns="18288" bIns="18288">
            <a:spAutoFit/>
          </a:bodyPr>
          <a:lstStyle/>
          <a:p>
            <a:pPr algn="ctr"/>
            <a:r>
              <a:rPr sz="1400" b="0" i="0">
                <a:solidFill>
                  <a:srgbClr val="111111"/>
                </a:solidFill>
                <a:latin typeface="Calibri"/>
              </a:rPr>
              <a:t>found a job by 3 months</a:t>
            </a:r>
          </a:p>
        </p:txBody>
      </p:sp>
      <p:sp>
        <p:nvSpPr>
          <p:cNvPr id="14" name="Rounded Rectangle 13"/>
          <p:cNvSpPr/>
          <p:nvPr/>
        </p:nvSpPr>
        <p:spPr>
          <a:xfrm>
            <a:off x="9555480" y="1280160"/>
            <a:ext cx="2331720" cy="164592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784080" y="1389888"/>
            <a:ext cx="45720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55480" y="1463040"/>
            <a:ext cx="2331720" cy="685800"/>
          </a:xfrm>
          <a:prstGeom prst="rect">
            <a:avLst/>
          </a:prstGeom>
          <a:noFill/>
        </p:spPr>
        <p:txBody>
          <a:bodyPr wrap="square" anchor="ctr" lIns="45720" rIns="45720" tIns="18288" bIns="18288">
            <a:spAutoFit/>
          </a:bodyPr>
          <a:lstStyle/>
          <a:p>
            <a:pPr algn="ctr"/>
            <a:r>
              <a:rPr sz="3000" b="1" i="0">
                <a:solidFill>
                  <a:srgbClr val="2A78D6"/>
                </a:solidFill>
                <a:latin typeface="Calibri"/>
              </a:rPr>
              <a:t>67.0%</a:t>
            </a:r>
          </a:p>
        </p:txBody>
      </p:sp>
      <p:sp>
        <p:nvSpPr>
          <p:cNvPr id="17" name="TextBox 16"/>
          <p:cNvSpPr txBox="1"/>
          <p:nvPr/>
        </p:nvSpPr>
        <p:spPr>
          <a:xfrm>
            <a:off x="9665208" y="2148840"/>
            <a:ext cx="2112264" cy="731520"/>
          </a:xfrm>
          <a:prstGeom prst="rect">
            <a:avLst/>
          </a:prstGeom>
          <a:noFill/>
        </p:spPr>
        <p:txBody>
          <a:bodyPr wrap="square" anchor="t" lIns="45720" rIns="45720" tIns="18288" bIns="18288">
            <a:spAutoFit/>
          </a:bodyPr>
          <a:lstStyle/>
          <a:p>
            <a:pPr algn="ctr"/>
            <a:r>
              <a:rPr sz="1400" b="0" i="0">
                <a:solidFill>
                  <a:srgbClr val="111111"/>
                </a:solidFill>
                <a:latin typeface="Calibri"/>
              </a:rPr>
              <a:t>by 6 months</a:t>
            </a:r>
          </a:p>
        </p:txBody>
      </p:sp>
      <p:sp>
        <p:nvSpPr>
          <p:cNvPr id="18" name="Rounded Rectangle 17"/>
          <p:cNvSpPr/>
          <p:nvPr/>
        </p:nvSpPr>
        <p:spPr>
          <a:xfrm>
            <a:off x="7086600" y="3108960"/>
            <a:ext cx="2331720" cy="164592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0" y="3218688"/>
            <a:ext cx="457200" cy="54864"/>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86600" y="3291840"/>
            <a:ext cx="2331720" cy="685800"/>
          </a:xfrm>
          <a:prstGeom prst="rect">
            <a:avLst/>
          </a:prstGeom>
          <a:noFill/>
        </p:spPr>
        <p:txBody>
          <a:bodyPr wrap="square" anchor="ctr" lIns="45720" rIns="45720" tIns="18288" bIns="18288">
            <a:spAutoFit/>
          </a:bodyPr>
          <a:lstStyle/>
          <a:p>
            <a:pPr algn="ctr"/>
            <a:r>
              <a:rPr sz="3000" b="1" i="0">
                <a:solidFill>
                  <a:srgbClr val="1C5CAB"/>
                </a:solidFill>
                <a:latin typeface="Calibri"/>
              </a:rPr>
              <a:t>80.9%</a:t>
            </a:r>
          </a:p>
        </p:txBody>
      </p:sp>
      <p:sp>
        <p:nvSpPr>
          <p:cNvPr id="21" name="TextBox 20"/>
          <p:cNvSpPr txBox="1"/>
          <p:nvPr/>
        </p:nvSpPr>
        <p:spPr>
          <a:xfrm>
            <a:off x="7196328" y="3977640"/>
            <a:ext cx="2112264" cy="731520"/>
          </a:xfrm>
          <a:prstGeom prst="rect">
            <a:avLst/>
          </a:prstGeom>
          <a:noFill/>
        </p:spPr>
        <p:txBody>
          <a:bodyPr wrap="square" anchor="t" lIns="45720" rIns="45720" tIns="18288" bIns="18288">
            <a:spAutoFit/>
          </a:bodyPr>
          <a:lstStyle/>
          <a:p>
            <a:pPr algn="ctr"/>
            <a:r>
              <a:rPr sz="1400" b="0" i="0">
                <a:solidFill>
                  <a:srgbClr val="111111"/>
                </a:solidFill>
                <a:latin typeface="Calibri"/>
              </a:rPr>
              <a:t>by 12 months</a:t>
            </a:r>
          </a:p>
        </p:txBody>
      </p:sp>
      <p:sp>
        <p:nvSpPr>
          <p:cNvPr id="22" name="Rounded Rectangle 21"/>
          <p:cNvSpPr/>
          <p:nvPr/>
        </p:nvSpPr>
        <p:spPr>
          <a:xfrm>
            <a:off x="9555480" y="3108960"/>
            <a:ext cx="2331720" cy="164592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784080" y="3218688"/>
            <a:ext cx="457200" cy="54864"/>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55480" y="3291840"/>
            <a:ext cx="2331720" cy="685800"/>
          </a:xfrm>
          <a:prstGeom prst="rect">
            <a:avLst/>
          </a:prstGeom>
          <a:noFill/>
        </p:spPr>
        <p:txBody>
          <a:bodyPr wrap="square" anchor="ctr" lIns="45720" rIns="45720" tIns="18288" bIns="18288">
            <a:spAutoFit/>
          </a:bodyPr>
          <a:lstStyle/>
          <a:p>
            <a:pPr algn="ctr"/>
            <a:r>
              <a:rPr sz="3000" b="1" i="0">
                <a:solidFill>
                  <a:srgbClr val="1BAF7A"/>
                </a:solidFill>
                <a:latin typeface="Calibri"/>
              </a:rPr>
              <a:t>89.8%</a:t>
            </a:r>
          </a:p>
        </p:txBody>
      </p:sp>
      <p:sp>
        <p:nvSpPr>
          <p:cNvPr id="25" name="TextBox 24"/>
          <p:cNvSpPr txBox="1"/>
          <p:nvPr/>
        </p:nvSpPr>
        <p:spPr>
          <a:xfrm>
            <a:off x="9665208" y="3977640"/>
            <a:ext cx="2112264" cy="731520"/>
          </a:xfrm>
          <a:prstGeom prst="rect">
            <a:avLst/>
          </a:prstGeom>
          <a:noFill/>
        </p:spPr>
        <p:txBody>
          <a:bodyPr wrap="square" anchor="t" lIns="45720" rIns="45720" tIns="18288" bIns="18288">
            <a:spAutoFit/>
          </a:bodyPr>
          <a:lstStyle/>
          <a:p>
            <a:pPr algn="ctr"/>
            <a:r>
              <a:rPr sz="1400" b="0" i="0">
                <a:solidFill>
                  <a:srgbClr val="111111"/>
                </a:solidFill>
                <a:latin typeface="Calibri"/>
              </a:rPr>
              <a:t>by 24 months</a:t>
            </a:r>
          </a:p>
        </p:txBody>
      </p:sp>
      <p:sp>
        <p:nvSpPr>
          <p:cNvPr id="26" name="TextBox 25"/>
          <p:cNvSpPr txBox="1"/>
          <p:nvPr/>
        </p:nvSpPr>
        <p:spPr>
          <a:xfrm>
            <a:off x="7086600" y="5120640"/>
            <a:ext cx="4754880" cy="1097280"/>
          </a:xfrm>
          <a:prstGeom prst="rect">
            <a:avLst/>
          </a:prstGeom>
          <a:noFill/>
        </p:spPr>
        <p:txBody>
          <a:bodyPr wrap="square" anchor="t" lIns="45720" rIns="45720" tIns="18288" bIns="18288">
            <a:spAutoFit/>
          </a:bodyPr>
          <a:lstStyle/>
          <a:p>
            <a:pPr algn="l"/>
            <a:r>
              <a:rPr sz="1500" b="0" i="0">
                <a:solidFill>
                  <a:srgbClr val="55565A"/>
                </a:solidFill>
                <a:latin typeface="Calibri"/>
              </a:rPr>
              <a:t>Median 4 months  ·  117 graduates (13.2%) started before completion</a:t>
            </a:r>
          </a:p>
          <a:p>
            <a:pPr algn="l"/>
            <a:r>
              <a:rPr sz="1500" b="0" i="0">
                <a:solidFill>
                  <a:srgbClr val="55565A"/>
                </a:solidFill>
                <a:latin typeface="Calibri"/>
              </a:rPr>
              <a:t>Train / validation / test were alike: 24.7% / 24.8% / 24.2% still searching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Seven survival models, one pre-set selection rule</a:t>
            </a:r>
          </a:p>
        </p:txBody>
      </p:sp>
      <p:sp>
        <p:nvSpPr>
          <p:cNvPr id="5" name="Rounded Rectangle 4"/>
          <p:cNvSpPr/>
          <p:nvPr/>
        </p:nvSpPr>
        <p:spPr>
          <a:xfrm>
            <a:off x="10241280" y="292608"/>
            <a:ext cx="1691640" cy="347472"/>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MODELS</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12</a:t>
            </a:r>
          </a:p>
        </p:txBody>
      </p:sp>
      <p:graphicFrame>
        <p:nvGraphicFramePr>
          <p:cNvPr id="9" name="Table 8"/>
          <p:cNvGraphicFramePr>
            <a:graphicFrameLocks noGrp="1"/>
          </p:cNvGraphicFramePr>
          <p:nvPr/>
        </p:nvGraphicFramePr>
        <p:xfrm>
          <a:off x="548640" y="1234440"/>
          <a:ext cx="11064237" cy="3291840"/>
        </p:xfrm>
        <a:graphic>
          <a:graphicData uri="http://schemas.openxmlformats.org/drawingml/2006/table">
            <a:tbl>
              <a:tblPr firstRow="1" bandRow="1">
                <a:tableStyleId>{5C22544A-7EE6-4342-B048-85BDC9FD1C3A}</a:tableStyleId>
              </a:tblPr>
              <a:tblGrid>
                <a:gridCol w="1554479"/>
                <a:gridCol w="3840479"/>
                <a:gridCol w="5669279"/>
              </a:tblGrid>
              <a:tr h="658368">
                <a:tc>
                  <a:txBody>
                    <a:bodyPr wrap="square"/>
                    <a:lstStyle/>
                    <a:p>
                      <a:pPr algn="l"/>
                      <a:r>
                        <a:rPr sz="1800" b="1">
                          <a:solidFill>
                            <a:srgbClr val="FFFFFF"/>
                          </a:solidFill>
                          <a:latin typeface="Calibri"/>
                        </a:rPr>
                        <a:t>Family</a:t>
                      </a:r>
                    </a:p>
                  </a:txBody>
                  <a:tcPr marL="73152" marR="73152" anchor="ctr">
                    <a:solidFill>
                      <a:srgbClr val="0D366B"/>
                    </a:solidFill>
                  </a:tcPr>
                </a:tc>
                <a:tc>
                  <a:txBody>
                    <a:bodyPr wrap="square"/>
                    <a:lstStyle/>
                    <a:p>
                      <a:pPr algn="ctr"/>
                      <a:r>
                        <a:rPr sz="1800" b="1">
                          <a:solidFill>
                            <a:srgbClr val="FFFFFF"/>
                          </a:solidFill>
                          <a:latin typeface="Calibri"/>
                        </a:rPr>
                        <a:t>Model</a:t>
                      </a:r>
                    </a:p>
                  </a:txBody>
                  <a:tcPr marL="73152" marR="73152" anchor="ctr">
                    <a:solidFill>
                      <a:srgbClr val="0D366B"/>
                    </a:solidFill>
                  </a:tcPr>
                </a:tc>
                <a:tc>
                  <a:txBody>
                    <a:bodyPr wrap="square"/>
                    <a:lstStyle/>
                    <a:p>
                      <a:pPr algn="ctr"/>
                      <a:r>
                        <a:rPr sz="1800" b="1">
                          <a:solidFill>
                            <a:srgbClr val="FFFFFF"/>
                          </a:solidFill>
                          <a:latin typeface="Calibri"/>
                        </a:rPr>
                        <a:t>Why it is here</a:t>
                      </a:r>
                    </a:p>
                  </a:txBody>
                  <a:tcPr marL="73152" marR="73152" anchor="ctr">
                    <a:solidFill>
                      <a:srgbClr val="0D366B"/>
                    </a:solidFill>
                  </a:tcPr>
                </a:tc>
              </a:tr>
              <a:tr h="658368">
                <a:tc>
                  <a:txBody>
                    <a:bodyPr wrap="square"/>
                    <a:lstStyle/>
                    <a:p>
                      <a:pPr algn="l"/>
                      <a:r>
                        <a:rPr sz="1800" b="1">
                          <a:solidFill>
                            <a:srgbClr val="111111"/>
                          </a:solidFill>
                          <a:latin typeface="Calibri"/>
                        </a:rPr>
                        <a:t>Linear</a:t>
                      </a:r>
                    </a:p>
                  </a:txBody>
                  <a:tcPr marL="73152" marR="73152" anchor="ctr">
                    <a:solidFill>
                      <a:srgbClr val="FFFFFF"/>
                    </a:solidFill>
                  </a:tcPr>
                </a:tc>
                <a:tc>
                  <a:txBody>
                    <a:bodyPr wrap="square"/>
                    <a:lstStyle/>
                    <a:p>
                      <a:pPr algn="ctr"/>
                      <a:r>
                        <a:rPr sz="1800" b="0">
                          <a:solidFill>
                            <a:srgbClr val="111111"/>
                          </a:solidFill>
                          <a:latin typeface="Calibri"/>
                        </a:rPr>
                        <a:t>Cox Proportional Hazards</a:t>
                      </a:r>
                    </a:p>
                  </a:txBody>
                  <a:tcPr marL="73152" marR="73152" anchor="ctr">
                    <a:solidFill>
                      <a:srgbClr val="FFFFFF"/>
                    </a:solidFill>
                  </a:tcPr>
                </a:tc>
                <a:tc>
                  <a:txBody>
                    <a:bodyPr wrap="square"/>
                    <a:lstStyle/>
                    <a:p>
                      <a:pPr algn="ctr"/>
                      <a:r>
                        <a:rPr sz="1800" b="0">
                          <a:solidFill>
                            <a:srgbClr val="111111"/>
                          </a:solidFill>
                          <a:latin typeface="Calibri"/>
                        </a:rPr>
                        <a:t>Standard baseline; hazard ratios; no distribution assumption</a:t>
                      </a:r>
                    </a:p>
                  </a:txBody>
                  <a:tcPr marL="73152" marR="73152" anchor="ctr">
                    <a:solidFill>
                      <a:srgbClr val="FFFFFF"/>
                    </a:solidFill>
                  </a:tcPr>
                </a:tc>
              </a:tr>
              <a:tr h="658368">
                <a:tc>
                  <a:txBody>
                    <a:bodyPr wrap="square"/>
                    <a:lstStyle/>
                    <a:p>
                      <a:pPr algn="l"/>
                      <a:r>
                        <a:rPr sz="1800" b="1">
                          <a:solidFill>
                            <a:srgbClr val="111111"/>
                          </a:solidFill>
                          <a:latin typeface="Calibri"/>
                        </a:rPr>
                        <a:t>Regularised</a:t>
                      </a:r>
                    </a:p>
                  </a:txBody>
                  <a:tcPr marL="73152" marR="73152" anchor="ctr">
                    <a:solidFill>
                      <a:srgbClr val="EEF3FA"/>
                    </a:solidFill>
                  </a:tcPr>
                </a:tc>
                <a:tc>
                  <a:txBody>
                    <a:bodyPr wrap="square"/>
                    <a:lstStyle/>
                    <a:p>
                      <a:pPr algn="ctr"/>
                      <a:r>
                        <a:rPr sz="1800" b="0">
                          <a:solidFill>
                            <a:srgbClr val="111111"/>
                          </a:solidFill>
                          <a:latin typeface="Calibri"/>
                        </a:rPr>
                        <a:t>Elastic Net Cox</a:t>
                      </a:r>
                    </a:p>
                  </a:txBody>
                  <a:tcPr marL="73152" marR="73152" anchor="ctr">
                    <a:solidFill>
                      <a:srgbClr val="EEF3FA"/>
                    </a:solidFill>
                  </a:tcPr>
                </a:tc>
                <a:tc>
                  <a:txBody>
                    <a:bodyPr wrap="square"/>
                    <a:lstStyle/>
                    <a:p>
                      <a:pPr algn="ctr"/>
                      <a:r>
                        <a:rPr sz="1800" b="0">
                          <a:solidFill>
                            <a:srgbClr val="111111"/>
                          </a:solidFill>
                          <a:latin typeface="Calibri"/>
                        </a:rPr>
                        <a:t>Shrinks coefficients; guards against overfitting</a:t>
                      </a:r>
                    </a:p>
                  </a:txBody>
                  <a:tcPr marL="73152" marR="73152" anchor="ctr">
                    <a:solidFill>
                      <a:srgbClr val="EEF3FA"/>
                    </a:solidFill>
                  </a:tcPr>
                </a:tc>
              </a:tr>
              <a:tr h="658368">
                <a:tc>
                  <a:txBody>
                    <a:bodyPr wrap="square"/>
                    <a:lstStyle/>
                    <a:p>
                      <a:pPr algn="l"/>
                      <a:r>
                        <a:rPr sz="1800" b="1">
                          <a:solidFill>
                            <a:srgbClr val="111111"/>
                          </a:solidFill>
                          <a:latin typeface="Calibri"/>
                        </a:rPr>
                        <a:t>Parametric</a:t>
                      </a:r>
                    </a:p>
                  </a:txBody>
                  <a:tcPr marL="73152" marR="73152" anchor="ctr">
                    <a:solidFill>
                      <a:srgbClr val="FFFFFF"/>
                    </a:solidFill>
                  </a:tcPr>
                </a:tc>
                <a:tc>
                  <a:txBody>
                    <a:bodyPr wrap="square"/>
                    <a:lstStyle/>
                    <a:p>
                      <a:pPr algn="ctr"/>
                      <a:r>
                        <a:rPr sz="1800" b="0">
                          <a:solidFill>
                            <a:srgbClr val="111111"/>
                          </a:solidFill>
                          <a:latin typeface="Calibri"/>
                        </a:rPr>
                        <a:t>AFT: Weibull, Log-Normal, Log-Logistic</a:t>
                      </a:r>
                    </a:p>
                  </a:txBody>
                  <a:tcPr marL="73152" marR="73152" anchor="ctr">
                    <a:solidFill>
                      <a:srgbClr val="FFFFFF"/>
                    </a:solidFill>
                  </a:tcPr>
                </a:tc>
                <a:tc>
                  <a:txBody>
                    <a:bodyPr wrap="square"/>
                    <a:lstStyle/>
                    <a:p>
                      <a:pPr algn="ctr"/>
                      <a:r>
                        <a:rPr sz="1800" b="0">
                          <a:solidFill>
                            <a:srgbClr val="111111"/>
                          </a:solidFill>
                          <a:latin typeface="Calibri"/>
                        </a:rPr>
                        <a:t>Models time directly; time ratios are easy to explain</a:t>
                      </a:r>
                    </a:p>
                  </a:txBody>
                  <a:tcPr marL="73152" marR="73152" anchor="ctr">
                    <a:solidFill>
                      <a:srgbClr val="FFFFFF"/>
                    </a:solidFill>
                  </a:tcPr>
                </a:tc>
              </a:tr>
              <a:tr h="658368">
                <a:tc>
                  <a:txBody>
                    <a:bodyPr wrap="square"/>
                    <a:lstStyle/>
                    <a:p>
                      <a:pPr algn="l"/>
                      <a:r>
                        <a:rPr sz="1800" b="1">
                          <a:solidFill>
                            <a:srgbClr val="111111"/>
                          </a:solidFill>
                          <a:latin typeface="Calibri"/>
                        </a:rPr>
                        <a:t>Nonlinear</a:t>
                      </a:r>
                    </a:p>
                  </a:txBody>
                  <a:tcPr marL="73152" marR="73152" anchor="ctr">
                    <a:solidFill>
                      <a:srgbClr val="EEF3FA"/>
                    </a:solidFill>
                  </a:tcPr>
                </a:tc>
                <a:tc>
                  <a:txBody>
                    <a:bodyPr wrap="square"/>
                    <a:lstStyle/>
                    <a:p>
                      <a:pPr algn="ctr"/>
                      <a:r>
                        <a:rPr sz="1800" b="0">
                          <a:solidFill>
                            <a:srgbClr val="111111"/>
                          </a:solidFill>
                          <a:latin typeface="Calibri"/>
                        </a:rPr>
                        <a:t>DeepSurv (neural network)</a:t>
                      </a:r>
                    </a:p>
                  </a:txBody>
                  <a:tcPr marL="73152" marR="73152" anchor="ctr">
                    <a:solidFill>
                      <a:srgbClr val="EEF3FA"/>
                    </a:solidFill>
                  </a:tcPr>
                </a:tc>
                <a:tc>
                  <a:txBody>
                    <a:bodyPr wrap="square"/>
                    <a:lstStyle/>
                    <a:p>
                      <a:pPr algn="ctr"/>
                      <a:r>
                        <a:rPr sz="1800" b="0">
                          <a:solidFill>
                            <a:srgbClr val="111111"/>
                          </a:solidFill>
                          <a:latin typeface="Calibri"/>
                        </a:rPr>
                        <a:t>Learns nonlinear patterns; the supervisor asked for a DNN</a:t>
                      </a:r>
                    </a:p>
                  </a:txBody>
                  <a:tcPr marL="73152" marR="73152" anchor="ctr">
                    <a:solidFill>
                      <a:srgbClr val="EEF3FA"/>
                    </a:solidFill>
                  </a:tcPr>
                </a:tc>
              </a:tr>
            </a:tbl>
          </a:graphicData>
        </a:graphic>
      </p:graphicFrame>
      <p:sp>
        <p:nvSpPr>
          <p:cNvPr id="10" name="Rounded Rectangle 9"/>
          <p:cNvSpPr/>
          <p:nvPr/>
        </p:nvSpPr>
        <p:spPr>
          <a:xfrm>
            <a:off x="548640" y="4709160"/>
            <a:ext cx="11064240" cy="1508760"/>
          </a:xfrm>
          <a:prstGeom prst="roundRect">
            <a:avLst>
              <a:gd name="adj" fmla="val 10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846320"/>
            <a:ext cx="10607040" cy="1371600"/>
          </a:xfrm>
          <a:prstGeom prst="rect">
            <a:avLst/>
          </a:prstGeom>
          <a:noFill/>
        </p:spPr>
        <p:txBody>
          <a:bodyPr wrap="square">
            <a:spAutoFit/>
          </a:bodyPr>
          <a:lstStyle/>
          <a:p>
            <a:pPr>
              <a:spcAft>
                <a:spcPts val="500"/>
              </a:spcAft>
            </a:pPr>
            <a:r>
              <a:rPr sz="1700">
                <a:solidFill>
                  <a:srgbClr val="2A78D6"/>
                </a:solidFill>
                <a:latin typeface="Calibri"/>
              </a:rPr>
              <a:t>▪  </a:t>
            </a:r>
            <a:r>
              <a:rPr sz="1700" b="1">
                <a:solidFill>
                  <a:srgbClr val="111111"/>
                </a:solidFill>
                <a:latin typeface="Calibri"/>
              </a:rPr>
              <a:t>Selection rule (fixed beforehand)</a:t>
            </a:r>
            <a:r>
              <a:rPr sz="1700" b="0">
                <a:solidFill>
                  <a:srgbClr val="111111"/>
                </a:solidFill>
                <a:latin typeface="Calibri"/>
              </a:rPr>
              <a:t>: highest validation Uno's C; simplicity and calibration break near-ties</a:t>
            </a:r>
          </a:p>
          <a:p>
            <a:pPr>
              <a:spcAft>
                <a:spcPts val="500"/>
              </a:spcAft>
            </a:pPr>
            <a:r>
              <a:rPr sz="1700">
                <a:solidFill>
                  <a:srgbClr val="2A78D6"/>
                </a:solidFill>
                <a:latin typeface="Calibri"/>
              </a:rPr>
              <a:t>▪  </a:t>
            </a:r>
            <a:r>
              <a:rPr sz="1700" b="1">
                <a:solidFill>
                  <a:srgbClr val="111111"/>
                </a:solidFill>
                <a:latin typeface="Calibri"/>
              </a:rPr>
              <a:t>Excluded by design</a:t>
            </a:r>
            <a:r>
              <a:rPr sz="1700" b="0">
                <a:solidFill>
                  <a:srgbClr val="111111"/>
                </a:solidFill>
                <a:latin typeface="Calibri"/>
              </a:rPr>
              <a:t>: random forests and ensembles (explainability for individuals; supervisor requirement); enforced by a test</a:t>
            </a:r>
          </a:p>
          <a:p>
            <a:pPr>
              <a:spcAft>
                <a:spcPts val="500"/>
              </a:spcAft>
            </a:pPr>
            <a:r>
              <a:rPr sz="1700">
                <a:solidFill>
                  <a:srgbClr val="2A78D6"/>
                </a:solidFill>
                <a:latin typeface="Calibri"/>
              </a:rPr>
              <a:t>▪  </a:t>
            </a:r>
            <a:r>
              <a:rPr sz="1700" b="1">
                <a:solidFill>
                  <a:srgbClr val="111111"/>
                </a:solidFill>
                <a:latin typeface="Calibri"/>
              </a:rPr>
              <a:t>Guard rails</a:t>
            </a:r>
            <a:r>
              <a:rPr sz="1700" b="0">
                <a:solidFill>
                  <a:srgbClr val="111111"/>
                </a:solidFill>
                <a:latin typeface="Calibri"/>
              </a:rPr>
              <a:t>: 29.2 events per parameter; elastic-net penalty; early stopping for DeepSurv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Evaluation protocol: the test set was used once</a:t>
            </a:r>
          </a:p>
        </p:txBody>
      </p:sp>
      <p:sp>
        <p:nvSpPr>
          <p:cNvPr id="5" name="Rounded Rectangle 4"/>
          <p:cNvSpPr/>
          <p:nvPr/>
        </p:nvSpPr>
        <p:spPr>
          <a:xfrm>
            <a:off x="10241280" y="292608"/>
            <a:ext cx="1691640" cy="347472"/>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MODELS</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13</a:t>
            </a:r>
          </a:p>
        </p:txBody>
      </p:sp>
      <p:sp>
        <p:nvSpPr>
          <p:cNvPr id="9" name="Rectangle 8"/>
          <p:cNvSpPr/>
          <p:nvPr/>
        </p:nvSpPr>
        <p:spPr>
          <a:xfrm>
            <a:off x="548640" y="1371600"/>
            <a:ext cx="7744967" cy="13716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17320"/>
            <a:ext cx="7744967" cy="640080"/>
          </a:xfrm>
          <a:prstGeom prst="rect">
            <a:avLst/>
          </a:prstGeom>
          <a:noFill/>
        </p:spPr>
        <p:txBody>
          <a:bodyPr wrap="square" anchor="ctr" lIns="45720" rIns="45720" tIns="18288" bIns="18288">
            <a:spAutoFit/>
          </a:bodyPr>
          <a:lstStyle/>
          <a:p>
            <a:pPr algn="ctr"/>
            <a:r>
              <a:rPr sz="2000" b="1" i="0">
                <a:solidFill>
                  <a:srgbClr val="FFFFFF"/>
                </a:solidFill>
                <a:latin typeface="Calibri"/>
              </a:rPr>
              <a:t>Training: 620</a:t>
            </a:r>
          </a:p>
        </p:txBody>
      </p:sp>
      <p:sp>
        <p:nvSpPr>
          <p:cNvPr id="11" name="TextBox 10"/>
          <p:cNvSpPr txBox="1"/>
          <p:nvPr/>
        </p:nvSpPr>
        <p:spPr>
          <a:xfrm>
            <a:off x="548640" y="2011680"/>
            <a:ext cx="7744967" cy="640080"/>
          </a:xfrm>
          <a:prstGeom prst="rect">
            <a:avLst/>
          </a:prstGeom>
          <a:noFill/>
        </p:spPr>
        <p:txBody>
          <a:bodyPr wrap="square" anchor="t" lIns="45720" rIns="45720" tIns="18288" bIns="18288">
            <a:spAutoFit/>
          </a:bodyPr>
          <a:lstStyle/>
          <a:p>
            <a:pPr algn="ctr"/>
            <a:r>
              <a:rPr sz="1400" b="0" i="0">
                <a:solidFill>
                  <a:srgbClr val="FFFFFF"/>
                </a:solidFill>
                <a:latin typeface="Calibri"/>
              </a:rPr>
              <a:t>fit models, tune by cross-validation</a:t>
            </a:r>
          </a:p>
        </p:txBody>
      </p:sp>
      <p:sp>
        <p:nvSpPr>
          <p:cNvPr id="12" name="Rectangle 11"/>
          <p:cNvSpPr/>
          <p:nvPr/>
        </p:nvSpPr>
        <p:spPr>
          <a:xfrm>
            <a:off x="8293607" y="1371600"/>
            <a:ext cx="1659636" cy="13716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3607" y="1417320"/>
            <a:ext cx="1659636" cy="640080"/>
          </a:xfrm>
          <a:prstGeom prst="rect">
            <a:avLst/>
          </a:prstGeom>
          <a:noFill/>
        </p:spPr>
        <p:txBody>
          <a:bodyPr wrap="square" anchor="ctr" lIns="45720" rIns="45720" tIns="18288" bIns="18288">
            <a:spAutoFit/>
          </a:bodyPr>
          <a:lstStyle/>
          <a:p>
            <a:pPr algn="ctr"/>
            <a:r>
              <a:rPr sz="1500" b="1" i="0">
                <a:solidFill>
                  <a:srgbClr val="FFFFFF"/>
                </a:solidFill>
                <a:latin typeface="Calibri"/>
              </a:rPr>
              <a:t>Validation: 133</a:t>
            </a:r>
          </a:p>
        </p:txBody>
      </p:sp>
      <p:sp>
        <p:nvSpPr>
          <p:cNvPr id="14" name="TextBox 13"/>
          <p:cNvSpPr txBox="1"/>
          <p:nvPr/>
        </p:nvSpPr>
        <p:spPr>
          <a:xfrm>
            <a:off x="8293607" y="2011680"/>
            <a:ext cx="1659636" cy="640080"/>
          </a:xfrm>
          <a:prstGeom prst="rect">
            <a:avLst/>
          </a:prstGeom>
          <a:noFill/>
        </p:spPr>
        <p:txBody>
          <a:bodyPr wrap="square" anchor="t" lIns="45720" rIns="45720" tIns="18288" bIns="18288">
            <a:spAutoFit/>
          </a:bodyPr>
          <a:lstStyle/>
          <a:p>
            <a:pPr algn="ctr"/>
            <a:r>
              <a:rPr sz="1100" b="0" i="0">
                <a:solidFill>
                  <a:srgbClr val="FFFFFF"/>
                </a:solidFill>
                <a:latin typeface="Calibri"/>
              </a:rPr>
              <a:t>choose the model</a:t>
            </a:r>
          </a:p>
        </p:txBody>
      </p:sp>
      <p:sp>
        <p:nvSpPr>
          <p:cNvPr id="15" name="Rectangle 14"/>
          <p:cNvSpPr/>
          <p:nvPr/>
        </p:nvSpPr>
        <p:spPr>
          <a:xfrm>
            <a:off x="9953243" y="1371600"/>
            <a:ext cx="1659636" cy="13716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53243" y="1417320"/>
            <a:ext cx="1659636" cy="640080"/>
          </a:xfrm>
          <a:prstGeom prst="rect">
            <a:avLst/>
          </a:prstGeom>
          <a:noFill/>
        </p:spPr>
        <p:txBody>
          <a:bodyPr wrap="square" anchor="ctr" lIns="45720" rIns="45720" tIns="18288" bIns="18288">
            <a:spAutoFit/>
          </a:bodyPr>
          <a:lstStyle/>
          <a:p>
            <a:pPr algn="ctr"/>
            <a:r>
              <a:rPr sz="1500" b="1" i="0">
                <a:solidFill>
                  <a:srgbClr val="FFFFFF"/>
                </a:solidFill>
                <a:latin typeface="Calibri"/>
              </a:rPr>
              <a:t>Test: 132</a:t>
            </a:r>
          </a:p>
        </p:txBody>
      </p:sp>
      <p:sp>
        <p:nvSpPr>
          <p:cNvPr id="17" name="TextBox 16"/>
          <p:cNvSpPr txBox="1"/>
          <p:nvPr/>
        </p:nvSpPr>
        <p:spPr>
          <a:xfrm>
            <a:off x="9953243" y="2011680"/>
            <a:ext cx="1659636" cy="640080"/>
          </a:xfrm>
          <a:prstGeom prst="rect">
            <a:avLst/>
          </a:prstGeom>
          <a:noFill/>
        </p:spPr>
        <p:txBody>
          <a:bodyPr wrap="square" anchor="t" lIns="45720" rIns="45720" tIns="18288" bIns="18288">
            <a:spAutoFit/>
          </a:bodyPr>
          <a:lstStyle/>
          <a:p>
            <a:pPr algn="ctr"/>
            <a:r>
              <a:rPr sz="1100" b="0" i="0">
                <a:solidFill>
                  <a:srgbClr val="FFFFFF"/>
                </a:solidFill>
                <a:latin typeface="Calibri"/>
              </a:rPr>
              <a:t>used ONCE</a:t>
            </a:r>
          </a:p>
        </p:txBody>
      </p:sp>
      <p:sp>
        <p:nvSpPr>
          <p:cNvPr id="18" name="TextBox 17"/>
          <p:cNvSpPr txBox="1"/>
          <p:nvPr/>
        </p:nvSpPr>
        <p:spPr>
          <a:xfrm>
            <a:off x="548640" y="3108960"/>
            <a:ext cx="5486400" cy="3200400"/>
          </a:xfrm>
          <a:prstGeom prst="rect">
            <a:avLst/>
          </a:prstGeom>
          <a:noFill/>
        </p:spPr>
        <p:txBody>
          <a:bodyPr wrap="square">
            <a:spAutoFit/>
          </a:bodyPr>
          <a:lstStyle/>
          <a:p>
            <a:pPr>
              <a:spcAft>
                <a:spcPts val="1200"/>
              </a:spcAft>
            </a:pPr>
            <a:r>
              <a:rPr sz="1900">
                <a:solidFill>
                  <a:srgbClr val="2A78D6"/>
                </a:solidFill>
                <a:latin typeface="Calibri"/>
              </a:rPr>
              <a:t>▪  </a:t>
            </a:r>
            <a:r>
              <a:rPr sz="1900" b="1">
                <a:solidFill>
                  <a:srgbClr val="111111"/>
                </a:solidFill>
                <a:latin typeface="Calibri"/>
              </a:rPr>
              <a:t>Stratified 70 / 15 / 15</a:t>
            </a:r>
            <a:r>
              <a:rPr sz="1900" b="0">
                <a:solidFill>
                  <a:srgbClr val="111111"/>
                </a:solidFill>
                <a:latin typeface="Calibri"/>
              </a:rPr>
              <a:t>: by outcome; no graduate in two parts</a:t>
            </a:r>
          </a:p>
          <a:p>
            <a:pPr>
              <a:spcAft>
                <a:spcPts val="1200"/>
              </a:spcAft>
            </a:pPr>
            <a:r>
              <a:rPr sz="1900">
                <a:solidFill>
                  <a:srgbClr val="2A78D6"/>
                </a:solidFill>
                <a:latin typeface="Calibri"/>
              </a:rPr>
              <a:t>▪  </a:t>
            </a:r>
            <a:r>
              <a:rPr sz="1900" b="1">
                <a:solidFill>
                  <a:srgbClr val="111111"/>
                </a:solidFill>
                <a:latin typeface="Calibri"/>
              </a:rPr>
              <a:t>No leakage</a:t>
            </a:r>
            <a:r>
              <a:rPr sz="1900" b="0">
                <a:solidFill>
                  <a:srgbClr val="111111"/>
                </a:solidFill>
                <a:latin typeface="Calibri"/>
              </a:rPr>
              <a:t>: imputation, scaling, encoding learned on training only</a:t>
            </a:r>
          </a:p>
          <a:p>
            <a:pPr>
              <a:spcAft>
                <a:spcPts val="1200"/>
              </a:spcAft>
            </a:pPr>
            <a:r>
              <a:rPr sz="1900">
                <a:solidFill>
                  <a:srgbClr val="2A78D6"/>
                </a:solidFill>
                <a:latin typeface="Calibri"/>
              </a:rPr>
              <a:t>▪  </a:t>
            </a:r>
            <a:r>
              <a:rPr sz="1900" b="1">
                <a:solidFill>
                  <a:srgbClr val="111111"/>
                </a:solidFill>
                <a:latin typeface="Calibri"/>
              </a:rPr>
              <a:t>Test locked</a:t>
            </a:r>
            <a:r>
              <a:rPr sz="1900" b="0">
                <a:solidFill>
                  <a:srgbClr val="111111"/>
                </a:solidFill>
                <a:latin typeface="Calibri"/>
              </a:rPr>
              <a:t>: evaluated once; never used to choose or tune</a:t>
            </a:r>
          </a:p>
        </p:txBody>
      </p:sp>
      <p:graphicFrame>
        <p:nvGraphicFramePr>
          <p:cNvPr id="19" name="Table 18"/>
          <p:cNvGraphicFramePr>
            <a:graphicFrameLocks noGrp="1"/>
          </p:cNvGraphicFramePr>
          <p:nvPr/>
        </p:nvGraphicFramePr>
        <p:xfrm>
          <a:off x="6309360" y="3154680"/>
          <a:ext cx="5303519" cy="2834640"/>
        </p:xfrm>
        <a:graphic>
          <a:graphicData uri="http://schemas.openxmlformats.org/drawingml/2006/table">
            <a:tbl>
              <a:tblPr firstRow="1" bandRow="1">
                <a:tableStyleId>{5C22544A-7EE6-4342-B048-85BDC9FD1C3A}</a:tableStyleId>
              </a:tblPr>
              <a:tblGrid>
                <a:gridCol w="2011680"/>
                <a:gridCol w="3291839"/>
              </a:tblGrid>
              <a:tr h="566928">
                <a:tc>
                  <a:txBody>
                    <a:bodyPr wrap="square"/>
                    <a:lstStyle/>
                    <a:p>
                      <a:pPr algn="l"/>
                      <a:r>
                        <a:rPr sz="1400" b="1">
                          <a:solidFill>
                            <a:srgbClr val="FFFFFF"/>
                          </a:solidFill>
                          <a:latin typeface="Calibri"/>
                        </a:rPr>
                        <a:t>Metric</a:t>
                      </a:r>
                    </a:p>
                  </a:txBody>
                  <a:tcPr marL="73152" marR="73152" anchor="ctr">
                    <a:solidFill>
                      <a:srgbClr val="0D366B"/>
                    </a:solidFill>
                  </a:tcPr>
                </a:tc>
                <a:tc>
                  <a:txBody>
                    <a:bodyPr wrap="square"/>
                    <a:lstStyle/>
                    <a:p>
                      <a:pPr algn="ctr"/>
                      <a:r>
                        <a:rPr sz="1400" b="1">
                          <a:solidFill>
                            <a:srgbClr val="FFFFFF"/>
                          </a:solidFill>
                          <a:latin typeface="Calibri"/>
                        </a:rPr>
                        <a:t>What it tells you</a:t>
                      </a:r>
                    </a:p>
                  </a:txBody>
                  <a:tcPr marL="73152" marR="73152" anchor="ctr">
                    <a:solidFill>
                      <a:srgbClr val="0D366B"/>
                    </a:solidFill>
                  </a:tcPr>
                </a:tc>
              </a:tr>
              <a:tr h="566928">
                <a:tc>
                  <a:txBody>
                    <a:bodyPr wrap="square"/>
                    <a:lstStyle/>
                    <a:p>
                      <a:pPr algn="l"/>
                      <a:r>
                        <a:rPr sz="1400" b="1">
                          <a:solidFill>
                            <a:srgbClr val="111111"/>
                          </a:solidFill>
                          <a:latin typeface="Calibri"/>
                        </a:rPr>
                        <a:t>Uno's C-index</a:t>
                      </a:r>
                    </a:p>
                  </a:txBody>
                  <a:tcPr marL="73152" marR="73152" anchor="ctr">
                    <a:solidFill>
                      <a:srgbClr val="FFFFFF"/>
                    </a:solidFill>
                  </a:tcPr>
                </a:tc>
                <a:tc>
                  <a:txBody>
                    <a:bodyPr wrap="square"/>
                    <a:lstStyle/>
                    <a:p>
                      <a:pPr algn="ctr"/>
                      <a:r>
                        <a:rPr sz="1400" b="0">
                          <a:solidFill>
                            <a:srgbClr val="111111"/>
                          </a:solidFill>
                          <a:latin typeface="Calibri"/>
                        </a:rPr>
                        <a:t>ranking: who finds work first (0.5 = chance)</a:t>
                      </a:r>
                    </a:p>
                  </a:txBody>
                  <a:tcPr marL="73152" marR="73152" anchor="ctr">
                    <a:solidFill>
                      <a:srgbClr val="FFFFFF"/>
                    </a:solidFill>
                  </a:tcPr>
                </a:tc>
              </a:tr>
              <a:tr h="566928">
                <a:tc>
                  <a:txBody>
                    <a:bodyPr wrap="square"/>
                    <a:lstStyle/>
                    <a:p>
                      <a:pPr algn="l"/>
                      <a:r>
                        <a:rPr sz="1400" b="1">
                          <a:solidFill>
                            <a:srgbClr val="111111"/>
                          </a:solidFill>
                          <a:latin typeface="Calibri"/>
                        </a:rPr>
                        <a:t>Integrated Brier score</a:t>
                      </a:r>
                    </a:p>
                  </a:txBody>
                  <a:tcPr marL="73152" marR="73152" anchor="ctr">
                    <a:solidFill>
                      <a:srgbClr val="EEF3FA"/>
                    </a:solidFill>
                  </a:tcPr>
                </a:tc>
                <a:tc>
                  <a:txBody>
                    <a:bodyPr wrap="square"/>
                    <a:lstStyle/>
                    <a:p>
                      <a:pPr algn="ctr"/>
                      <a:r>
                        <a:rPr sz="1400" b="0">
                          <a:solidFill>
                            <a:srgbClr val="111111"/>
                          </a:solidFill>
                          <a:latin typeface="Calibri"/>
                        </a:rPr>
                        <a:t>error of predicted probabilities</a:t>
                      </a:r>
                    </a:p>
                  </a:txBody>
                  <a:tcPr marL="73152" marR="73152" anchor="ctr">
                    <a:solidFill>
                      <a:srgbClr val="EEF3FA"/>
                    </a:solidFill>
                  </a:tcPr>
                </a:tc>
              </a:tr>
              <a:tr h="566928">
                <a:tc>
                  <a:txBody>
                    <a:bodyPr wrap="square"/>
                    <a:lstStyle/>
                    <a:p>
                      <a:pPr algn="l"/>
                      <a:r>
                        <a:rPr sz="1400" b="1">
                          <a:solidFill>
                            <a:srgbClr val="111111"/>
                          </a:solidFill>
                          <a:latin typeface="Calibri"/>
                        </a:rPr>
                        <a:t>Calibration (3/6/12 m)</a:t>
                      </a:r>
                    </a:p>
                  </a:txBody>
                  <a:tcPr marL="73152" marR="73152" anchor="ctr">
                    <a:solidFill>
                      <a:srgbClr val="FFFFFF"/>
                    </a:solidFill>
                  </a:tcPr>
                </a:tc>
                <a:tc>
                  <a:txBody>
                    <a:bodyPr wrap="square"/>
                    <a:lstStyle/>
                    <a:p>
                      <a:pPr algn="ctr"/>
                      <a:r>
                        <a:rPr sz="1400" b="0">
                          <a:solidFill>
                            <a:srgbClr val="111111"/>
                          </a:solidFill>
                          <a:latin typeface="Calibri"/>
                        </a:rPr>
                        <a:t>do predicted % match reality?</a:t>
                      </a:r>
                    </a:p>
                  </a:txBody>
                  <a:tcPr marL="73152" marR="73152" anchor="ctr">
                    <a:solidFill>
                      <a:srgbClr val="FFFFFF"/>
                    </a:solidFill>
                  </a:tcPr>
                </a:tc>
              </a:tr>
              <a:tr h="566928">
                <a:tc>
                  <a:txBody>
                    <a:bodyPr wrap="square"/>
                    <a:lstStyle/>
                    <a:p>
                      <a:pPr algn="l"/>
                      <a:r>
                        <a:rPr sz="1400" b="1">
                          <a:solidFill>
                            <a:srgbClr val="111111"/>
                          </a:solidFill>
                          <a:latin typeface="Calibri"/>
                        </a:rPr>
                        <a:t>Fairness, robustness</a:t>
                      </a:r>
                    </a:p>
                  </a:txBody>
                  <a:tcPr marL="73152" marR="73152" anchor="ctr">
                    <a:solidFill>
                      <a:srgbClr val="EEF3FA"/>
                    </a:solidFill>
                  </a:tcPr>
                </a:tc>
                <a:tc>
                  <a:txBody>
                    <a:bodyPr wrap="square"/>
                    <a:lstStyle/>
                    <a:p>
                      <a:pPr algn="ctr"/>
                      <a:r>
                        <a:rPr sz="1400" b="0">
                          <a:solidFill>
                            <a:srgbClr val="111111"/>
                          </a:solidFill>
                          <a:latin typeface="Calibri"/>
                        </a:rPr>
                        <a:t>by gender, institution type, data choices</a:t>
                      </a:r>
                    </a:p>
                  </a:txBody>
                  <a:tcPr marL="73152" marR="73152" anchor="ctr">
                    <a:solidFill>
                      <a:srgbClr val="EEF3FA"/>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Validation: AFT Log-Normal selected (Uno's C 0.693)</a:t>
            </a:r>
          </a:p>
        </p:txBody>
      </p:sp>
      <p:sp>
        <p:nvSpPr>
          <p:cNvPr id="5" name="Rounded Rectangle 4"/>
          <p:cNvSpPr/>
          <p:nvPr/>
        </p:nvSpPr>
        <p:spPr>
          <a:xfrm>
            <a:off x="10241280" y="292608"/>
            <a:ext cx="1691640" cy="347472"/>
          </a:xfrm>
          <a:prstGeom prst="roundRect">
            <a:avLst>
              <a:gd name="adj" fmla="val 50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RESULTS</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14</a:t>
            </a:r>
          </a:p>
        </p:txBody>
      </p:sp>
      <p:pic>
        <p:nvPicPr>
          <p:cNvPr id="9" name="Picture 8" descr="model_comparison.png"/>
          <p:cNvPicPr>
            <a:picLocks noChangeAspect="1"/>
          </p:cNvPicPr>
          <p:nvPr/>
        </p:nvPicPr>
        <p:blipFill>
          <a:blip r:embed="rId3"/>
          <a:stretch>
            <a:fillRect/>
          </a:stretch>
        </p:blipFill>
        <p:spPr>
          <a:xfrm>
            <a:off x="411480" y="1862763"/>
            <a:ext cx="6949440" cy="3772553"/>
          </a:xfrm>
          <a:prstGeom prst="rect">
            <a:avLst/>
          </a:prstGeom>
          <a:ln w="15875">
            <a:solidFill>
              <a:srgbClr val="C9D6E8"/>
            </a:solidFill>
          </a:ln>
        </p:spPr>
      </p:pic>
      <p:graphicFrame>
        <p:nvGraphicFramePr>
          <p:cNvPr id="10" name="Table 9"/>
          <p:cNvGraphicFramePr>
            <a:graphicFrameLocks noGrp="1"/>
          </p:cNvGraphicFramePr>
          <p:nvPr/>
        </p:nvGraphicFramePr>
        <p:xfrm>
          <a:off x="7589520" y="1371600"/>
          <a:ext cx="4114800" cy="3328416"/>
        </p:xfrm>
        <a:graphic>
          <a:graphicData uri="http://schemas.openxmlformats.org/drawingml/2006/table">
            <a:tbl>
              <a:tblPr firstRow="1" bandRow="1">
                <a:tableStyleId>{5C22544A-7EE6-4342-B048-85BDC9FD1C3A}</a:tableStyleId>
              </a:tblPr>
              <a:tblGrid>
                <a:gridCol w="2194560"/>
                <a:gridCol w="1005840"/>
                <a:gridCol w="914400"/>
              </a:tblGrid>
              <a:tr h="475488">
                <a:tc>
                  <a:txBody>
                    <a:bodyPr wrap="square"/>
                    <a:lstStyle/>
                    <a:p>
                      <a:pPr algn="l"/>
                      <a:r>
                        <a:rPr sz="1500" b="1">
                          <a:solidFill>
                            <a:srgbClr val="FFFFFF"/>
                          </a:solidFill>
                          <a:latin typeface="Calibri"/>
                        </a:rPr>
                        <a:t>Model</a:t>
                      </a:r>
                    </a:p>
                  </a:txBody>
                  <a:tcPr marL="73152" marR="73152" anchor="ctr">
                    <a:solidFill>
                      <a:srgbClr val="0D366B"/>
                    </a:solidFill>
                  </a:tcPr>
                </a:tc>
                <a:tc>
                  <a:txBody>
                    <a:bodyPr wrap="square"/>
                    <a:lstStyle/>
                    <a:p>
                      <a:pPr algn="ctr"/>
                      <a:r>
                        <a:rPr sz="1500" b="1">
                          <a:solidFill>
                            <a:srgbClr val="FFFFFF"/>
                          </a:solidFill>
                          <a:latin typeface="Calibri"/>
                        </a:rPr>
                        <a:t>Uno's C</a:t>
                      </a:r>
                    </a:p>
                  </a:txBody>
                  <a:tcPr marL="73152" marR="73152" anchor="ctr">
                    <a:solidFill>
                      <a:srgbClr val="0D366B"/>
                    </a:solidFill>
                  </a:tcPr>
                </a:tc>
                <a:tc>
                  <a:txBody>
                    <a:bodyPr wrap="square"/>
                    <a:lstStyle/>
                    <a:p>
                      <a:pPr algn="ctr"/>
                      <a:r>
                        <a:rPr sz="1500" b="1">
                          <a:solidFill>
                            <a:srgbClr val="FFFFFF"/>
                          </a:solidFill>
                          <a:latin typeface="Calibri"/>
                        </a:rPr>
                        <a:t>IBS</a:t>
                      </a:r>
                    </a:p>
                  </a:txBody>
                  <a:tcPr marL="73152" marR="73152" anchor="ctr">
                    <a:solidFill>
                      <a:srgbClr val="0D366B"/>
                    </a:solidFill>
                  </a:tcPr>
                </a:tc>
              </a:tr>
              <a:tr h="475488">
                <a:tc>
                  <a:txBody>
                    <a:bodyPr wrap="square"/>
                    <a:lstStyle/>
                    <a:p>
                      <a:pPr algn="l"/>
                      <a:r>
                        <a:rPr sz="1500" b="1">
                          <a:solidFill>
                            <a:srgbClr val="111111"/>
                          </a:solidFill>
                          <a:latin typeface="Calibri"/>
                        </a:rPr>
                        <a:t>AFT Log-Normal ✔</a:t>
                      </a:r>
                    </a:p>
                  </a:txBody>
                  <a:tcPr marL="73152" marR="73152" anchor="ctr">
                    <a:solidFill>
                      <a:srgbClr val="FFFFFF"/>
                    </a:solidFill>
                  </a:tcPr>
                </a:tc>
                <a:tc>
                  <a:txBody>
                    <a:bodyPr wrap="square"/>
                    <a:lstStyle/>
                    <a:p>
                      <a:pPr algn="ctr"/>
                      <a:r>
                        <a:rPr sz="1500" b="0">
                          <a:solidFill>
                            <a:srgbClr val="111111"/>
                          </a:solidFill>
                          <a:latin typeface="Calibri"/>
                        </a:rPr>
                        <a:t>0.693</a:t>
                      </a:r>
                    </a:p>
                  </a:txBody>
                  <a:tcPr marL="73152" marR="73152" anchor="ctr">
                    <a:solidFill>
                      <a:srgbClr val="FFFFFF"/>
                    </a:solidFill>
                  </a:tcPr>
                </a:tc>
                <a:tc>
                  <a:txBody>
                    <a:bodyPr wrap="square"/>
                    <a:lstStyle/>
                    <a:p>
                      <a:pPr algn="ctr"/>
                      <a:r>
                        <a:rPr sz="1500" b="0">
                          <a:solidFill>
                            <a:srgbClr val="111111"/>
                          </a:solidFill>
                          <a:latin typeface="Calibri"/>
                        </a:rPr>
                        <a:t>0.171</a:t>
                      </a:r>
                    </a:p>
                  </a:txBody>
                  <a:tcPr marL="73152" marR="73152" anchor="ctr">
                    <a:solidFill>
                      <a:srgbClr val="FFFFFF"/>
                    </a:solidFill>
                  </a:tcPr>
                </a:tc>
              </a:tr>
              <a:tr h="475488">
                <a:tc>
                  <a:txBody>
                    <a:bodyPr wrap="square"/>
                    <a:lstStyle/>
                    <a:p>
                      <a:pPr algn="l"/>
                      <a:r>
                        <a:rPr sz="1500" b="1">
                          <a:solidFill>
                            <a:srgbClr val="111111"/>
                          </a:solidFill>
                          <a:latin typeface="Calibri"/>
                        </a:rPr>
                        <a:t>AFT Log-Logistic</a:t>
                      </a:r>
                    </a:p>
                  </a:txBody>
                  <a:tcPr marL="73152" marR="73152" anchor="ctr">
                    <a:solidFill>
                      <a:srgbClr val="EEF3FA"/>
                    </a:solidFill>
                  </a:tcPr>
                </a:tc>
                <a:tc>
                  <a:txBody>
                    <a:bodyPr wrap="square"/>
                    <a:lstStyle/>
                    <a:p>
                      <a:pPr algn="ctr"/>
                      <a:r>
                        <a:rPr sz="1500" b="0">
                          <a:solidFill>
                            <a:srgbClr val="111111"/>
                          </a:solidFill>
                          <a:latin typeface="Calibri"/>
                        </a:rPr>
                        <a:t>0.687</a:t>
                      </a:r>
                    </a:p>
                  </a:txBody>
                  <a:tcPr marL="73152" marR="73152" anchor="ctr">
                    <a:solidFill>
                      <a:srgbClr val="EEF3FA"/>
                    </a:solidFill>
                  </a:tcPr>
                </a:tc>
                <a:tc>
                  <a:txBody>
                    <a:bodyPr wrap="square"/>
                    <a:lstStyle/>
                    <a:p>
                      <a:pPr algn="ctr"/>
                      <a:r>
                        <a:rPr sz="1500" b="0">
                          <a:solidFill>
                            <a:srgbClr val="111111"/>
                          </a:solidFill>
                          <a:latin typeface="Calibri"/>
                        </a:rPr>
                        <a:t>0.171</a:t>
                      </a:r>
                    </a:p>
                  </a:txBody>
                  <a:tcPr marL="73152" marR="73152" anchor="ctr">
                    <a:solidFill>
                      <a:srgbClr val="EEF3FA"/>
                    </a:solidFill>
                  </a:tcPr>
                </a:tc>
              </a:tr>
              <a:tr h="475488">
                <a:tc>
                  <a:txBody>
                    <a:bodyPr wrap="square"/>
                    <a:lstStyle/>
                    <a:p>
                      <a:pPr algn="l"/>
                      <a:r>
                        <a:rPr sz="1500" b="1">
                          <a:solidFill>
                            <a:srgbClr val="111111"/>
                          </a:solidFill>
                          <a:latin typeface="Calibri"/>
                        </a:rPr>
                        <a:t>DeepSurv</a:t>
                      </a:r>
                    </a:p>
                  </a:txBody>
                  <a:tcPr marL="73152" marR="73152" anchor="ctr">
                    <a:solidFill>
                      <a:srgbClr val="FFFFFF"/>
                    </a:solidFill>
                  </a:tcPr>
                </a:tc>
                <a:tc>
                  <a:txBody>
                    <a:bodyPr wrap="square"/>
                    <a:lstStyle/>
                    <a:p>
                      <a:pPr algn="ctr"/>
                      <a:r>
                        <a:rPr sz="1500" b="0">
                          <a:solidFill>
                            <a:srgbClr val="111111"/>
                          </a:solidFill>
                          <a:latin typeface="Calibri"/>
                        </a:rPr>
                        <a:t>0.679</a:t>
                      </a:r>
                    </a:p>
                  </a:txBody>
                  <a:tcPr marL="73152" marR="73152" anchor="ctr">
                    <a:solidFill>
                      <a:srgbClr val="FFFFFF"/>
                    </a:solidFill>
                  </a:tcPr>
                </a:tc>
                <a:tc>
                  <a:txBody>
                    <a:bodyPr wrap="square"/>
                    <a:lstStyle/>
                    <a:p>
                      <a:pPr algn="ctr"/>
                      <a:r>
                        <a:rPr sz="1500" b="0">
                          <a:solidFill>
                            <a:srgbClr val="111111"/>
                          </a:solidFill>
                          <a:latin typeface="Calibri"/>
                        </a:rPr>
                        <a:t>0.175</a:t>
                      </a:r>
                    </a:p>
                  </a:txBody>
                  <a:tcPr marL="73152" marR="73152" anchor="ctr">
                    <a:solidFill>
                      <a:srgbClr val="FFFFFF"/>
                    </a:solidFill>
                  </a:tcPr>
                </a:tc>
              </a:tr>
              <a:tr h="475488">
                <a:tc>
                  <a:txBody>
                    <a:bodyPr wrap="square"/>
                    <a:lstStyle/>
                    <a:p>
                      <a:pPr algn="l"/>
                      <a:r>
                        <a:rPr sz="1500" b="1">
                          <a:solidFill>
                            <a:srgbClr val="111111"/>
                          </a:solidFill>
                          <a:latin typeface="Calibri"/>
                        </a:rPr>
                        <a:t>Cox PH</a:t>
                      </a:r>
                    </a:p>
                  </a:txBody>
                  <a:tcPr marL="73152" marR="73152" anchor="ctr">
                    <a:solidFill>
                      <a:srgbClr val="EEF3FA"/>
                    </a:solidFill>
                  </a:tcPr>
                </a:tc>
                <a:tc>
                  <a:txBody>
                    <a:bodyPr wrap="square"/>
                    <a:lstStyle/>
                    <a:p>
                      <a:pPr algn="ctr"/>
                      <a:r>
                        <a:rPr sz="1500" b="0">
                          <a:solidFill>
                            <a:srgbClr val="111111"/>
                          </a:solidFill>
                          <a:latin typeface="Calibri"/>
                        </a:rPr>
                        <a:t>0.667</a:t>
                      </a:r>
                    </a:p>
                  </a:txBody>
                  <a:tcPr marL="73152" marR="73152" anchor="ctr">
                    <a:solidFill>
                      <a:srgbClr val="EEF3FA"/>
                    </a:solidFill>
                  </a:tcPr>
                </a:tc>
                <a:tc>
                  <a:txBody>
                    <a:bodyPr wrap="square"/>
                    <a:lstStyle/>
                    <a:p>
                      <a:pPr algn="ctr"/>
                      <a:r>
                        <a:rPr sz="1500" b="0">
                          <a:solidFill>
                            <a:srgbClr val="111111"/>
                          </a:solidFill>
                          <a:latin typeface="Calibri"/>
                        </a:rPr>
                        <a:t>0.179</a:t>
                      </a:r>
                    </a:p>
                  </a:txBody>
                  <a:tcPr marL="73152" marR="73152" anchor="ctr">
                    <a:solidFill>
                      <a:srgbClr val="EEF3FA"/>
                    </a:solidFill>
                  </a:tcPr>
                </a:tc>
              </a:tr>
              <a:tr h="475488">
                <a:tc>
                  <a:txBody>
                    <a:bodyPr wrap="square"/>
                    <a:lstStyle/>
                    <a:p>
                      <a:pPr algn="l"/>
                      <a:r>
                        <a:rPr sz="1500" b="1">
                          <a:solidFill>
                            <a:srgbClr val="111111"/>
                          </a:solidFill>
                          <a:latin typeface="Calibri"/>
                        </a:rPr>
                        <a:t>Elastic Net Cox</a:t>
                      </a:r>
                    </a:p>
                  </a:txBody>
                  <a:tcPr marL="73152" marR="73152" anchor="ctr">
                    <a:solidFill>
                      <a:srgbClr val="FFFFFF"/>
                    </a:solidFill>
                  </a:tcPr>
                </a:tc>
                <a:tc>
                  <a:txBody>
                    <a:bodyPr wrap="square"/>
                    <a:lstStyle/>
                    <a:p>
                      <a:pPr algn="ctr"/>
                      <a:r>
                        <a:rPr sz="1500" b="0">
                          <a:solidFill>
                            <a:srgbClr val="111111"/>
                          </a:solidFill>
                          <a:latin typeface="Calibri"/>
                        </a:rPr>
                        <a:t>0.665</a:t>
                      </a:r>
                    </a:p>
                  </a:txBody>
                  <a:tcPr marL="73152" marR="73152" anchor="ctr">
                    <a:solidFill>
                      <a:srgbClr val="FFFFFF"/>
                    </a:solidFill>
                  </a:tcPr>
                </a:tc>
                <a:tc>
                  <a:txBody>
                    <a:bodyPr wrap="square"/>
                    <a:lstStyle/>
                    <a:p>
                      <a:pPr algn="ctr"/>
                      <a:r>
                        <a:rPr sz="1500" b="0">
                          <a:solidFill>
                            <a:srgbClr val="111111"/>
                          </a:solidFill>
                          <a:latin typeface="Calibri"/>
                        </a:rPr>
                        <a:t>0.175</a:t>
                      </a:r>
                    </a:p>
                  </a:txBody>
                  <a:tcPr marL="73152" marR="73152" anchor="ctr">
                    <a:solidFill>
                      <a:srgbClr val="FFFFFF"/>
                    </a:solidFill>
                  </a:tcPr>
                </a:tc>
              </a:tr>
              <a:tr h="475488">
                <a:tc>
                  <a:txBody>
                    <a:bodyPr wrap="square"/>
                    <a:lstStyle/>
                    <a:p>
                      <a:pPr algn="l"/>
                      <a:r>
                        <a:rPr sz="1500" b="1">
                          <a:solidFill>
                            <a:srgbClr val="111111"/>
                          </a:solidFill>
                          <a:latin typeface="Calibri"/>
                        </a:rPr>
                        <a:t>AFT Weibull</a:t>
                      </a:r>
                    </a:p>
                  </a:txBody>
                  <a:tcPr marL="73152" marR="73152" anchor="ctr">
                    <a:solidFill>
                      <a:srgbClr val="EEF3FA"/>
                    </a:solidFill>
                  </a:tcPr>
                </a:tc>
                <a:tc>
                  <a:txBody>
                    <a:bodyPr wrap="square"/>
                    <a:lstStyle/>
                    <a:p>
                      <a:pPr algn="ctr"/>
                      <a:r>
                        <a:rPr sz="1500" b="0">
                          <a:solidFill>
                            <a:srgbClr val="111111"/>
                          </a:solidFill>
                          <a:latin typeface="Calibri"/>
                        </a:rPr>
                        <a:t>0.655</a:t>
                      </a:r>
                    </a:p>
                  </a:txBody>
                  <a:tcPr marL="73152" marR="73152" anchor="ctr">
                    <a:solidFill>
                      <a:srgbClr val="EEF3FA"/>
                    </a:solidFill>
                  </a:tcPr>
                </a:tc>
                <a:tc>
                  <a:txBody>
                    <a:bodyPr wrap="square"/>
                    <a:lstStyle/>
                    <a:p>
                      <a:pPr algn="ctr"/>
                      <a:r>
                        <a:rPr sz="1500" b="0">
                          <a:solidFill>
                            <a:srgbClr val="111111"/>
                          </a:solidFill>
                          <a:latin typeface="Calibri"/>
                        </a:rPr>
                        <a:t>0.179</a:t>
                      </a:r>
                    </a:p>
                  </a:txBody>
                  <a:tcPr marL="73152" marR="73152" anchor="ctr">
                    <a:solidFill>
                      <a:srgbClr val="EEF3FA"/>
                    </a:solidFill>
                  </a:tcPr>
                </a:tc>
              </a:tr>
            </a:tbl>
          </a:graphicData>
        </a:graphic>
      </p:graphicFrame>
      <p:sp>
        <p:nvSpPr>
          <p:cNvPr id="11" name="TextBox 10"/>
          <p:cNvSpPr txBox="1"/>
          <p:nvPr/>
        </p:nvSpPr>
        <p:spPr>
          <a:xfrm>
            <a:off x="7589520" y="4709160"/>
            <a:ext cx="4114800" cy="822960"/>
          </a:xfrm>
          <a:prstGeom prst="rect">
            <a:avLst/>
          </a:prstGeom>
          <a:noFill/>
        </p:spPr>
        <p:txBody>
          <a:bodyPr wrap="square" anchor="t" lIns="45720" rIns="45720" tIns="18288" bIns="18288">
            <a:spAutoFit/>
          </a:bodyPr>
          <a:lstStyle/>
          <a:p>
            <a:pPr algn="l"/>
            <a:r>
              <a:rPr sz="1400" b="0" i="0">
                <a:solidFill>
                  <a:srgbClr val="55565A"/>
                </a:solidFill>
                <a:latin typeface="Calibri"/>
              </a:rPr>
              <a:t>Validation set, 133 graduates. Intervals overlap, so simplicity and calibration decide near-ties.</a:t>
            </a:r>
          </a:p>
        </p:txBody>
      </p:sp>
      <p:sp>
        <p:nvSpPr>
          <p:cNvPr id="12" name="Rounded Rectangle 11"/>
          <p:cNvSpPr/>
          <p:nvPr/>
        </p:nvSpPr>
        <p:spPr>
          <a:xfrm>
            <a:off x="7589520" y="5486400"/>
            <a:ext cx="4114800" cy="868680"/>
          </a:xfrm>
          <a:prstGeom prst="roundRect">
            <a:avLst>
              <a:gd name="adj" fmla="val 12000"/>
            </a:avLst>
          </a:prstGeom>
          <a:solidFill>
            <a:srgbClr val="FDEEE6"/>
          </a:solidFill>
          <a:ln w="1270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5486400"/>
            <a:ext cx="3931920" cy="868680"/>
          </a:xfrm>
          <a:prstGeom prst="rect">
            <a:avLst/>
          </a:prstGeom>
          <a:noFill/>
        </p:spPr>
        <p:txBody>
          <a:bodyPr wrap="square" anchor="ctr" lIns="45720" rIns="45720" tIns="18288" bIns="18288">
            <a:spAutoFit/>
          </a:bodyPr>
          <a:lstStyle/>
          <a:p>
            <a:pPr algn="l"/>
            <a:r>
              <a:rPr sz="1400" b="1" i="0">
                <a:solidFill>
                  <a:srgbClr val="EB6834"/>
                </a:solidFill>
                <a:latin typeface="Calibri"/>
              </a:rPr>
              <a:t>0.693 is VALIDATION (used to choose the model). The unbiased TEST result is 0.619, next slide.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The locked test result: honest and moderate</a:t>
            </a:r>
          </a:p>
        </p:txBody>
      </p:sp>
      <p:sp>
        <p:nvSpPr>
          <p:cNvPr id="5" name="Rounded Rectangle 4"/>
          <p:cNvSpPr/>
          <p:nvPr/>
        </p:nvSpPr>
        <p:spPr>
          <a:xfrm>
            <a:off x="10241280" y="292608"/>
            <a:ext cx="1691640" cy="347472"/>
          </a:xfrm>
          <a:prstGeom prst="roundRect">
            <a:avLst>
              <a:gd name="adj" fmla="val 50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RESULTS</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15</a:t>
            </a:r>
          </a:p>
        </p:txBody>
      </p:sp>
      <p:sp>
        <p:nvSpPr>
          <p:cNvPr id="9" name="Rounded Rectangle 8"/>
          <p:cNvSpPr/>
          <p:nvPr/>
        </p:nvSpPr>
        <p:spPr>
          <a:xfrm>
            <a:off x="457200" y="1234440"/>
            <a:ext cx="2286000" cy="160020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344168"/>
            <a:ext cx="45720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417320"/>
            <a:ext cx="2286000" cy="685800"/>
          </a:xfrm>
          <a:prstGeom prst="rect">
            <a:avLst/>
          </a:prstGeom>
          <a:noFill/>
        </p:spPr>
        <p:txBody>
          <a:bodyPr wrap="square" anchor="ctr" lIns="45720" rIns="45720" tIns="18288" bIns="18288">
            <a:spAutoFit/>
          </a:bodyPr>
          <a:lstStyle/>
          <a:p>
            <a:pPr algn="ctr"/>
            <a:r>
              <a:rPr sz="3000" b="1" i="0">
                <a:solidFill>
                  <a:srgbClr val="2A78D6"/>
                </a:solidFill>
                <a:latin typeface="Calibri"/>
              </a:rPr>
              <a:t>0.619</a:t>
            </a:r>
          </a:p>
        </p:txBody>
      </p:sp>
      <p:sp>
        <p:nvSpPr>
          <p:cNvPr id="12" name="TextBox 11"/>
          <p:cNvSpPr txBox="1"/>
          <p:nvPr/>
        </p:nvSpPr>
        <p:spPr>
          <a:xfrm>
            <a:off x="566928" y="2103120"/>
            <a:ext cx="2066544" cy="685800"/>
          </a:xfrm>
          <a:prstGeom prst="rect">
            <a:avLst/>
          </a:prstGeom>
          <a:noFill/>
        </p:spPr>
        <p:txBody>
          <a:bodyPr wrap="square" anchor="t" lIns="45720" rIns="45720" tIns="18288" bIns="18288">
            <a:spAutoFit/>
          </a:bodyPr>
          <a:lstStyle/>
          <a:p>
            <a:pPr algn="ctr"/>
            <a:r>
              <a:rPr sz="1400" b="0" i="0">
                <a:solidFill>
                  <a:srgbClr val="111111"/>
                </a:solidFill>
                <a:latin typeface="Calibri"/>
              </a:rPr>
              <a:t>Uno's C (95% CI 0.557-0.683)</a:t>
            </a:r>
          </a:p>
        </p:txBody>
      </p:sp>
      <p:sp>
        <p:nvSpPr>
          <p:cNvPr id="13" name="Rounded Rectangle 12"/>
          <p:cNvSpPr/>
          <p:nvPr/>
        </p:nvSpPr>
        <p:spPr>
          <a:xfrm>
            <a:off x="2880360" y="1234440"/>
            <a:ext cx="2286000" cy="160020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1344168"/>
            <a:ext cx="457200" cy="54864"/>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360" y="1417320"/>
            <a:ext cx="2286000" cy="685800"/>
          </a:xfrm>
          <a:prstGeom prst="rect">
            <a:avLst/>
          </a:prstGeom>
          <a:noFill/>
        </p:spPr>
        <p:txBody>
          <a:bodyPr wrap="square" anchor="ctr" lIns="45720" rIns="45720" tIns="18288" bIns="18288">
            <a:spAutoFit/>
          </a:bodyPr>
          <a:lstStyle/>
          <a:p>
            <a:pPr algn="ctr"/>
            <a:r>
              <a:rPr sz="2800" b="1" i="0">
                <a:solidFill>
                  <a:srgbClr val="1C5CAB"/>
                </a:solidFill>
                <a:latin typeface="Calibri"/>
              </a:rPr>
              <a:t>~62/100</a:t>
            </a:r>
          </a:p>
        </p:txBody>
      </p:sp>
      <p:sp>
        <p:nvSpPr>
          <p:cNvPr id="16" name="TextBox 15"/>
          <p:cNvSpPr txBox="1"/>
          <p:nvPr/>
        </p:nvSpPr>
        <p:spPr>
          <a:xfrm>
            <a:off x="2990088" y="2103120"/>
            <a:ext cx="2066544" cy="685800"/>
          </a:xfrm>
          <a:prstGeom prst="rect">
            <a:avLst/>
          </a:prstGeom>
          <a:noFill/>
        </p:spPr>
        <p:txBody>
          <a:bodyPr wrap="square" anchor="t" lIns="45720" rIns="45720" tIns="18288" bIns="18288">
            <a:spAutoFit/>
          </a:bodyPr>
          <a:lstStyle/>
          <a:p>
            <a:pPr algn="ctr"/>
            <a:r>
              <a:rPr sz="1400" b="0" i="0">
                <a:solidFill>
                  <a:srgbClr val="111111"/>
                </a:solidFill>
                <a:latin typeface="Calibri"/>
              </a:rPr>
              <a:t>pairs ranked correctly (Harrell 0.626)</a:t>
            </a:r>
          </a:p>
        </p:txBody>
      </p:sp>
      <p:sp>
        <p:nvSpPr>
          <p:cNvPr id="17" name="Rounded Rectangle 16"/>
          <p:cNvSpPr/>
          <p:nvPr/>
        </p:nvSpPr>
        <p:spPr>
          <a:xfrm>
            <a:off x="457200" y="2971800"/>
            <a:ext cx="2286000" cy="160020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081528"/>
            <a:ext cx="457200" cy="54864"/>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154680"/>
            <a:ext cx="2286000" cy="685800"/>
          </a:xfrm>
          <a:prstGeom prst="rect">
            <a:avLst/>
          </a:prstGeom>
          <a:noFill/>
        </p:spPr>
        <p:txBody>
          <a:bodyPr wrap="square" anchor="ctr" lIns="45720" rIns="45720" tIns="18288" bIns="18288">
            <a:spAutoFit/>
          </a:bodyPr>
          <a:lstStyle/>
          <a:p>
            <a:pPr algn="ctr"/>
            <a:r>
              <a:rPr sz="3000" b="1" i="0">
                <a:solidFill>
                  <a:srgbClr val="EB6834"/>
                </a:solidFill>
                <a:latin typeface="Calibri"/>
              </a:rPr>
              <a:t>0.167</a:t>
            </a:r>
          </a:p>
        </p:txBody>
      </p:sp>
      <p:sp>
        <p:nvSpPr>
          <p:cNvPr id="20" name="TextBox 19"/>
          <p:cNvSpPr txBox="1"/>
          <p:nvPr/>
        </p:nvSpPr>
        <p:spPr>
          <a:xfrm>
            <a:off x="566928" y="3840480"/>
            <a:ext cx="2066544" cy="685800"/>
          </a:xfrm>
          <a:prstGeom prst="rect">
            <a:avLst/>
          </a:prstGeom>
          <a:noFill/>
        </p:spPr>
        <p:txBody>
          <a:bodyPr wrap="square" anchor="t" lIns="45720" rIns="45720" tIns="18288" bIns="18288">
            <a:spAutoFit/>
          </a:bodyPr>
          <a:lstStyle/>
          <a:p>
            <a:pPr algn="ctr"/>
            <a:r>
              <a:rPr sz="1400" b="0" i="0">
                <a:solidFill>
                  <a:srgbClr val="111111"/>
                </a:solidFill>
                <a:latin typeface="Calibri"/>
              </a:rPr>
              <a:t>IBS (Kaplan-Meier baseline 0.164)</a:t>
            </a:r>
          </a:p>
        </p:txBody>
      </p:sp>
      <p:sp>
        <p:nvSpPr>
          <p:cNvPr id="21" name="Rounded Rectangle 20"/>
          <p:cNvSpPr/>
          <p:nvPr/>
        </p:nvSpPr>
        <p:spPr>
          <a:xfrm>
            <a:off x="2880360" y="2971800"/>
            <a:ext cx="2286000" cy="160020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108960" y="3081528"/>
            <a:ext cx="457200" cy="54864"/>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80360" y="3154680"/>
            <a:ext cx="2286000" cy="685800"/>
          </a:xfrm>
          <a:prstGeom prst="rect">
            <a:avLst/>
          </a:prstGeom>
          <a:noFill/>
        </p:spPr>
        <p:txBody>
          <a:bodyPr wrap="square" anchor="ctr" lIns="45720" rIns="45720" tIns="18288" bIns="18288">
            <a:spAutoFit/>
          </a:bodyPr>
          <a:lstStyle/>
          <a:p>
            <a:pPr algn="ctr"/>
            <a:r>
              <a:rPr sz="2800" b="1" i="0">
                <a:solidFill>
                  <a:srgbClr val="EB6834"/>
                </a:solidFill>
                <a:latin typeface="Calibri"/>
              </a:rPr>
              <a:t>−17 pts</a:t>
            </a:r>
          </a:p>
        </p:txBody>
      </p:sp>
      <p:sp>
        <p:nvSpPr>
          <p:cNvPr id="24" name="TextBox 23"/>
          <p:cNvSpPr txBox="1"/>
          <p:nvPr/>
        </p:nvSpPr>
        <p:spPr>
          <a:xfrm>
            <a:off x="2990088" y="3840480"/>
            <a:ext cx="2066544" cy="685800"/>
          </a:xfrm>
          <a:prstGeom prst="rect">
            <a:avLst/>
          </a:prstGeom>
          <a:noFill/>
        </p:spPr>
        <p:txBody>
          <a:bodyPr wrap="square" anchor="t" lIns="45720" rIns="45720" tIns="18288" bIns="18288">
            <a:spAutoFit/>
          </a:bodyPr>
          <a:lstStyle/>
          <a:p>
            <a:pPr algn="ctr"/>
            <a:r>
              <a:rPr sz="1400" b="0" i="0">
                <a:solidFill>
                  <a:srgbClr val="111111"/>
                </a:solidFill>
                <a:latin typeface="Calibri"/>
              </a:rPr>
              <a:t>predicted 61% vs observed 77% by 6 months</a:t>
            </a:r>
          </a:p>
        </p:txBody>
      </p:sp>
      <p:pic>
        <p:nvPicPr>
          <p:cNvPr id="25" name="Picture 24" descr="calibration_test.png"/>
          <p:cNvPicPr>
            <a:picLocks noChangeAspect="1"/>
          </p:cNvPicPr>
          <p:nvPr/>
        </p:nvPicPr>
        <p:blipFill>
          <a:blip r:embed="rId3"/>
          <a:stretch>
            <a:fillRect/>
          </a:stretch>
        </p:blipFill>
        <p:spPr>
          <a:xfrm>
            <a:off x="5394960" y="1940357"/>
            <a:ext cx="6492240" cy="2337206"/>
          </a:xfrm>
          <a:prstGeom prst="rect">
            <a:avLst/>
          </a:prstGeom>
          <a:ln w="15875">
            <a:solidFill>
              <a:srgbClr val="C9D6E8"/>
            </a:solidFill>
          </a:ln>
        </p:spPr>
      </p:pic>
      <p:sp>
        <p:nvSpPr>
          <p:cNvPr id="26" name="Rounded Rectangle 25"/>
          <p:cNvSpPr/>
          <p:nvPr/>
        </p:nvSpPr>
        <p:spPr>
          <a:xfrm>
            <a:off x="457200" y="4846320"/>
            <a:ext cx="11430000" cy="1463040"/>
          </a:xfrm>
          <a:prstGeom prst="roundRect">
            <a:avLst>
              <a:gd name="adj" fmla="val 10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937760"/>
            <a:ext cx="10972800" cy="1371600"/>
          </a:xfrm>
          <a:prstGeom prst="rect">
            <a:avLst/>
          </a:prstGeom>
          <a:noFill/>
        </p:spPr>
        <p:txBody>
          <a:bodyPr wrap="square">
            <a:spAutoFit/>
          </a:bodyPr>
          <a:lstStyle/>
          <a:p>
            <a:pPr>
              <a:spcAft>
                <a:spcPts val="500"/>
              </a:spcAft>
            </a:pPr>
            <a:r>
              <a:rPr sz="1700">
                <a:solidFill>
                  <a:srgbClr val="2A78D6"/>
                </a:solidFill>
                <a:latin typeface="Calibri"/>
              </a:rPr>
              <a:t>▪  </a:t>
            </a:r>
            <a:r>
              <a:rPr sz="1700" b="1">
                <a:solidFill>
                  <a:srgbClr val="111111"/>
                </a:solidFill>
                <a:latin typeface="Calibri"/>
              </a:rPr>
              <a:t>Why 0.619, not 0.693</a:t>
            </a:r>
            <a:r>
              <a:rPr sz="1700" b="0">
                <a:solidFill>
                  <a:srgbClr val="111111"/>
                </a:solidFill>
                <a:latin typeface="Calibri"/>
              </a:rPr>
              <a:t>: 0.693 was the validation score used to CHOOSE the model; 0.619 (about 0.62) is the unbiased test score. A drop is expected, and the intervals overlap</a:t>
            </a:r>
          </a:p>
          <a:p>
            <a:pPr>
              <a:spcAft>
                <a:spcPts val="500"/>
              </a:spcAft>
            </a:pPr>
            <a:r>
              <a:rPr sz="1700">
                <a:solidFill>
                  <a:srgbClr val="2A78D6"/>
                </a:solidFill>
                <a:latin typeface="Calibri"/>
              </a:rPr>
              <a:t>▪  </a:t>
            </a:r>
            <a:r>
              <a:rPr sz="1700" b="1">
                <a:solidFill>
                  <a:srgbClr val="111111"/>
                </a:solidFill>
                <a:latin typeface="Calibri"/>
              </a:rPr>
              <a:t>Reading it</a:t>
            </a:r>
            <a:r>
              <a:rPr sz="1700" b="0">
                <a:solidFill>
                  <a:srgbClr val="111111"/>
                </a:solidFill>
                <a:latin typeface="Calibri"/>
              </a:rPr>
              <a:t>: the ranking works; the probabilities are too pessimistic (small sets, faster later cohorts)</a:t>
            </a:r>
          </a:p>
          <a:p>
            <a:pPr>
              <a:spcAft>
                <a:spcPts val="500"/>
              </a:spcAft>
            </a:pPr>
            <a:r>
              <a:rPr sz="1700">
                <a:solidFill>
                  <a:srgbClr val="2A78D6"/>
                </a:solidFill>
                <a:latin typeface="Calibri"/>
              </a:rPr>
              <a:t>▪  </a:t>
            </a:r>
            <a:r>
              <a:rPr sz="1700" b="1">
                <a:solidFill>
                  <a:srgbClr val="111111"/>
                </a:solidFill>
                <a:latin typeface="Calibri"/>
              </a:rPr>
              <a:t>What I did</a:t>
            </a:r>
            <a:r>
              <a:rPr sz="1700" b="0">
                <a:solidFill>
                  <a:srgbClr val="111111"/>
                </a:solidFill>
                <a:latin typeface="Calibri"/>
              </a:rPr>
              <a:t>: reported it, did not re-tune on the test set; the app shows a range first and labels probabilities as indicative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Is it fair and robust? Checks on the locked test set</a:t>
            </a:r>
          </a:p>
        </p:txBody>
      </p:sp>
      <p:sp>
        <p:nvSpPr>
          <p:cNvPr id="5" name="Rounded Rectangle 4"/>
          <p:cNvSpPr/>
          <p:nvPr/>
        </p:nvSpPr>
        <p:spPr>
          <a:xfrm>
            <a:off x="10241280" y="292608"/>
            <a:ext cx="1691640" cy="347472"/>
          </a:xfrm>
          <a:prstGeom prst="roundRect">
            <a:avLst>
              <a:gd name="adj" fmla="val 50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RESULTS</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16</a:t>
            </a:r>
          </a:p>
        </p:txBody>
      </p:sp>
      <p:pic>
        <p:nvPicPr>
          <p:cNvPr id="9" name="Picture 8" descr="fairness.png"/>
          <p:cNvPicPr>
            <a:picLocks noChangeAspect="1"/>
          </p:cNvPicPr>
          <p:nvPr/>
        </p:nvPicPr>
        <p:blipFill>
          <a:blip r:embed="rId3"/>
          <a:stretch>
            <a:fillRect/>
          </a:stretch>
        </p:blipFill>
        <p:spPr>
          <a:xfrm>
            <a:off x="411480" y="1408176"/>
            <a:ext cx="6675120" cy="2670048"/>
          </a:xfrm>
          <a:prstGeom prst="rect">
            <a:avLst/>
          </a:prstGeom>
          <a:ln w="15875">
            <a:solidFill>
              <a:srgbClr val="C9D6E8"/>
            </a:solidFill>
          </a:ln>
        </p:spPr>
      </p:pic>
      <p:pic>
        <p:nvPicPr>
          <p:cNvPr id="10" name="Picture 9" descr="robustness.png"/>
          <p:cNvPicPr>
            <a:picLocks noChangeAspect="1"/>
          </p:cNvPicPr>
          <p:nvPr/>
        </p:nvPicPr>
        <p:blipFill>
          <a:blip r:embed="rId4"/>
          <a:stretch>
            <a:fillRect/>
          </a:stretch>
        </p:blipFill>
        <p:spPr>
          <a:xfrm>
            <a:off x="7223760" y="1270000"/>
            <a:ext cx="4572000" cy="2946400"/>
          </a:xfrm>
          <a:prstGeom prst="rect">
            <a:avLst/>
          </a:prstGeom>
          <a:ln w="15875">
            <a:solidFill>
              <a:srgbClr val="C9D6E8"/>
            </a:solidFill>
          </a:ln>
        </p:spPr>
      </p:pic>
      <p:sp>
        <p:nvSpPr>
          <p:cNvPr id="11" name="Rounded Rectangle 10"/>
          <p:cNvSpPr/>
          <p:nvPr/>
        </p:nvSpPr>
        <p:spPr>
          <a:xfrm>
            <a:off x="502920" y="4572000"/>
            <a:ext cx="3566160" cy="173736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681728"/>
            <a:ext cx="45720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4754880"/>
            <a:ext cx="3566160" cy="685800"/>
          </a:xfrm>
          <a:prstGeom prst="rect">
            <a:avLst/>
          </a:prstGeom>
          <a:noFill/>
        </p:spPr>
        <p:txBody>
          <a:bodyPr wrap="square" anchor="ctr" lIns="45720" rIns="45720" tIns="18288" bIns="18288">
            <a:spAutoFit/>
          </a:bodyPr>
          <a:lstStyle/>
          <a:p>
            <a:pPr algn="ctr"/>
            <a:r>
              <a:rPr sz="2400" b="1" i="0">
                <a:solidFill>
                  <a:srgbClr val="2A78D6"/>
                </a:solidFill>
                <a:latin typeface="Calibri"/>
              </a:rPr>
              <a:t>0.724 vs 0.574</a:t>
            </a:r>
          </a:p>
        </p:txBody>
      </p:sp>
      <p:sp>
        <p:nvSpPr>
          <p:cNvPr id="14" name="TextBox 13"/>
          <p:cNvSpPr txBox="1"/>
          <p:nvPr/>
        </p:nvSpPr>
        <p:spPr>
          <a:xfrm>
            <a:off x="612648" y="5440680"/>
            <a:ext cx="3346704" cy="822960"/>
          </a:xfrm>
          <a:prstGeom prst="rect">
            <a:avLst/>
          </a:prstGeom>
          <a:noFill/>
        </p:spPr>
        <p:txBody>
          <a:bodyPr wrap="square" anchor="t" lIns="45720" rIns="45720" tIns="18288" bIns="18288">
            <a:spAutoFit/>
          </a:bodyPr>
          <a:lstStyle/>
          <a:p>
            <a:pPr algn="ctr"/>
            <a:r>
              <a:rPr sz="1400" b="0" i="0">
                <a:solidFill>
                  <a:srgbClr val="111111"/>
                </a:solidFill>
                <a:latin typeface="Calibri"/>
              </a:rPr>
              <a:t>women vs men Uno's C; intervals overlap; gender never a model input</a:t>
            </a:r>
          </a:p>
        </p:txBody>
      </p:sp>
      <p:sp>
        <p:nvSpPr>
          <p:cNvPr id="15" name="Rounded Rectangle 14"/>
          <p:cNvSpPr/>
          <p:nvPr/>
        </p:nvSpPr>
        <p:spPr>
          <a:xfrm>
            <a:off x="4251960" y="4572000"/>
            <a:ext cx="3566160" cy="173736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4681728"/>
            <a:ext cx="457200" cy="54864"/>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4754880"/>
            <a:ext cx="3566160" cy="685800"/>
          </a:xfrm>
          <a:prstGeom prst="rect">
            <a:avLst/>
          </a:prstGeom>
          <a:noFill/>
        </p:spPr>
        <p:txBody>
          <a:bodyPr wrap="square" anchor="ctr" lIns="45720" rIns="45720" tIns="18288" bIns="18288">
            <a:spAutoFit/>
          </a:bodyPr>
          <a:lstStyle/>
          <a:p>
            <a:pPr algn="ctr"/>
            <a:r>
              <a:rPr sz="2400" b="1" i="0">
                <a:solidFill>
                  <a:srgbClr val="1BAF7A"/>
                </a:solidFill>
                <a:latin typeface="Calibri"/>
              </a:rPr>
              <a:t>0.659 - 0.707</a:t>
            </a:r>
          </a:p>
        </p:txBody>
      </p:sp>
      <p:sp>
        <p:nvSpPr>
          <p:cNvPr id="18" name="TextBox 17"/>
          <p:cNvSpPr txBox="1"/>
          <p:nvPr/>
        </p:nvSpPr>
        <p:spPr>
          <a:xfrm>
            <a:off x="4361688" y="5440680"/>
            <a:ext cx="3346704" cy="822960"/>
          </a:xfrm>
          <a:prstGeom prst="rect">
            <a:avLst/>
          </a:prstGeom>
          <a:noFill/>
        </p:spPr>
        <p:txBody>
          <a:bodyPr wrap="square" anchor="t" lIns="45720" rIns="45720" tIns="18288" bIns="18288">
            <a:spAutoFit/>
          </a:bodyPr>
          <a:lstStyle/>
          <a:p>
            <a:pPr algn="ctr"/>
            <a:r>
              <a:rPr sz="1400" b="0" i="0">
                <a:solidFill>
                  <a:srgbClr val="111111"/>
                </a:solidFill>
                <a:latin typeface="Calibri"/>
              </a:rPr>
              <a:t>validation C across data-cleaning variants (main 0.693)</a:t>
            </a:r>
          </a:p>
        </p:txBody>
      </p:sp>
      <p:sp>
        <p:nvSpPr>
          <p:cNvPr id="19" name="Rounded Rectangle 18"/>
          <p:cNvSpPr/>
          <p:nvPr/>
        </p:nvSpPr>
        <p:spPr>
          <a:xfrm>
            <a:off x="8001000" y="4572000"/>
            <a:ext cx="3566160" cy="173736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4681728"/>
            <a:ext cx="457200" cy="54864"/>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01000" y="4754880"/>
            <a:ext cx="3566160" cy="685800"/>
          </a:xfrm>
          <a:prstGeom prst="rect">
            <a:avLst/>
          </a:prstGeom>
          <a:noFill/>
        </p:spPr>
        <p:txBody>
          <a:bodyPr wrap="square" anchor="ctr" lIns="45720" rIns="45720" tIns="18288" bIns="18288">
            <a:spAutoFit/>
          </a:bodyPr>
          <a:lstStyle/>
          <a:p>
            <a:pPr algn="ctr"/>
            <a:r>
              <a:rPr sz="2800" b="1" i="0">
                <a:solidFill>
                  <a:srgbClr val="1C5CAB"/>
                </a:solidFill>
                <a:latin typeface="Calibri"/>
              </a:rPr>
              <a:t>C 0.72</a:t>
            </a:r>
          </a:p>
        </p:txBody>
      </p:sp>
      <p:sp>
        <p:nvSpPr>
          <p:cNvPr id="22" name="TextBox 21"/>
          <p:cNvSpPr txBox="1"/>
          <p:nvPr/>
        </p:nvSpPr>
        <p:spPr>
          <a:xfrm>
            <a:off x="8110728" y="5440680"/>
            <a:ext cx="3346704" cy="822960"/>
          </a:xfrm>
          <a:prstGeom prst="rect">
            <a:avLst/>
          </a:prstGeom>
          <a:noFill/>
        </p:spPr>
        <p:txBody>
          <a:bodyPr wrap="square" anchor="t" lIns="45720" rIns="45720" tIns="18288" bIns="18288">
            <a:spAutoFit/>
          </a:bodyPr>
          <a:lstStyle/>
          <a:p>
            <a:pPr algn="ctr"/>
            <a:r>
              <a:rPr sz="1400" b="0" i="0">
                <a:solidFill>
                  <a:srgbClr val="111111"/>
                </a:solidFill>
                <a:latin typeface="Calibri"/>
              </a:rPr>
              <a:t>trained on earlier cohorts, tested on later ones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RQ1: GPA and internships are linked to a faster first job</a:t>
            </a:r>
          </a:p>
        </p:txBody>
      </p:sp>
      <p:sp>
        <p:nvSpPr>
          <p:cNvPr id="5" name="Rounded Rectangle 4"/>
          <p:cNvSpPr/>
          <p:nvPr/>
        </p:nvSpPr>
        <p:spPr>
          <a:xfrm>
            <a:off x="10241280" y="292608"/>
            <a:ext cx="1691640" cy="347472"/>
          </a:xfrm>
          <a:prstGeom prst="roundRect">
            <a:avLst>
              <a:gd name="adj" fmla="val 50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RESULTS</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17</a:t>
            </a:r>
          </a:p>
        </p:txBody>
      </p:sp>
      <p:sp>
        <p:nvSpPr>
          <p:cNvPr id="9" name="TextBox 8"/>
          <p:cNvSpPr txBox="1"/>
          <p:nvPr/>
        </p:nvSpPr>
        <p:spPr>
          <a:xfrm>
            <a:off x="457200" y="1051560"/>
            <a:ext cx="7132320" cy="365760"/>
          </a:xfrm>
          <a:prstGeom prst="rect">
            <a:avLst/>
          </a:prstGeom>
          <a:noFill/>
        </p:spPr>
        <p:txBody>
          <a:bodyPr wrap="square" anchor="t" lIns="45720" rIns="45720" tIns="18288" bIns="18288">
            <a:spAutoFit/>
          </a:bodyPr>
          <a:lstStyle/>
          <a:p>
            <a:pPr algn="l"/>
            <a:r>
              <a:rPr sz="1500" b="1" i="0">
                <a:solidFill>
                  <a:srgbClr val="0D366B"/>
                </a:solidFill>
                <a:latin typeface="Calibri"/>
              </a:rPr>
              <a:t>Time ratio per 1 SD (95% CI): left of 1 = shorter search</a:t>
            </a:r>
          </a:p>
        </p:txBody>
      </p:sp>
      <p:sp>
        <p:nvSpPr>
          <p:cNvPr id="10" name="TextBox 9"/>
          <p:cNvSpPr txBox="1"/>
          <p:nvPr/>
        </p:nvSpPr>
        <p:spPr>
          <a:xfrm>
            <a:off x="457200" y="1618488"/>
            <a:ext cx="3017520" cy="365760"/>
          </a:xfrm>
          <a:prstGeom prst="rect">
            <a:avLst/>
          </a:prstGeom>
          <a:noFill/>
        </p:spPr>
        <p:txBody>
          <a:bodyPr wrap="square" anchor="t" lIns="45720" rIns="45720" tIns="18288" bIns="18288">
            <a:spAutoFit/>
          </a:bodyPr>
          <a:lstStyle/>
          <a:p>
            <a:pPr algn="r"/>
            <a:r>
              <a:rPr sz="1600" b="1" i="0">
                <a:solidFill>
                  <a:srgbClr val="111111"/>
                </a:solidFill>
                <a:latin typeface="Calibri"/>
              </a:rPr>
              <a:t>GPA</a:t>
            </a:r>
          </a:p>
        </p:txBody>
      </p:sp>
      <p:cxnSp>
        <p:nvCxnSpPr>
          <p:cNvPr id="11" name="Connector 10"/>
          <p:cNvCxnSpPr/>
          <p:nvPr/>
        </p:nvCxnSpPr>
        <p:spPr>
          <a:xfrm>
            <a:off x="4140925" y="1801368"/>
            <a:ext cx="1264485" cy="0"/>
          </a:xfrm>
          <a:prstGeom prst="line">
            <a:avLst/>
          </a:prstGeom>
          <a:ln w="38100">
            <a:solidFill>
              <a:srgbClr val="1BAF7A"/>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615107" y="1700784"/>
            <a:ext cx="201168" cy="20116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1618488"/>
            <a:ext cx="1371600" cy="365760"/>
          </a:xfrm>
          <a:prstGeom prst="rect">
            <a:avLst/>
          </a:prstGeom>
          <a:noFill/>
        </p:spPr>
        <p:txBody>
          <a:bodyPr wrap="square" anchor="t" lIns="45720" rIns="45720" tIns="18288" bIns="18288">
            <a:spAutoFit/>
          </a:bodyPr>
          <a:lstStyle/>
          <a:p>
            <a:pPr algn="l"/>
            <a:r>
              <a:rPr sz="1500" b="1" i="0">
                <a:solidFill>
                  <a:srgbClr val="1BAF7A"/>
                </a:solidFill>
                <a:latin typeface="Calibri"/>
              </a:rPr>
              <a:t>0.80</a:t>
            </a:r>
          </a:p>
        </p:txBody>
      </p:sp>
      <p:sp>
        <p:nvSpPr>
          <p:cNvPr id="14" name="TextBox 13"/>
          <p:cNvSpPr txBox="1"/>
          <p:nvPr/>
        </p:nvSpPr>
        <p:spPr>
          <a:xfrm>
            <a:off x="457200" y="2148840"/>
            <a:ext cx="3017520" cy="365760"/>
          </a:xfrm>
          <a:prstGeom prst="rect">
            <a:avLst/>
          </a:prstGeom>
          <a:noFill/>
        </p:spPr>
        <p:txBody>
          <a:bodyPr wrap="square" anchor="t" lIns="45720" rIns="45720" tIns="18288" bIns="18288">
            <a:spAutoFit/>
          </a:bodyPr>
          <a:lstStyle/>
          <a:p>
            <a:pPr algn="r"/>
            <a:r>
              <a:rPr sz="1600" b="1" i="0">
                <a:solidFill>
                  <a:srgbClr val="111111"/>
                </a:solidFill>
                <a:latin typeface="Calibri"/>
              </a:rPr>
              <a:t>Internship months</a:t>
            </a:r>
          </a:p>
        </p:txBody>
      </p:sp>
      <p:cxnSp>
        <p:nvCxnSpPr>
          <p:cNvPr id="15" name="Connector 14"/>
          <p:cNvCxnSpPr/>
          <p:nvPr/>
        </p:nvCxnSpPr>
        <p:spPr>
          <a:xfrm>
            <a:off x="4485785" y="2331720"/>
            <a:ext cx="1034578" cy="0"/>
          </a:xfrm>
          <a:prstGeom prst="line">
            <a:avLst/>
          </a:prstGeom>
          <a:ln w="38100">
            <a:solidFill>
              <a:srgbClr val="1BAF7A"/>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845013" y="2231136"/>
            <a:ext cx="201168" cy="20116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2148840"/>
            <a:ext cx="1371600" cy="365760"/>
          </a:xfrm>
          <a:prstGeom prst="rect">
            <a:avLst/>
          </a:prstGeom>
          <a:noFill/>
        </p:spPr>
        <p:txBody>
          <a:bodyPr wrap="square" anchor="t" lIns="45720" rIns="45720" tIns="18288" bIns="18288">
            <a:spAutoFit/>
          </a:bodyPr>
          <a:lstStyle/>
          <a:p>
            <a:pPr algn="l"/>
            <a:r>
              <a:rPr sz="1500" b="1" i="0">
                <a:solidFill>
                  <a:srgbClr val="1BAF7A"/>
                </a:solidFill>
                <a:latin typeface="Calibri"/>
              </a:rPr>
              <a:t>0.84</a:t>
            </a:r>
          </a:p>
        </p:txBody>
      </p:sp>
      <p:sp>
        <p:nvSpPr>
          <p:cNvPr id="18" name="TextBox 17"/>
          <p:cNvSpPr txBox="1"/>
          <p:nvPr/>
        </p:nvSpPr>
        <p:spPr>
          <a:xfrm>
            <a:off x="457200" y="2679192"/>
            <a:ext cx="3017520" cy="365760"/>
          </a:xfrm>
          <a:prstGeom prst="rect">
            <a:avLst/>
          </a:prstGeom>
          <a:noFill/>
        </p:spPr>
        <p:txBody>
          <a:bodyPr wrap="square" anchor="t" lIns="45720" rIns="45720" tIns="18288" bIns="18288">
            <a:spAutoFit/>
          </a:bodyPr>
          <a:lstStyle/>
          <a:p>
            <a:pPr algn="r"/>
            <a:r>
              <a:rPr sz="1600" b="0" i="0">
                <a:solidFill>
                  <a:srgbClr val="111111"/>
                </a:solidFill>
                <a:latin typeface="Calibri"/>
              </a:rPr>
              <a:t>Technical skills</a:t>
            </a:r>
          </a:p>
        </p:txBody>
      </p:sp>
      <p:cxnSp>
        <p:nvCxnSpPr>
          <p:cNvPr id="19" name="Connector 18"/>
          <p:cNvCxnSpPr/>
          <p:nvPr/>
        </p:nvCxnSpPr>
        <p:spPr>
          <a:xfrm>
            <a:off x="4658214" y="2862072"/>
            <a:ext cx="1666821" cy="0"/>
          </a:xfrm>
          <a:prstGeom prst="line">
            <a:avLst/>
          </a:prstGeom>
          <a:ln w="38100">
            <a:solidFill>
              <a:srgbClr val="55565A"/>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304826" y="2761488"/>
            <a:ext cx="201168" cy="201168"/>
          </a:xfrm>
          <a:prstGeom prst="ellipse">
            <a:avLst/>
          </a:prstGeom>
          <a:solidFill>
            <a:srgbClr val="555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2679192"/>
            <a:ext cx="1371600" cy="365760"/>
          </a:xfrm>
          <a:prstGeom prst="rect">
            <a:avLst/>
          </a:prstGeom>
          <a:noFill/>
        </p:spPr>
        <p:txBody>
          <a:bodyPr wrap="square" anchor="t" lIns="45720" rIns="45720" tIns="18288" bIns="18288">
            <a:spAutoFit/>
          </a:bodyPr>
          <a:lstStyle/>
          <a:p>
            <a:pPr algn="l"/>
            <a:r>
              <a:rPr sz="1500" b="0" i="0">
                <a:solidFill>
                  <a:srgbClr val="55565A"/>
                </a:solidFill>
                <a:latin typeface="Calibri"/>
              </a:rPr>
              <a:t>0.92</a:t>
            </a:r>
          </a:p>
        </p:txBody>
      </p:sp>
      <p:sp>
        <p:nvSpPr>
          <p:cNvPr id="22" name="TextBox 21"/>
          <p:cNvSpPr txBox="1"/>
          <p:nvPr/>
        </p:nvSpPr>
        <p:spPr>
          <a:xfrm>
            <a:off x="457200" y="3209544"/>
            <a:ext cx="3017520" cy="365760"/>
          </a:xfrm>
          <a:prstGeom prst="rect">
            <a:avLst/>
          </a:prstGeom>
          <a:noFill/>
        </p:spPr>
        <p:txBody>
          <a:bodyPr wrap="square" anchor="t" lIns="45720" rIns="45720" tIns="18288" bIns="18288">
            <a:spAutoFit/>
          </a:bodyPr>
          <a:lstStyle/>
          <a:p>
            <a:pPr algn="r"/>
            <a:r>
              <a:rPr sz="1600" b="0" i="0">
                <a:solidFill>
                  <a:srgbClr val="111111"/>
                </a:solidFill>
                <a:latin typeface="Calibri"/>
              </a:rPr>
              <a:t>Certifications</a:t>
            </a:r>
          </a:p>
        </p:txBody>
      </p:sp>
      <p:cxnSp>
        <p:nvCxnSpPr>
          <p:cNvPr id="23" name="Connector 22"/>
          <p:cNvCxnSpPr/>
          <p:nvPr/>
        </p:nvCxnSpPr>
        <p:spPr>
          <a:xfrm>
            <a:off x="5060550" y="3392424"/>
            <a:ext cx="1092055" cy="0"/>
          </a:xfrm>
          <a:prstGeom prst="line">
            <a:avLst/>
          </a:prstGeom>
          <a:ln w="38100">
            <a:solidFill>
              <a:srgbClr val="55565A"/>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5477255" y="3291840"/>
            <a:ext cx="201168" cy="201168"/>
          </a:xfrm>
          <a:prstGeom prst="ellipse">
            <a:avLst/>
          </a:prstGeom>
          <a:solidFill>
            <a:srgbClr val="555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0" y="3209544"/>
            <a:ext cx="1371600" cy="365760"/>
          </a:xfrm>
          <a:prstGeom prst="rect">
            <a:avLst/>
          </a:prstGeom>
          <a:noFill/>
        </p:spPr>
        <p:txBody>
          <a:bodyPr wrap="square" anchor="t" lIns="45720" rIns="45720" tIns="18288" bIns="18288">
            <a:spAutoFit/>
          </a:bodyPr>
          <a:lstStyle/>
          <a:p>
            <a:pPr algn="l"/>
            <a:r>
              <a:rPr sz="1500" b="0" i="0">
                <a:solidFill>
                  <a:srgbClr val="55565A"/>
                </a:solidFill>
                <a:latin typeface="Calibri"/>
              </a:rPr>
              <a:t>0.95</a:t>
            </a:r>
          </a:p>
        </p:txBody>
      </p:sp>
      <p:sp>
        <p:nvSpPr>
          <p:cNvPr id="26" name="TextBox 25"/>
          <p:cNvSpPr txBox="1"/>
          <p:nvPr/>
        </p:nvSpPr>
        <p:spPr>
          <a:xfrm>
            <a:off x="457200" y="3739896"/>
            <a:ext cx="3017520" cy="365760"/>
          </a:xfrm>
          <a:prstGeom prst="rect">
            <a:avLst/>
          </a:prstGeom>
          <a:noFill/>
        </p:spPr>
        <p:txBody>
          <a:bodyPr wrap="square" anchor="t" lIns="45720" rIns="45720" tIns="18288" bIns="18288">
            <a:spAutoFit/>
          </a:bodyPr>
          <a:lstStyle/>
          <a:p>
            <a:pPr algn="r"/>
            <a:r>
              <a:rPr sz="1600" b="0" i="0">
                <a:solidFill>
                  <a:srgbClr val="111111"/>
                </a:solidFill>
                <a:latin typeface="Calibri"/>
              </a:rPr>
              <a:t>Portfolio</a:t>
            </a:r>
          </a:p>
        </p:txBody>
      </p:sp>
      <p:cxnSp>
        <p:nvCxnSpPr>
          <p:cNvPr id="27" name="Connector 26"/>
          <p:cNvCxnSpPr/>
          <p:nvPr/>
        </p:nvCxnSpPr>
        <p:spPr>
          <a:xfrm>
            <a:off x="5003074" y="3922776"/>
            <a:ext cx="1207008" cy="0"/>
          </a:xfrm>
          <a:prstGeom prst="line">
            <a:avLst/>
          </a:prstGeom>
          <a:ln w="38100">
            <a:solidFill>
              <a:srgbClr val="55565A"/>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5477255" y="3822192"/>
            <a:ext cx="201168" cy="201168"/>
          </a:xfrm>
          <a:prstGeom prst="ellipse">
            <a:avLst/>
          </a:prstGeom>
          <a:solidFill>
            <a:srgbClr val="555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3739896"/>
            <a:ext cx="1371600" cy="365760"/>
          </a:xfrm>
          <a:prstGeom prst="rect">
            <a:avLst/>
          </a:prstGeom>
          <a:noFill/>
        </p:spPr>
        <p:txBody>
          <a:bodyPr wrap="square" anchor="t" lIns="45720" rIns="45720" tIns="18288" bIns="18288">
            <a:spAutoFit/>
          </a:bodyPr>
          <a:lstStyle/>
          <a:p>
            <a:pPr algn="l"/>
            <a:r>
              <a:rPr sz="1500" b="0" i="0">
                <a:solidFill>
                  <a:srgbClr val="55565A"/>
                </a:solidFill>
                <a:latin typeface="Calibri"/>
              </a:rPr>
              <a:t>0.95</a:t>
            </a:r>
          </a:p>
        </p:txBody>
      </p:sp>
      <p:sp>
        <p:nvSpPr>
          <p:cNvPr id="30" name="TextBox 29"/>
          <p:cNvSpPr txBox="1"/>
          <p:nvPr/>
        </p:nvSpPr>
        <p:spPr>
          <a:xfrm>
            <a:off x="457200" y="4270248"/>
            <a:ext cx="3017520" cy="365760"/>
          </a:xfrm>
          <a:prstGeom prst="rect">
            <a:avLst/>
          </a:prstGeom>
          <a:noFill/>
        </p:spPr>
        <p:txBody>
          <a:bodyPr wrap="square" anchor="t" lIns="45720" rIns="45720" tIns="18288" bIns="18288">
            <a:spAutoFit/>
          </a:bodyPr>
          <a:lstStyle/>
          <a:p>
            <a:pPr algn="r"/>
            <a:r>
              <a:rPr sz="1600" b="0" i="0">
                <a:solidFill>
                  <a:srgbClr val="111111"/>
                </a:solidFill>
                <a:latin typeface="Calibri"/>
              </a:rPr>
              <a:t>Soft skills</a:t>
            </a:r>
          </a:p>
        </p:txBody>
      </p:sp>
      <p:cxnSp>
        <p:nvCxnSpPr>
          <p:cNvPr id="31" name="Connector 30"/>
          <p:cNvCxnSpPr/>
          <p:nvPr/>
        </p:nvCxnSpPr>
        <p:spPr>
          <a:xfrm>
            <a:off x="5003074" y="4453128"/>
            <a:ext cx="1436914" cy="0"/>
          </a:xfrm>
          <a:prstGeom prst="line">
            <a:avLst/>
          </a:prstGeom>
          <a:ln w="38100">
            <a:solidFill>
              <a:srgbClr val="55565A"/>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5592209" y="4352544"/>
            <a:ext cx="201168" cy="201168"/>
          </a:xfrm>
          <a:prstGeom prst="ellipse">
            <a:avLst/>
          </a:prstGeom>
          <a:solidFill>
            <a:srgbClr val="555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0" y="4270248"/>
            <a:ext cx="1371600" cy="365760"/>
          </a:xfrm>
          <a:prstGeom prst="rect">
            <a:avLst/>
          </a:prstGeom>
          <a:noFill/>
        </p:spPr>
        <p:txBody>
          <a:bodyPr wrap="square" anchor="t" lIns="45720" rIns="45720" tIns="18288" bIns="18288">
            <a:spAutoFit/>
          </a:bodyPr>
          <a:lstStyle/>
          <a:p>
            <a:pPr algn="l"/>
            <a:r>
              <a:rPr sz="1500" b="0" i="0">
                <a:solidFill>
                  <a:srgbClr val="55565A"/>
                </a:solidFill>
                <a:latin typeface="Calibri"/>
              </a:rPr>
              <a:t>0.97</a:t>
            </a:r>
          </a:p>
        </p:txBody>
      </p:sp>
      <p:sp>
        <p:nvSpPr>
          <p:cNvPr id="34" name="TextBox 33"/>
          <p:cNvSpPr txBox="1"/>
          <p:nvPr/>
        </p:nvSpPr>
        <p:spPr>
          <a:xfrm>
            <a:off x="457200" y="4800599"/>
            <a:ext cx="3017520" cy="365760"/>
          </a:xfrm>
          <a:prstGeom prst="rect">
            <a:avLst/>
          </a:prstGeom>
          <a:noFill/>
        </p:spPr>
        <p:txBody>
          <a:bodyPr wrap="square" anchor="t" lIns="45720" rIns="45720" tIns="18288" bIns="18288">
            <a:spAutoFit/>
          </a:bodyPr>
          <a:lstStyle/>
          <a:p>
            <a:pPr algn="r"/>
            <a:r>
              <a:rPr sz="1600" b="0" i="0">
                <a:solidFill>
                  <a:srgbClr val="111111"/>
                </a:solidFill>
                <a:latin typeface="Calibri"/>
              </a:rPr>
              <a:t>Non-state institution</a:t>
            </a:r>
          </a:p>
        </p:txBody>
      </p:sp>
      <p:cxnSp>
        <p:nvCxnSpPr>
          <p:cNvPr id="35" name="Connector 34"/>
          <p:cNvCxnSpPr/>
          <p:nvPr/>
        </p:nvCxnSpPr>
        <p:spPr>
          <a:xfrm>
            <a:off x="3853542" y="4983479"/>
            <a:ext cx="2816352" cy="0"/>
          </a:xfrm>
          <a:prstGeom prst="line">
            <a:avLst/>
          </a:prstGeom>
          <a:ln w="38100">
            <a:solidFill>
              <a:srgbClr val="55565A"/>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4959966" y="4882895"/>
            <a:ext cx="201168" cy="201168"/>
          </a:xfrm>
          <a:prstGeom prst="ellipse">
            <a:avLst/>
          </a:prstGeom>
          <a:solidFill>
            <a:srgbClr val="555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0" y="4800599"/>
            <a:ext cx="1371600" cy="365760"/>
          </a:xfrm>
          <a:prstGeom prst="rect">
            <a:avLst/>
          </a:prstGeom>
          <a:noFill/>
        </p:spPr>
        <p:txBody>
          <a:bodyPr wrap="square" anchor="t" lIns="45720" rIns="45720" tIns="18288" bIns="18288">
            <a:spAutoFit/>
          </a:bodyPr>
          <a:lstStyle/>
          <a:p>
            <a:pPr algn="l"/>
            <a:r>
              <a:rPr sz="1500" b="0" i="0">
                <a:solidFill>
                  <a:srgbClr val="55565A"/>
                </a:solidFill>
                <a:latin typeface="Calibri"/>
              </a:rPr>
              <a:t>0.86</a:t>
            </a:r>
          </a:p>
        </p:txBody>
      </p:sp>
      <p:sp>
        <p:nvSpPr>
          <p:cNvPr id="38" name="TextBox 37"/>
          <p:cNvSpPr txBox="1"/>
          <p:nvPr/>
        </p:nvSpPr>
        <p:spPr>
          <a:xfrm>
            <a:off x="457200" y="5330951"/>
            <a:ext cx="3017520" cy="365760"/>
          </a:xfrm>
          <a:prstGeom prst="rect">
            <a:avLst/>
          </a:prstGeom>
          <a:noFill/>
        </p:spPr>
        <p:txBody>
          <a:bodyPr wrap="square" anchor="t" lIns="45720" rIns="45720" tIns="18288" bIns="18288">
            <a:spAutoFit/>
          </a:bodyPr>
          <a:lstStyle/>
          <a:p>
            <a:pPr algn="r"/>
            <a:r>
              <a:rPr sz="1600" b="0" i="0">
                <a:solidFill>
                  <a:srgbClr val="111111"/>
                </a:solidFill>
                <a:latin typeface="Calibri"/>
              </a:rPr>
              <a:t>Hackathons</a:t>
            </a:r>
          </a:p>
        </p:txBody>
      </p:sp>
      <p:cxnSp>
        <p:nvCxnSpPr>
          <p:cNvPr id="39" name="Connector 38"/>
          <p:cNvCxnSpPr/>
          <p:nvPr/>
        </p:nvCxnSpPr>
        <p:spPr>
          <a:xfrm>
            <a:off x="5003074" y="5513831"/>
            <a:ext cx="1264484" cy="0"/>
          </a:xfrm>
          <a:prstGeom prst="line">
            <a:avLst/>
          </a:prstGeom>
          <a:ln w="38100">
            <a:solidFill>
              <a:srgbClr val="55565A"/>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5534732" y="5413247"/>
            <a:ext cx="201168" cy="201168"/>
          </a:xfrm>
          <a:prstGeom prst="ellipse">
            <a:avLst/>
          </a:prstGeom>
          <a:solidFill>
            <a:srgbClr val="555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0" y="5330951"/>
            <a:ext cx="1371600" cy="365760"/>
          </a:xfrm>
          <a:prstGeom prst="rect">
            <a:avLst/>
          </a:prstGeom>
          <a:noFill/>
        </p:spPr>
        <p:txBody>
          <a:bodyPr wrap="square" anchor="t" lIns="45720" rIns="45720" tIns="18288" bIns="18288">
            <a:spAutoFit/>
          </a:bodyPr>
          <a:lstStyle/>
          <a:p>
            <a:pPr algn="l"/>
            <a:r>
              <a:rPr sz="1500" b="0" i="0">
                <a:solidFill>
                  <a:srgbClr val="55565A"/>
                </a:solidFill>
                <a:latin typeface="Calibri"/>
              </a:rPr>
              <a:t>0.96</a:t>
            </a:r>
          </a:p>
        </p:txBody>
      </p:sp>
      <p:cxnSp>
        <p:nvCxnSpPr>
          <p:cNvPr id="42" name="Connector 41"/>
          <p:cNvCxnSpPr/>
          <p:nvPr/>
        </p:nvCxnSpPr>
        <p:spPr>
          <a:xfrm>
            <a:off x="5865222" y="1508760"/>
            <a:ext cx="0" cy="4434840"/>
          </a:xfrm>
          <a:prstGeom prst="line">
            <a:avLst/>
          </a:prstGeom>
          <a:ln w="25400">
            <a:solidFill>
              <a:srgbClr val="EB6834"/>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316582" y="5943600"/>
            <a:ext cx="1097280" cy="274320"/>
          </a:xfrm>
          <a:prstGeom prst="rect">
            <a:avLst/>
          </a:prstGeom>
          <a:noFill/>
        </p:spPr>
        <p:txBody>
          <a:bodyPr wrap="square" anchor="t" lIns="45720" rIns="45720" tIns="18288" bIns="18288">
            <a:spAutoFit/>
          </a:bodyPr>
          <a:lstStyle/>
          <a:p>
            <a:pPr algn="ctr"/>
            <a:r>
              <a:rPr sz="1200" b="0" i="0">
                <a:solidFill>
                  <a:srgbClr val="EB6834"/>
                </a:solidFill>
                <a:latin typeface="Calibri"/>
              </a:rPr>
              <a:t>no effect = 1</a:t>
            </a:r>
          </a:p>
        </p:txBody>
      </p:sp>
      <p:pic>
        <p:nvPicPr>
          <p:cNvPr id="44" name="Picture 43" descr="fig2_km_gpa.png"/>
          <p:cNvPicPr>
            <a:picLocks noChangeAspect="1"/>
          </p:cNvPicPr>
          <p:nvPr/>
        </p:nvPicPr>
        <p:blipFill>
          <a:blip r:embed="rId3"/>
          <a:stretch>
            <a:fillRect/>
          </a:stretch>
        </p:blipFill>
        <p:spPr>
          <a:xfrm>
            <a:off x="8366760" y="1383414"/>
            <a:ext cx="3657600" cy="2262372"/>
          </a:xfrm>
          <a:prstGeom prst="rect">
            <a:avLst/>
          </a:prstGeom>
        </p:spPr>
      </p:pic>
      <p:sp>
        <p:nvSpPr>
          <p:cNvPr id="45" name="TextBox 44"/>
          <p:cNvSpPr txBox="1"/>
          <p:nvPr/>
        </p:nvSpPr>
        <p:spPr>
          <a:xfrm>
            <a:off x="8366760" y="3749039"/>
            <a:ext cx="3657600" cy="822960"/>
          </a:xfrm>
          <a:prstGeom prst="rect">
            <a:avLst/>
          </a:prstGeom>
          <a:noFill/>
        </p:spPr>
        <p:txBody>
          <a:bodyPr wrap="square" anchor="t" lIns="45720" rIns="45720" tIns="18288" bIns="18288">
            <a:spAutoFit/>
          </a:bodyPr>
          <a:lstStyle/>
          <a:p>
            <a:pPr algn="l"/>
            <a:r>
              <a:rPr sz="1300" b="0" i="0">
                <a:solidFill>
                  <a:srgbClr val="55565A"/>
                </a:solidFill>
                <a:latin typeface="Calibri"/>
              </a:rPr>
              <a:t>Kaplan-Meier by GPA: median 4 months (GPA ≥ 3.0) vs 7 months (below)</a:t>
            </a:r>
          </a:p>
        </p:txBody>
      </p:sp>
      <p:sp>
        <p:nvSpPr>
          <p:cNvPr id="46" name="Rounded Rectangle 45"/>
          <p:cNvSpPr/>
          <p:nvPr/>
        </p:nvSpPr>
        <p:spPr>
          <a:xfrm>
            <a:off x="8366760" y="4572000"/>
            <a:ext cx="1737360" cy="146304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595360" y="4681728"/>
            <a:ext cx="457200" cy="54864"/>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66760" y="4754880"/>
            <a:ext cx="1737360" cy="685800"/>
          </a:xfrm>
          <a:prstGeom prst="rect">
            <a:avLst/>
          </a:prstGeom>
          <a:noFill/>
        </p:spPr>
        <p:txBody>
          <a:bodyPr wrap="square" anchor="ctr" lIns="45720" rIns="45720" tIns="18288" bIns="18288">
            <a:spAutoFit/>
          </a:bodyPr>
          <a:lstStyle/>
          <a:p>
            <a:pPr algn="ctr"/>
            <a:r>
              <a:rPr sz="2600" b="1" i="0">
                <a:solidFill>
                  <a:srgbClr val="1BAF7A"/>
                </a:solidFill>
                <a:latin typeface="Calibri"/>
              </a:rPr>
              <a:t>−20%</a:t>
            </a:r>
          </a:p>
        </p:txBody>
      </p:sp>
      <p:sp>
        <p:nvSpPr>
          <p:cNvPr id="49" name="TextBox 48"/>
          <p:cNvSpPr txBox="1"/>
          <p:nvPr/>
        </p:nvSpPr>
        <p:spPr>
          <a:xfrm>
            <a:off x="8476488" y="5440680"/>
            <a:ext cx="1517904" cy="548640"/>
          </a:xfrm>
          <a:prstGeom prst="rect">
            <a:avLst/>
          </a:prstGeom>
          <a:noFill/>
        </p:spPr>
        <p:txBody>
          <a:bodyPr wrap="square" anchor="t" lIns="45720" rIns="45720" tIns="18288" bIns="18288">
            <a:spAutoFit/>
          </a:bodyPr>
          <a:lstStyle/>
          <a:p>
            <a:pPr algn="ctr"/>
            <a:r>
              <a:rPr sz="1400" b="0" i="0">
                <a:solidFill>
                  <a:srgbClr val="111111"/>
                </a:solidFill>
                <a:latin typeface="Calibri"/>
              </a:rPr>
              <a:t>search per SD of GPA</a:t>
            </a:r>
          </a:p>
        </p:txBody>
      </p:sp>
      <p:sp>
        <p:nvSpPr>
          <p:cNvPr id="50" name="Rounded Rectangle 49"/>
          <p:cNvSpPr/>
          <p:nvPr/>
        </p:nvSpPr>
        <p:spPr>
          <a:xfrm>
            <a:off x="10195560" y="4572000"/>
            <a:ext cx="1737360" cy="146304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424160" y="4681728"/>
            <a:ext cx="457200" cy="54864"/>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95560" y="4754880"/>
            <a:ext cx="1737360" cy="685800"/>
          </a:xfrm>
          <a:prstGeom prst="rect">
            <a:avLst/>
          </a:prstGeom>
          <a:noFill/>
        </p:spPr>
        <p:txBody>
          <a:bodyPr wrap="square" anchor="ctr" lIns="45720" rIns="45720" tIns="18288" bIns="18288">
            <a:spAutoFit/>
          </a:bodyPr>
          <a:lstStyle/>
          <a:p>
            <a:pPr algn="ctr"/>
            <a:r>
              <a:rPr sz="2600" b="1" i="0">
                <a:solidFill>
                  <a:srgbClr val="1BAF7A"/>
                </a:solidFill>
                <a:latin typeface="Calibri"/>
              </a:rPr>
              <a:t>−16%</a:t>
            </a:r>
          </a:p>
        </p:txBody>
      </p:sp>
      <p:sp>
        <p:nvSpPr>
          <p:cNvPr id="53" name="TextBox 52"/>
          <p:cNvSpPr txBox="1"/>
          <p:nvPr/>
        </p:nvSpPr>
        <p:spPr>
          <a:xfrm>
            <a:off x="10305288" y="5440680"/>
            <a:ext cx="1517904" cy="548640"/>
          </a:xfrm>
          <a:prstGeom prst="rect">
            <a:avLst/>
          </a:prstGeom>
          <a:noFill/>
        </p:spPr>
        <p:txBody>
          <a:bodyPr wrap="square" anchor="t" lIns="45720" rIns="45720" tIns="18288" bIns="18288">
            <a:spAutoFit/>
          </a:bodyPr>
          <a:lstStyle/>
          <a:p>
            <a:pPr algn="ctr"/>
            <a:r>
              <a:rPr sz="1400" b="0" i="0">
                <a:solidFill>
                  <a:srgbClr val="111111"/>
                </a:solidFill>
                <a:latin typeface="Calibri"/>
              </a:rPr>
              <a:t>per SD of internship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RQ2: graduates fall short of employers on 25 of 26 skills</a:t>
            </a:r>
          </a:p>
        </p:txBody>
      </p:sp>
      <p:sp>
        <p:nvSpPr>
          <p:cNvPr id="5" name="Rounded Rectangle 4"/>
          <p:cNvSpPr/>
          <p:nvPr/>
        </p:nvSpPr>
        <p:spPr>
          <a:xfrm>
            <a:off x="10241280" y="292608"/>
            <a:ext cx="1691640" cy="347472"/>
          </a:xfrm>
          <a:prstGeom prst="roundRect">
            <a:avLst>
              <a:gd name="adj" fmla="val 50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RESULTS</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18</a:t>
            </a:r>
          </a:p>
        </p:txBody>
      </p:sp>
      <p:pic>
        <p:nvPicPr>
          <p:cNvPr id="9" name="Picture 8" descr="fig4_skills.png"/>
          <p:cNvPicPr>
            <a:picLocks noChangeAspect="1"/>
          </p:cNvPicPr>
          <p:nvPr/>
        </p:nvPicPr>
        <p:blipFill>
          <a:blip r:embed="rId3"/>
          <a:stretch>
            <a:fillRect/>
          </a:stretch>
        </p:blipFill>
        <p:spPr>
          <a:xfrm>
            <a:off x="411480" y="1712451"/>
            <a:ext cx="7498079" cy="3981738"/>
          </a:xfrm>
          <a:prstGeom prst="rect">
            <a:avLst/>
          </a:prstGeom>
          <a:ln w="15875">
            <a:solidFill>
              <a:srgbClr val="C9D6E8"/>
            </a:solidFill>
          </a:ln>
        </p:spPr>
      </p:pic>
      <p:sp>
        <p:nvSpPr>
          <p:cNvPr id="10" name="Rounded Rectangle 9"/>
          <p:cNvSpPr/>
          <p:nvPr/>
        </p:nvSpPr>
        <p:spPr>
          <a:xfrm>
            <a:off x="8138160" y="1280160"/>
            <a:ext cx="3657600" cy="15544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66760" y="1389888"/>
            <a:ext cx="457200" cy="54864"/>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463040"/>
            <a:ext cx="3657600" cy="685800"/>
          </a:xfrm>
          <a:prstGeom prst="rect">
            <a:avLst/>
          </a:prstGeom>
          <a:noFill/>
        </p:spPr>
        <p:txBody>
          <a:bodyPr wrap="square" anchor="ctr" lIns="45720" rIns="45720" tIns="18288" bIns="18288">
            <a:spAutoFit/>
          </a:bodyPr>
          <a:lstStyle/>
          <a:p>
            <a:pPr algn="ctr"/>
            <a:r>
              <a:rPr sz="3000" b="1" i="0">
                <a:solidFill>
                  <a:srgbClr val="EB6834"/>
                </a:solidFill>
                <a:latin typeface="Calibri"/>
              </a:rPr>
              <a:t>25 of 26</a:t>
            </a:r>
          </a:p>
        </p:txBody>
      </p:sp>
      <p:sp>
        <p:nvSpPr>
          <p:cNvPr id="13" name="TextBox 12"/>
          <p:cNvSpPr txBox="1"/>
          <p:nvPr/>
        </p:nvSpPr>
        <p:spPr>
          <a:xfrm>
            <a:off x="8247888" y="2148840"/>
            <a:ext cx="3438144" cy="640080"/>
          </a:xfrm>
          <a:prstGeom prst="rect">
            <a:avLst/>
          </a:prstGeom>
          <a:noFill/>
        </p:spPr>
        <p:txBody>
          <a:bodyPr wrap="square" anchor="t" lIns="45720" rIns="45720" tIns="18288" bIns="18288">
            <a:spAutoFit/>
          </a:bodyPr>
          <a:lstStyle/>
          <a:p>
            <a:pPr algn="ctr"/>
            <a:r>
              <a:rPr sz="1400" b="0" i="0">
                <a:solidFill>
                  <a:srgbClr val="111111"/>
                </a:solidFill>
                <a:latin typeface="Calibri"/>
              </a:rPr>
              <a:t>skills where graduates rate themselves below employers</a:t>
            </a:r>
          </a:p>
        </p:txBody>
      </p:sp>
      <p:sp>
        <p:nvSpPr>
          <p:cNvPr id="14" name="Rounded Rectangle 13"/>
          <p:cNvSpPr/>
          <p:nvPr/>
        </p:nvSpPr>
        <p:spPr>
          <a:xfrm>
            <a:off x="8138160" y="2971800"/>
            <a:ext cx="3657600" cy="15544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6760" y="3081528"/>
            <a:ext cx="45720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3154680"/>
            <a:ext cx="3657600" cy="685800"/>
          </a:xfrm>
          <a:prstGeom prst="rect">
            <a:avLst/>
          </a:prstGeom>
          <a:noFill/>
        </p:spPr>
        <p:txBody>
          <a:bodyPr wrap="square" anchor="ctr" lIns="45720" rIns="45720" tIns="18288" bIns="18288">
            <a:spAutoFit/>
          </a:bodyPr>
          <a:lstStyle/>
          <a:p>
            <a:pPr algn="ctr"/>
            <a:r>
              <a:rPr sz="3000" b="1" i="0">
                <a:solidFill>
                  <a:srgbClr val="2A78D6"/>
                </a:solidFill>
                <a:latin typeface="Calibri"/>
              </a:rPr>
              <a:t>rho 0.39</a:t>
            </a:r>
          </a:p>
        </p:txBody>
      </p:sp>
      <p:sp>
        <p:nvSpPr>
          <p:cNvPr id="17" name="TextBox 16"/>
          <p:cNvSpPr txBox="1"/>
          <p:nvPr/>
        </p:nvSpPr>
        <p:spPr>
          <a:xfrm>
            <a:off x="8247888" y="3840480"/>
            <a:ext cx="3438144" cy="640080"/>
          </a:xfrm>
          <a:prstGeom prst="rect">
            <a:avLst/>
          </a:prstGeom>
          <a:noFill/>
        </p:spPr>
        <p:txBody>
          <a:bodyPr wrap="square" anchor="t" lIns="45720" rIns="45720" tIns="18288" bIns="18288">
            <a:spAutoFit/>
          </a:bodyPr>
          <a:lstStyle/>
          <a:p>
            <a:pPr algn="ctr"/>
            <a:r>
              <a:rPr sz="1400" b="0" i="0">
                <a:solidFill>
                  <a:srgbClr val="111111"/>
                </a:solidFill>
                <a:latin typeface="Calibri"/>
              </a:rPr>
              <a:t>employers' stated priorities vs what ads actually ask for</a:t>
            </a:r>
          </a:p>
        </p:txBody>
      </p:sp>
      <p:sp>
        <p:nvSpPr>
          <p:cNvPr id="18" name="Rounded Rectangle 17"/>
          <p:cNvSpPr/>
          <p:nvPr/>
        </p:nvSpPr>
        <p:spPr>
          <a:xfrm>
            <a:off x="8138160" y="4663440"/>
            <a:ext cx="3657600" cy="15544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66760" y="4773168"/>
            <a:ext cx="457200" cy="54864"/>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4846320"/>
            <a:ext cx="3657600" cy="685800"/>
          </a:xfrm>
          <a:prstGeom prst="rect">
            <a:avLst/>
          </a:prstGeom>
          <a:noFill/>
        </p:spPr>
        <p:txBody>
          <a:bodyPr wrap="square" anchor="ctr" lIns="45720" rIns="45720" tIns="18288" bIns="18288">
            <a:spAutoFit/>
          </a:bodyPr>
          <a:lstStyle/>
          <a:p>
            <a:pPr algn="ctr"/>
            <a:r>
              <a:rPr sz="2800" b="1" i="0">
                <a:solidFill>
                  <a:srgbClr val="1C5CAB"/>
                </a:solidFill>
                <a:latin typeface="Calibri"/>
              </a:rPr>
              <a:t>3.21 / 5</a:t>
            </a:r>
          </a:p>
        </p:txBody>
      </p:sp>
      <p:sp>
        <p:nvSpPr>
          <p:cNvPr id="21" name="TextBox 20"/>
          <p:cNvSpPr txBox="1"/>
          <p:nvPr/>
        </p:nvSpPr>
        <p:spPr>
          <a:xfrm>
            <a:off x="8247888" y="5532120"/>
            <a:ext cx="3438144" cy="640080"/>
          </a:xfrm>
          <a:prstGeom prst="rect">
            <a:avLst/>
          </a:prstGeom>
          <a:noFill/>
        </p:spPr>
        <p:txBody>
          <a:bodyPr wrap="square" anchor="t" lIns="45720" rIns="45720" tIns="18288" bIns="18288">
            <a:spAutoFit/>
          </a:bodyPr>
          <a:lstStyle/>
          <a:p>
            <a:pPr algn="ctr"/>
            <a:r>
              <a:rPr sz="1400" b="0" i="0">
                <a:solidFill>
                  <a:srgbClr val="111111"/>
                </a:solidFill>
                <a:latin typeface="Calibri"/>
              </a:rPr>
              <a:t>employers rate GPA the LEAST important, yet it is the strongest link to speed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Real job-ad evidence: what employers actually advertise</a:t>
            </a:r>
          </a:p>
        </p:txBody>
      </p:sp>
      <p:sp>
        <p:nvSpPr>
          <p:cNvPr id="5" name="Rounded Rectangle 4"/>
          <p:cNvSpPr/>
          <p:nvPr/>
        </p:nvSpPr>
        <p:spPr>
          <a:xfrm>
            <a:off x="10241280" y="292608"/>
            <a:ext cx="1691640" cy="347472"/>
          </a:xfrm>
          <a:prstGeom prst="roundRect">
            <a:avLst>
              <a:gd name="adj" fmla="val 50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RESULTS</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19</a:t>
            </a:r>
          </a:p>
        </p:txBody>
      </p:sp>
      <p:pic>
        <p:nvPicPr>
          <p:cNvPr id="9" name="Picture 8" descr="A09.png"/>
          <p:cNvPicPr>
            <a:picLocks noChangeAspect="1"/>
          </p:cNvPicPr>
          <p:nvPr/>
        </p:nvPicPr>
        <p:blipFill>
          <a:blip r:embed="rId3"/>
          <a:stretch>
            <a:fillRect/>
          </a:stretch>
        </p:blipFill>
        <p:spPr>
          <a:xfrm>
            <a:off x="427736" y="1143000"/>
            <a:ext cx="7282688" cy="5120640"/>
          </a:xfrm>
          <a:prstGeom prst="rect">
            <a:avLst/>
          </a:prstGeom>
          <a:ln w="15875">
            <a:solidFill>
              <a:srgbClr val="C9D6E8"/>
            </a:solidFill>
          </a:ln>
        </p:spPr>
      </p:pic>
      <p:sp>
        <p:nvSpPr>
          <p:cNvPr id="10" name="TextBox 9"/>
          <p:cNvSpPr txBox="1"/>
          <p:nvPr/>
        </p:nvSpPr>
        <p:spPr>
          <a:xfrm>
            <a:off x="7955279" y="1371600"/>
            <a:ext cx="4023360" cy="4846320"/>
          </a:xfrm>
          <a:prstGeom prst="rect">
            <a:avLst/>
          </a:prstGeom>
          <a:noFill/>
        </p:spPr>
        <p:txBody>
          <a:bodyPr wrap="square">
            <a:spAutoFit/>
          </a:bodyPr>
          <a:lstStyle/>
          <a:p>
            <a:pPr>
              <a:spcAft>
                <a:spcPts val="1100"/>
              </a:spcAft>
            </a:pPr>
            <a:r>
              <a:rPr sz="1800">
                <a:solidFill>
                  <a:srgbClr val="2A78D6"/>
                </a:solidFill>
                <a:latin typeface="Calibri"/>
              </a:rPr>
              <a:t>▪  </a:t>
            </a:r>
            <a:r>
              <a:rPr sz="1800" b="1">
                <a:solidFill>
                  <a:srgbClr val="111111"/>
                </a:solidFill>
                <a:latin typeface="Calibri"/>
              </a:rPr>
              <a:t>324 real ads</a:t>
            </a:r>
            <a:r>
              <a:rPr sz="1800" b="0">
                <a:solidFill>
                  <a:srgbClr val="111111"/>
                </a:solidFill>
                <a:latin typeface="Calibri"/>
              </a:rPr>
              <a:t>, 211 companies, 7 role families</a:t>
            </a:r>
          </a:p>
          <a:p>
            <a:pPr>
              <a:spcAft>
                <a:spcPts val="1100"/>
              </a:spcAft>
            </a:pPr>
            <a:r>
              <a:rPr sz="1800">
                <a:solidFill>
                  <a:srgbClr val="2A78D6"/>
                </a:solidFill>
                <a:latin typeface="Calibri"/>
              </a:rPr>
              <a:t>▪  </a:t>
            </a:r>
            <a:r>
              <a:rPr sz="1800" b="1">
                <a:solidFill>
                  <a:srgbClr val="111111"/>
                </a:solidFill>
                <a:latin typeface="Calibri"/>
              </a:rPr>
              <a:t>Soft skills lead</a:t>
            </a:r>
            <a:r>
              <a:rPr sz="1800" b="0">
                <a:solidFill>
                  <a:srgbClr val="111111"/>
                </a:solidFill>
                <a:latin typeface="Calibri"/>
              </a:rPr>
              <a:t>: problem solving 69%, teamwork 61%</a:t>
            </a:r>
          </a:p>
          <a:p>
            <a:pPr>
              <a:spcAft>
                <a:spcPts val="1100"/>
              </a:spcAft>
            </a:pPr>
            <a:r>
              <a:rPr sz="1800">
                <a:solidFill>
                  <a:srgbClr val="2A78D6"/>
                </a:solidFill>
                <a:latin typeface="Calibri"/>
              </a:rPr>
              <a:t>▪  </a:t>
            </a:r>
            <a:r>
              <a:rPr sz="1800" b="1">
                <a:solidFill>
                  <a:srgbClr val="111111"/>
                </a:solidFill>
                <a:latin typeface="Calibri"/>
              </a:rPr>
              <a:t>Top technical</a:t>
            </a:r>
            <a:r>
              <a:rPr sz="1800" b="0">
                <a:solidFill>
                  <a:srgbClr val="111111"/>
                </a:solidFill>
                <a:latin typeface="Calibri"/>
              </a:rPr>
              <a:t>: software testing 44%, SQL 37%</a:t>
            </a:r>
          </a:p>
          <a:p>
            <a:pPr>
              <a:spcAft>
                <a:spcPts val="1100"/>
              </a:spcAft>
            </a:pPr>
            <a:r>
              <a:rPr sz="1800">
                <a:solidFill>
                  <a:srgbClr val="2A78D6"/>
                </a:solidFill>
                <a:latin typeface="Calibri"/>
              </a:rPr>
              <a:t>▪  </a:t>
            </a:r>
            <a:r>
              <a:rPr sz="1800" b="1">
                <a:solidFill>
                  <a:srgbClr val="111111"/>
                </a:solidFill>
                <a:latin typeface="Calibri"/>
              </a:rPr>
              <a:t>Skill bundle</a:t>
            </a:r>
            <a:r>
              <a:rPr sz="1800" b="0">
                <a:solidFill>
                  <a:srgbClr val="111111"/>
                </a:solidFill>
                <a:latin typeface="Calibri"/>
              </a:rPr>
              <a:t>: Docker + DevOps seen 7.8× above chance</a:t>
            </a:r>
          </a:p>
          <a:p>
            <a:pPr>
              <a:spcAft>
                <a:spcPts val="1100"/>
              </a:spcAft>
            </a:pPr>
            <a:r>
              <a:rPr sz="1800">
                <a:solidFill>
                  <a:srgbClr val="2A78D6"/>
                </a:solidFill>
                <a:latin typeface="Calibri"/>
              </a:rPr>
              <a:t>▪  </a:t>
            </a:r>
            <a:r>
              <a:rPr sz="1800" b="1">
                <a:solidFill>
                  <a:srgbClr val="111111"/>
                </a:solidFill>
                <a:latin typeface="Calibri"/>
              </a:rPr>
              <a:t>Interns</a:t>
            </a:r>
            <a:r>
              <a:rPr sz="1800" b="0">
                <a:solidFill>
                  <a:srgbClr val="111111"/>
                </a:solidFill>
                <a:latin typeface="Calibri"/>
              </a:rPr>
              <a:t>: ads stress self-learning, 61% vs 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The artifact: an offline pipeline and a stateless app</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ARTIFACT</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20</a:t>
            </a:r>
          </a:p>
        </p:txBody>
      </p:sp>
      <p:pic>
        <p:nvPicPr>
          <p:cNvPr id="9" name="Picture 8" descr="fig4_2_architecture.png"/>
          <p:cNvPicPr>
            <a:picLocks noChangeAspect="1"/>
          </p:cNvPicPr>
          <p:nvPr/>
        </p:nvPicPr>
        <p:blipFill>
          <a:blip r:embed="rId3"/>
          <a:stretch>
            <a:fillRect/>
          </a:stretch>
        </p:blipFill>
        <p:spPr>
          <a:xfrm>
            <a:off x="411480" y="1266928"/>
            <a:ext cx="6949440" cy="4918504"/>
          </a:xfrm>
          <a:prstGeom prst="rect">
            <a:avLst/>
          </a:prstGeom>
          <a:ln w="15875">
            <a:solidFill>
              <a:srgbClr val="C9D6E8"/>
            </a:solidFill>
          </a:ln>
        </p:spPr>
      </p:pic>
      <p:sp>
        <p:nvSpPr>
          <p:cNvPr id="10" name="TextBox 9"/>
          <p:cNvSpPr txBox="1"/>
          <p:nvPr/>
        </p:nvSpPr>
        <p:spPr>
          <a:xfrm>
            <a:off x="7589520" y="1371600"/>
            <a:ext cx="4297680" cy="4846320"/>
          </a:xfrm>
          <a:prstGeom prst="rect">
            <a:avLst/>
          </a:prstGeom>
          <a:noFill/>
        </p:spPr>
        <p:txBody>
          <a:bodyPr wrap="square">
            <a:spAutoFit/>
          </a:bodyPr>
          <a:lstStyle/>
          <a:p>
            <a:pPr>
              <a:spcAft>
                <a:spcPts val="1200"/>
              </a:spcAft>
            </a:pPr>
            <a:r>
              <a:rPr sz="1800">
                <a:solidFill>
                  <a:srgbClr val="2A78D6"/>
                </a:solidFill>
                <a:latin typeface="Calibri"/>
              </a:rPr>
              <a:t>▪  </a:t>
            </a:r>
            <a:r>
              <a:rPr sz="1800" b="1">
                <a:solidFill>
                  <a:srgbClr val="111111"/>
                </a:solidFill>
                <a:latin typeface="Calibri"/>
              </a:rPr>
              <a:t>Offline pipeline</a:t>
            </a:r>
            <a:r>
              <a:rPr sz="1800" b="0">
                <a:solidFill>
                  <a:srgbClr val="111111"/>
                </a:solidFill>
                <a:latin typeface="Calibri"/>
              </a:rPr>
              <a:t>: clean → split → fit 7 models → select → test once → 200 bootstrap fits</a:t>
            </a:r>
          </a:p>
          <a:p>
            <a:pPr>
              <a:spcAft>
                <a:spcPts val="1200"/>
              </a:spcAft>
            </a:pPr>
            <a:r>
              <a:rPr sz="1800">
                <a:solidFill>
                  <a:srgbClr val="2A78D6"/>
                </a:solidFill>
                <a:latin typeface="Calibri"/>
              </a:rPr>
              <a:t>▪  </a:t>
            </a:r>
            <a:r>
              <a:rPr sz="1800" b="1">
                <a:solidFill>
                  <a:srgbClr val="111111"/>
                </a:solidFill>
                <a:latin typeface="Calibri"/>
              </a:rPr>
              <a:t>Runtime</a:t>
            </a:r>
            <a:r>
              <a:rPr sz="1800" b="0">
                <a:solidFill>
                  <a:srgbClr val="111111"/>
                </a:solidFill>
                <a:latin typeface="Calibri"/>
              </a:rPr>
              <a:t>: FastAPI (13 endpoints) + Streamlit; loads stored results</a:t>
            </a:r>
          </a:p>
          <a:p>
            <a:pPr>
              <a:spcAft>
                <a:spcPts val="1200"/>
              </a:spcAft>
            </a:pPr>
            <a:r>
              <a:rPr sz="1800">
                <a:solidFill>
                  <a:srgbClr val="2A78D6"/>
                </a:solidFill>
                <a:latin typeface="Calibri"/>
              </a:rPr>
              <a:t>▪  </a:t>
            </a:r>
            <a:r>
              <a:rPr sz="1800" b="1">
                <a:solidFill>
                  <a:srgbClr val="111111"/>
                </a:solidFill>
                <a:latin typeface="Calibri"/>
              </a:rPr>
              <a:t>Privacy by design</a:t>
            </a:r>
            <a:r>
              <a:rPr sz="1800" b="0">
                <a:solidFill>
                  <a:srgbClr val="111111"/>
                </a:solidFill>
                <a:latin typeface="Calibri"/>
              </a:rPr>
              <a:t>: no profile is stored (a test checks it)</a:t>
            </a:r>
          </a:p>
          <a:p>
            <a:pPr>
              <a:spcAft>
                <a:spcPts val="1200"/>
              </a:spcAft>
            </a:pPr>
            <a:r>
              <a:rPr sz="1800">
                <a:solidFill>
                  <a:srgbClr val="2A78D6"/>
                </a:solidFill>
                <a:latin typeface="Calibri"/>
              </a:rPr>
              <a:t>▪  </a:t>
            </a:r>
            <a:r>
              <a:rPr sz="1800" b="1">
                <a:solidFill>
                  <a:srgbClr val="111111"/>
                </a:solidFill>
                <a:latin typeface="Calibri"/>
              </a:rPr>
              <a:t>Reproducible</a:t>
            </a:r>
            <a:r>
              <a:rPr sz="1800" b="0">
                <a:solidFill>
                  <a:srgbClr val="111111"/>
                </a:solidFill>
                <a:latin typeface="Calibri"/>
              </a:rPr>
              <a:t>: one command re-runs everything; data fingerprinted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The working prototype: JobSpark, live and tested</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ARTIFACT</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21</a:t>
            </a:r>
          </a:p>
        </p:txBody>
      </p:sp>
      <p:pic>
        <p:nvPicPr>
          <p:cNvPr id="9" name="Picture 8" descr="A01.png"/>
          <p:cNvPicPr>
            <a:picLocks noChangeAspect="1"/>
          </p:cNvPicPr>
          <p:nvPr/>
        </p:nvPicPr>
        <p:blipFill>
          <a:blip r:embed="rId3"/>
          <a:stretch>
            <a:fillRect/>
          </a:stretch>
        </p:blipFill>
        <p:spPr>
          <a:xfrm>
            <a:off x="1653032" y="1097280"/>
            <a:ext cx="3186176" cy="2240280"/>
          </a:xfrm>
          <a:prstGeom prst="rect">
            <a:avLst/>
          </a:prstGeom>
          <a:ln w="15875">
            <a:solidFill>
              <a:srgbClr val="C9D6E8"/>
            </a:solidFill>
          </a:ln>
        </p:spPr>
      </p:pic>
      <p:sp>
        <p:nvSpPr>
          <p:cNvPr id="10" name="Rectangle 9"/>
          <p:cNvSpPr/>
          <p:nvPr/>
        </p:nvSpPr>
        <p:spPr>
          <a:xfrm>
            <a:off x="411480" y="3383280"/>
            <a:ext cx="5669280" cy="3474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383280"/>
            <a:ext cx="5486400" cy="347472"/>
          </a:xfrm>
          <a:prstGeom prst="rect">
            <a:avLst/>
          </a:prstGeom>
          <a:noFill/>
        </p:spPr>
        <p:txBody>
          <a:bodyPr wrap="square" anchor="ctr" lIns="45720" rIns="45720" tIns="18288" bIns="18288">
            <a:spAutoFit/>
          </a:bodyPr>
          <a:lstStyle/>
          <a:p>
            <a:pPr algn="l"/>
            <a:r>
              <a:rPr sz="1300" b="1" i="0">
                <a:solidFill>
                  <a:srgbClr val="FFFFFF"/>
                </a:solidFill>
                <a:latin typeface="Calibri"/>
              </a:rPr>
              <a:t>1  Home   |   purpose, headline job-ad figures, steps to an estimate</a:t>
            </a:r>
          </a:p>
        </p:txBody>
      </p:sp>
      <p:pic>
        <p:nvPicPr>
          <p:cNvPr id="12" name="Picture 11" descr="A06.png"/>
          <p:cNvPicPr>
            <a:picLocks noChangeAspect="1"/>
          </p:cNvPicPr>
          <p:nvPr/>
        </p:nvPicPr>
        <p:blipFill>
          <a:blip r:embed="rId4"/>
          <a:stretch>
            <a:fillRect/>
          </a:stretch>
        </p:blipFill>
        <p:spPr>
          <a:xfrm>
            <a:off x="7596632" y="1097280"/>
            <a:ext cx="3186176" cy="2240280"/>
          </a:xfrm>
          <a:prstGeom prst="rect">
            <a:avLst/>
          </a:prstGeom>
          <a:ln w="15875">
            <a:solidFill>
              <a:srgbClr val="C9D6E8"/>
            </a:solidFill>
          </a:ln>
        </p:spPr>
      </p:pic>
      <p:sp>
        <p:nvSpPr>
          <p:cNvPr id="13" name="Rectangle 12"/>
          <p:cNvSpPr/>
          <p:nvPr/>
        </p:nvSpPr>
        <p:spPr>
          <a:xfrm>
            <a:off x="6355080" y="3383280"/>
            <a:ext cx="5669280" cy="3474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383280"/>
            <a:ext cx="5486400" cy="347472"/>
          </a:xfrm>
          <a:prstGeom prst="rect">
            <a:avLst/>
          </a:prstGeom>
          <a:noFill/>
        </p:spPr>
        <p:txBody>
          <a:bodyPr wrap="square" anchor="ctr" lIns="45720" rIns="45720" tIns="18288" bIns="18288">
            <a:spAutoFit/>
          </a:bodyPr>
          <a:lstStyle/>
          <a:p>
            <a:pPr algn="l"/>
            <a:r>
              <a:rPr sz="1300" b="1" i="0">
                <a:solidFill>
                  <a:srgbClr val="FFFFFF"/>
                </a:solidFill>
                <a:latin typeface="Calibri"/>
              </a:rPr>
              <a:t>2  My dashboard   |   most likely time, range, confidence, chance of a job</a:t>
            </a:r>
          </a:p>
        </p:txBody>
      </p:sp>
      <p:pic>
        <p:nvPicPr>
          <p:cNvPr id="15" name="Picture 14" descr="A09.png"/>
          <p:cNvPicPr>
            <a:picLocks noChangeAspect="1"/>
          </p:cNvPicPr>
          <p:nvPr/>
        </p:nvPicPr>
        <p:blipFill>
          <a:blip r:embed="rId5"/>
          <a:stretch>
            <a:fillRect/>
          </a:stretch>
        </p:blipFill>
        <p:spPr>
          <a:xfrm>
            <a:off x="1653032" y="3794760"/>
            <a:ext cx="3186176" cy="2240280"/>
          </a:xfrm>
          <a:prstGeom prst="rect">
            <a:avLst/>
          </a:prstGeom>
          <a:ln w="15875">
            <a:solidFill>
              <a:srgbClr val="C9D6E8"/>
            </a:solidFill>
          </a:ln>
        </p:spPr>
      </p:pic>
      <p:sp>
        <p:nvSpPr>
          <p:cNvPr id="16" name="Rectangle 15"/>
          <p:cNvSpPr/>
          <p:nvPr/>
        </p:nvSpPr>
        <p:spPr>
          <a:xfrm>
            <a:off x="411480" y="6080760"/>
            <a:ext cx="5669280" cy="3474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080760"/>
            <a:ext cx="5486400" cy="347472"/>
          </a:xfrm>
          <a:prstGeom prst="rect">
            <a:avLst/>
          </a:prstGeom>
          <a:noFill/>
        </p:spPr>
        <p:txBody>
          <a:bodyPr wrap="square" anchor="ctr" lIns="45720" rIns="45720" tIns="18288" bIns="18288">
            <a:spAutoFit/>
          </a:bodyPr>
          <a:lstStyle/>
          <a:p>
            <a:pPr algn="l"/>
            <a:r>
              <a:rPr sz="1300" b="1" i="0">
                <a:solidFill>
                  <a:srgbClr val="FFFFFF"/>
                </a:solidFill>
                <a:latin typeface="Calibri"/>
              </a:rPr>
              <a:t>3  Job market   |   324 real ads: skill demand, bundles, roles</a:t>
            </a:r>
          </a:p>
        </p:txBody>
      </p:sp>
      <p:pic>
        <p:nvPicPr>
          <p:cNvPr id="18" name="Picture 17" descr="A11.png"/>
          <p:cNvPicPr>
            <a:picLocks noChangeAspect="1"/>
          </p:cNvPicPr>
          <p:nvPr/>
        </p:nvPicPr>
        <p:blipFill>
          <a:blip r:embed="rId6"/>
          <a:stretch>
            <a:fillRect/>
          </a:stretch>
        </p:blipFill>
        <p:spPr>
          <a:xfrm>
            <a:off x="7596632" y="3794760"/>
            <a:ext cx="3186176" cy="2240280"/>
          </a:xfrm>
          <a:prstGeom prst="rect">
            <a:avLst/>
          </a:prstGeom>
          <a:ln w="15875">
            <a:solidFill>
              <a:srgbClr val="C9D6E8"/>
            </a:solidFill>
          </a:ln>
        </p:spPr>
      </p:pic>
      <p:sp>
        <p:nvSpPr>
          <p:cNvPr id="19" name="Rectangle 18"/>
          <p:cNvSpPr/>
          <p:nvPr/>
        </p:nvSpPr>
        <p:spPr>
          <a:xfrm>
            <a:off x="6355080" y="6080760"/>
            <a:ext cx="5669280" cy="3474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6080760"/>
            <a:ext cx="5486400" cy="347472"/>
          </a:xfrm>
          <a:prstGeom prst="rect">
            <a:avLst/>
          </a:prstGeom>
          <a:noFill/>
        </p:spPr>
        <p:txBody>
          <a:bodyPr wrap="square" anchor="ctr" lIns="45720" rIns="45720" tIns="18288" bIns="18288">
            <a:spAutoFit/>
          </a:bodyPr>
          <a:lstStyle/>
          <a:p>
            <a:pPr algn="l"/>
            <a:r>
              <a:rPr sz="1300" b="1" i="0">
                <a:solidFill>
                  <a:srgbClr val="FFFFFF"/>
                </a:solidFill>
                <a:latin typeface="Calibri"/>
              </a:rPr>
              <a:t>4  Research lab   |   model comparison, calibration, fairness, robustness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The dashboard: a range, the chance of a job and a plan</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ARTIFACT</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22</a:t>
            </a:r>
          </a:p>
        </p:txBody>
      </p:sp>
      <p:pic>
        <p:nvPicPr>
          <p:cNvPr id="9" name="Picture 8" descr="A06.png"/>
          <p:cNvPicPr>
            <a:picLocks noChangeAspect="1"/>
          </p:cNvPicPr>
          <p:nvPr/>
        </p:nvPicPr>
        <p:blipFill>
          <a:blip r:embed="rId3"/>
          <a:stretch>
            <a:fillRect/>
          </a:stretch>
        </p:blipFill>
        <p:spPr>
          <a:xfrm>
            <a:off x="411480" y="1265158"/>
            <a:ext cx="6675120" cy="4693443"/>
          </a:xfrm>
          <a:prstGeom prst="rect">
            <a:avLst/>
          </a:prstGeom>
          <a:ln w="15875">
            <a:solidFill>
              <a:srgbClr val="C9D6E8"/>
            </a:solidFill>
          </a:ln>
        </p:spPr>
      </p:pic>
      <p:sp>
        <p:nvSpPr>
          <p:cNvPr id="10" name="Oval 9"/>
          <p:cNvSpPr/>
          <p:nvPr/>
        </p:nvSpPr>
        <p:spPr>
          <a:xfrm>
            <a:off x="2021738" y="1871019"/>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21738" y="1871019"/>
            <a:ext cx="384048" cy="384048"/>
          </a:xfrm>
          <a:prstGeom prst="rect">
            <a:avLst/>
          </a:prstGeom>
          <a:noFill/>
        </p:spPr>
        <p:txBody>
          <a:bodyPr wrap="square" anchor="ctr" lIns="45720" rIns="45720" tIns="18288" bIns="18288">
            <a:spAutoFit/>
          </a:bodyPr>
          <a:lstStyle/>
          <a:p>
            <a:pPr algn="ctr"/>
            <a:r>
              <a:rPr sz="1600" b="1" i="0">
                <a:solidFill>
                  <a:srgbClr val="FFFFFF"/>
                </a:solidFill>
                <a:latin typeface="Calibri"/>
              </a:rPr>
              <a:t>1</a:t>
            </a:r>
          </a:p>
        </p:txBody>
      </p:sp>
      <p:sp>
        <p:nvSpPr>
          <p:cNvPr id="12" name="Oval 11"/>
          <p:cNvSpPr/>
          <p:nvPr/>
        </p:nvSpPr>
        <p:spPr>
          <a:xfrm>
            <a:off x="2021738" y="3818798"/>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21738" y="3818798"/>
            <a:ext cx="384048" cy="384048"/>
          </a:xfrm>
          <a:prstGeom prst="rect">
            <a:avLst/>
          </a:prstGeom>
          <a:noFill/>
        </p:spPr>
        <p:txBody>
          <a:bodyPr wrap="square" anchor="ctr" lIns="45720" rIns="45720" tIns="18288" bIns="18288">
            <a:spAutoFit/>
          </a:bodyPr>
          <a:lstStyle/>
          <a:p>
            <a:pPr algn="ctr"/>
            <a:r>
              <a:rPr sz="1600" b="1" i="0">
                <a:solidFill>
                  <a:srgbClr val="FFFFFF"/>
                </a:solidFill>
                <a:latin typeface="Calibri"/>
              </a:rPr>
              <a:t>2</a:t>
            </a:r>
          </a:p>
        </p:txBody>
      </p:sp>
      <p:sp>
        <p:nvSpPr>
          <p:cNvPr id="14" name="Oval 13"/>
          <p:cNvSpPr/>
          <p:nvPr/>
        </p:nvSpPr>
        <p:spPr>
          <a:xfrm>
            <a:off x="4791913" y="1871019"/>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91913" y="1871019"/>
            <a:ext cx="384048" cy="384048"/>
          </a:xfrm>
          <a:prstGeom prst="rect">
            <a:avLst/>
          </a:prstGeom>
          <a:noFill/>
        </p:spPr>
        <p:txBody>
          <a:bodyPr wrap="square" anchor="ctr" lIns="45720" rIns="45720" tIns="18288" bIns="18288">
            <a:spAutoFit/>
          </a:bodyPr>
          <a:lstStyle/>
          <a:p>
            <a:pPr algn="ctr"/>
            <a:r>
              <a:rPr sz="1600" b="1" i="0">
                <a:solidFill>
                  <a:srgbClr val="FFFFFF"/>
                </a:solidFill>
                <a:latin typeface="Calibri"/>
              </a:rPr>
              <a:t>3</a:t>
            </a:r>
          </a:p>
        </p:txBody>
      </p:sp>
      <p:sp>
        <p:nvSpPr>
          <p:cNvPr id="16" name="Oval 15"/>
          <p:cNvSpPr/>
          <p:nvPr/>
        </p:nvSpPr>
        <p:spPr>
          <a:xfrm>
            <a:off x="7406640" y="1371600"/>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1371600"/>
            <a:ext cx="384048" cy="384048"/>
          </a:xfrm>
          <a:prstGeom prst="rect">
            <a:avLst/>
          </a:prstGeom>
          <a:noFill/>
        </p:spPr>
        <p:txBody>
          <a:bodyPr wrap="square" anchor="ctr" lIns="45720" rIns="45720" tIns="18288" bIns="18288">
            <a:spAutoFit/>
          </a:bodyPr>
          <a:lstStyle/>
          <a:p>
            <a:pPr algn="ctr"/>
            <a:r>
              <a:rPr sz="1600" b="1" i="0">
                <a:solidFill>
                  <a:srgbClr val="FFFFFF"/>
                </a:solidFill>
                <a:latin typeface="Calibri"/>
              </a:rPr>
              <a:t>1</a:t>
            </a:r>
          </a:p>
        </p:txBody>
      </p:sp>
      <p:sp>
        <p:nvSpPr>
          <p:cNvPr id="18" name="TextBox 17"/>
          <p:cNvSpPr txBox="1"/>
          <p:nvPr/>
        </p:nvSpPr>
        <p:spPr>
          <a:xfrm>
            <a:off x="7955279" y="1325880"/>
            <a:ext cx="4023360" cy="548640"/>
          </a:xfrm>
          <a:prstGeom prst="rect">
            <a:avLst/>
          </a:prstGeom>
          <a:noFill/>
        </p:spPr>
        <p:txBody>
          <a:bodyPr wrap="square" anchor="t" lIns="45720" rIns="45720" tIns="18288" bIns="18288">
            <a:spAutoFit/>
          </a:bodyPr>
          <a:lstStyle/>
          <a:p>
            <a:pPr algn="l"/>
            <a:r>
              <a:rPr sz="1800" b="1" i="0">
                <a:solidFill>
                  <a:srgbClr val="111111"/>
                </a:solidFill>
                <a:latin typeface="Calibri"/>
              </a:rPr>
              <a:t>Most likely time + range + confidence</a:t>
            </a:r>
          </a:p>
        </p:txBody>
      </p:sp>
      <p:sp>
        <p:nvSpPr>
          <p:cNvPr id="19" name="TextBox 18"/>
          <p:cNvSpPr txBox="1"/>
          <p:nvPr/>
        </p:nvSpPr>
        <p:spPr>
          <a:xfrm>
            <a:off x="7955279" y="1783080"/>
            <a:ext cx="4023360" cy="640080"/>
          </a:xfrm>
          <a:prstGeom prst="rect">
            <a:avLst/>
          </a:prstGeom>
          <a:noFill/>
        </p:spPr>
        <p:txBody>
          <a:bodyPr wrap="square" anchor="t" lIns="45720" rIns="45720" tIns="18288" bIns="18288">
            <a:spAutoFit/>
          </a:bodyPr>
          <a:lstStyle/>
          <a:p>
            <a:pPr algn="l"/>
            <a:r>
              <a:rPr sz="1400" b="0" i="0">
                <a:solidFill>
                  <a:srgbClr val="55565A"/>
                </a:solidFill>
                <a:latin typeface="Calibri"/>
              </a:rPr>
              <a:t>'5 months, typical range 2-11, high confidence'</a:t>
            </a:r>
          </a:p>
        </p:txBody>
      </p:sp>
      <p:sp>
        <p:nvSpPr>
          <p:cNvPr id="20" name="Oval 19"/>
          <p:cNvSpPr/>
          <p:nvPr/>
        </p:nvSpPr>
        <p:spPr>
          <a:xfrm>
            <a:off x="7406640" y="2468880"/>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0" y="2468880"/>
            <a:ext cx="384048" cy="384048"/>
          </a:xfrm>
          <a:prstGeom prst="rect">
            <a:avLst/>
          </a:prstGeom>
          <a:noFill/>
        </p:spPr>
        <p:txBody>
          <a:bodyPr wrap="square" anchor="ctr" lIns="45720" rIns="45720" tIns="18288" bIns="18288">
            <a:spAutoFit/>
          </a:bodyPr>
          <a:lstStyle/>
          <a:p>
            <a:pPr algn="ctr"/>
            <a:r>
              <a:rPr sz="1600" b="1" i="0">
                <a:solidFill>
                  <a:srgbClr val="FFFFFF"/>
                </a:solidFill>
                <a:latin typeface="Calibri"/>
              </a:rPr>
              <a:t>2</a:t>
            </a:r>
          </a:p>
        </p:txBody>
      </p:sp>
      <p:sp>
        <p:nvSpPr>
          <p:cNvPr id="22" name="TextBox 21"/>
          <p:cNvSpPr txBox="1"/>
          <p:nvPr/>
        </p:nvSpPr>
        <p:spPr>
          <a:xfrm>
            <a:off x="7955279" y="2423160"/>
            <a:ext cx="4023360" cy="548640"/>
          </a:xfrm>
          <a:prstGeom prst="rect">
            <a:avLst/>
          </a:prstGeom>
          <a:noFill/>
        </p:spPr>
        <p:txBody>
          <a:bodyPr wrap="square" anchor="t" lIns="45720" rIns="45720" tIns="18288" bIns="18288">
            <a:spAutoFit/>
          </a:bodyPr>
          <a:lstStyle/>
          <a:p>
            <a:pPr algn="l"/>
            <a:r>
              <a:rPr sz="1800" b="1" i="0">
                <a:solidFill>
                  <a:srgbClr val="111111"/>
                </a:solidFill>
                <a:latin typeface="Calibri"/>
              </a:rPr>
              <a:t>Range bar</a:t>
            </a:r>
          </a:p>
        </p:txBody>
      </p:sp>
      <p:sp>
        <p:nvSpPr>
          <p:cNvPr id="23" name="TextBox 22"/>
          <p:cNvSpPr txBox="1"/>
          <p:nvPr/>
        </p:nvSpPr>
        <p:spPr>
          <a:xfrm>
            <a:off x="7955279" y="2880360"/>
            <a:ext cx="4023360" cy="640080"/>
          </a:xfrm>
          <a:prstGeom prst="rect">
            <a:avLst/>
          </a:prstGeom>
          <a:noFill/>
        </p:spPr>
        <p:txBody>
          <a:bodyPr wrap="square" anchor="t" lIns="45720" rIns="45720" tIns="18288" bIns="18288">
            <a:spAutoFit/>
          </a:bodyPr>
          <a:lstStyle/>
          <a:p>
            <a:pPr algn="l"/>
            <a:r>
              <a:rPr sz="1400" b="0" i="0">
                <a:solidFill>
                  <a:srgbClr val="55565A"/>
                </a:solidFill>
                <a:latin typeface="Calibri"/>
              </a:rPr>
              <a:t>the middle half of similar graduates, at a glance</a:t>
            </a:r>
          </a:p>
        </p:txBody>
      </p:sp>
      <p:sp>
        <p:nvSpPr>
          <p:cNvPr id="24" name="Oval 23"/>
          <p:cNvSpPr/>
          <p:nvPr/>
        </p:nvSpPr>
        <p:spPr>
          <a:xfrm>
            <a:off x="7406640" y="3566160"/>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640" y="3566160"/>
            <a:ext cx="384048" cy="384048"/>
          </a:xfrm>
          <a:prstGeom prst="rect">
            <a:avLst/>
          </a:prstGeom>
          <a:noFill/>
        </p:spPr>
        <p:txBody>
          <a:bodyPr wrap="square" anchor="ctr" lIns="45720" rIns="45720" tIns="18288" bIns="18288">
            <a:spAutoFit/>
          </a:bodyPr>
          <a:lstStyle/>
          <a:p>
            <a:pPr algn="ctr"/>
            <a:r>
              <a:rPr sz="1600" b="1" i="0">
                <a:solidFill>
                  <a:srgbClr val="FFFFFF"/>
                </a:solidFill>
                <a:latin typeface="Calibri"/>
              </a:rPr>
              <a:t>3</a:t>
            </a:r>
          </a:p>
        </p:txBody>
      </p:sp>
      <p:sp>
        <p:nvSpPr>
          <p:cNvPr id="26" name="TextBox 25"/>
          <p:cNvSpPr txBox="1"/>
          <p:nvPr/>
        </p:nvSpPr>
        <p:spPr>
          <a:xfrm>
            <a:off x="7955279" y="3520440"/>
            <a:ext cx="4023360" cy="548640"/>
          </a:xfrm>
          <a:prstGeom prst="rect">
            <a:avLst/>
          </a:prstGeom>
          <a:noFill/>
        </p:spPr>
        <p:txBody>
          <a:bodyPr wrap="square" anchor="t" lIns="45720" rIns="45720" tIns="18288" bIns="18288">
            <a:spAutoFit/>
          </a:bodyPr>
          <a:lstStyle/>
          <a:p>
            <a:pPr algn="l"/>
            <a:r>
              <a:rPr sz="1800" b="1" i="0">
                <a:solidFill>
                  <a:srgbClr val="111111"/>
                </a:solidFill>
                <a:latin typeface="Calibri"/>
              </a:rPr>
              <a:t>Chance of a job by 3 / 6 / 12 / 24 months</a:t>
            </a:r>
          </a:p>
        </p:txBody>
      </p:sp>
      <p:sp>
        <p:nvSpPr>
          <p:cNvPr id="27" name="TextBox 26"/>
          <p:cNvSpPr txBox="1"/>
          <p:nvPr/>
        </p:nvSpPr>
        <p:spPr>
          <a:xfrm>
            <a:off x="7955279" y="3977640"/>
            <a:ext cx="4023360" cy="640080"/>
          </a:xfrm>
          <a:prstGeom prst="rect">
            <a:avLst/>
          </a:prstGeom>
          <a:noFill/>
        </p:spPr>
        <p:txBody>
          <a:bodyPr wrap="square" anchor="t" lIns="45720" rIns="45720" tIns="18288" bIns="18288">
            <a:spAutoFit/>
          </a:bodyPr>
          <a:lstStyle/>
          <a:p>
            <a:pPr algn="l"/>
            <a:r>
              <a:rPr sz="1400" b="0" i="0">
                <a:solidFill>
                  <a:srgbClr val="55565A"/>
                </a:solidFill>
                <a:latin typeface="Calibri"/>
              </a:rPr>
              <a:t>bars with intervals; hover for the exact numbers</a:t>
            </a:r>
          </a:p>
        </p:txBody>
      </p:sp>
      <p:sp>
        <p:nvSpPr>
          <p:cNvPr id="28" name="Oval 27"/>
          <p:cNvSpPr/>
          <p:nvPr/>
        </p:nvSpPr>
        <p:spPr>
          <a:xfrm>
            <a:off x="7406640" y="4663440"/>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4663440"/>
            <a:ext cx="384048" cy="384048"/>
          </a:xfrm>
          <a:prstGeom prst="rect">
            <a:avLst/>
          </a:prstGeom>
          <a:noFill/>
        </p:spPr>
        <p:txBody>
          <a:bodyPr wrap="square" anchor="ctr" lIns="45720" rIns="45720" tIns="18288" bIns="18288">
            <a:spAutoFit/>
          </a:bodyPr>
          <a:lstStyle/>
          <a:p>
            <a:pPr algn="ctr"/>
            <a:r>
              <a:rPr sz="1600" b="1" i="0">
                <a:solidFill>
                  <a:srgbClr val="FFFFFF"/>
                </a:solidFill>
                <a:latin typeface="Calibri"/>
              </a:rPr>
              <a:t>4</a:t>
            </a:r>
          </a:p>
        </p:txBody>
      </p:sp>
      <p:sp>
        <p:nvSpPr>
          <p:cNvPr id="30" name="TextBox 29"/>
          <p:cNvSpPr txBox="1"/>
          <p:nvPr/>
        </p:nvSpPr>
        <p:spPr>
          <a:xfrm>
            <a:off x="7955279" y="4617720"/>
            <a:ext cx="4023360" cy="548640"/>
          </a:xfrm>
          <a:prstGeom prst="rect">
            <a:avLst/>
          </a:prstGeom>
          <a:noFill/>
        </p:spPr>
        <p:txBody>
          <a:bodyPr wrap="square" anchor="t" lIns="45720" rIns="45720" tIns="18288" bIns="18288">
            <a:spAutoFit/>
          </a:bodyPr>
          <a:lstStyle/>
          <a:p>
            <a:pPr algn="l"/>
            <a:r>
              <a:rPr sz="1800" b="1" i="0">
                <a:solidFill>
                  <a:srgbClr val="111111"/>
                </a:solidFill>
                <a:latin typeface="Calibri"/>
              </a:rPr>
              <a:t>Results at a glance</a:t>
            </a:r>
          </a:p>
        </p:txBody>
      </p:sp>
      <p:sp>
        <p:nvSpPr>
          <p:cNvPr id="31" name="TextBox 30"/>
          <p:cNvSpPr txBox="1"/>
          <p:nvPr/>
        </p:nvSpPr>
        <p:spPr>
          <a:xfrm>
            <a:off x="7955279" y="5074920"/>
            <a:ext cx="4023360" cy="640080"/>
          </a:xfrm>
          <a:prstGeom prst="rect">
            <a:avLst/>
          </a:prstGeom>
          <a:noFill/>
        </p:spPr>
        <p:txBody>
          <a:bodyPr wrap="square" anchor="t" lIns="45720" rIns="45720" tIns="18288" bIns="18288">
            <a:spAutoFit/>
          </a:bodyPr>
          <a:lstStyle/>
          <a:p>
            <a:pPr algn="l"/>
            <a:r>
              <a:rPr sz="1400" b="0" i="0">
                <a:solidFill>
                  <a:srgbClr val="55565A"/>
                </a:solidFill>
                <a:latin typeface="Calibri"/>
              </a:rPr>
              <a:t>chance of a job, skills against what employers rate, where employers expect more</a:t>
            </a:r>
          </a:p>
        </p:txBody>
      </p:sp>
      <p:sp>
        <p:nvSpPr>
          <p:cNvPr id="32" name="TextBox 31"/>
          <p:cNvSpPr txBox="1"/>
          <p:nvPr/>
        </p:nvSpPr>
        <p:spPr>
          <a:xfrm>
            <a:off x="411480" y="6080760"/>
            <a:ext cx="11338560" cy="365760"/>
          </a:xfrm>
          <a:prstGeom prst="rect">
            <a:avLst/>
          </a:prstGeom>
          <a:noFill/>
        </p:spPr>
        <p:txBody>
          <a:bodyPr wrap="square" anchor="t" lIns="45720" rIns="45720" tIns="18288" bIns="18288">
            <a:spAutoFit/>
          </a:bodyPr>
          <a:lstStyle/>
          <a:p>
            <a:pPr algn="l"/>
            <a:r>
              <a:rPr sz="1300" b="0" i="1">
                <a:solidFill>
                  <a:srgbClr val="EB6834"/>
                </a:solidFill>
                <a:latin typeface="Calibri"/>
              </a:rPr>
              <a:t>Redesigned after the usability study: step-by-step profile, dashboard, light and dark themes. The model, the API and the results are unchanged.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Combinations to explore, and what-if sliders</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ARTIFACT</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23</a:t>
            </a:r>
          </a:p>
        </p:txBody>
      </p:sp>
      <p:pic>
        <p:nvPicPr>
          <p:cNvPr id="9" name="Picture 8" descr="A07.png"/>
          <p:cNvPicPr>
            <a:picLocks noChangeAspect="1"/>
          </p:cNvPicPr>
          <p:nvPr/>
        </p:nvPicPr>
        <p:blipFill>
          <a:blip r:embed="rId3"/>
          <a:stretch>
            <a:fillRect/>
          </a:stretch>
        </p:blipFill>
        <p:spPr>
          <a:xfrm>
            <a:off x="411480" y="1530906"/>
            <a:ext cx="6309360" cy="4436268"/>
          </a:xfrm>
          <a:prstGeom prst="rect">
            <a:avLst/>
          </a:prstGeom>
          <a:ln w="15875">
            <a:solidFill>
              <a:srgbClr val="C9D6E8"/>
            </a:solidFill>
          </a:ln>
        </p:spPr>
      </p:pic>
      <p:sp>
        <p:nvSpPr>
          <p:cNvPr id="10" name="TextBox 9"/>
          <p:cNvSpPr txBox="1"/>
          <p:nvPr/>
        </p:nvSpPr>
        <p:spPr>
          <a:xfrm>
            <a:off x="6949440" y="1371600"/>
            <a:ext cx="4937760" cy="4846320"/>
          </a:xfrm>
          <a:prstGeom prst="rect">
            <a:avLst/>
          </a:prstGeom>
          <a:noFill/>
        </p:spPr>
        <p:txBody>
          <a:bodyPr wrap="square">
            <a:spAutoFit/>
          </a:bodyPr>
          <a:lstStyle/>
          <a:p>
            <a:pPr>
              <a:spcAft>
                <a:spcPts val="1100"/>
              </a:spcAft>
            </a:pPr>
            <a:r>
              <a:rPr sz="1800">
                <a:solidFill>
                  <a:srgbClr val="2A78D6"/>
                </a:solidFill>
                <a:latin typeface="Calibri"/>
              </a:rPr>
              <a:t>▪  </a:t>
            </a:r>
            <a:r>
              <a:rPr sz="1800" b="1">
                <a:solidFill>
                  <a:srgbClr val="111111"/>
                </a:solidFill>
                <a:latin typeface="Calibri"/>
              </a:rPr>
              <a:t>Combinations to explore</a:t>
            </a:r>
            <a:r>
              <a:rPr sz="1800" b="0">
                <a:solidFill>
                  <a:srgbClr val="111111"/>
                </a:solidFill>
                <a:latin typeface="Calibri"/>
              </a:rPr>
              <a:t>: small, realistic changes linked with faster searches in profiles like yours</a:t>
            </a:r>
          </a:p>
          <a:p>
            <a:pPr>
              <a:spcAft>
                <a:spcPts val="1100"/>
              </a:spcAft>
            </a:pPr>
            <a:r>
              <a:rPr sz="1800">
                <a:solidFill>
                  <a:srgbClr val="2A78D6"/>
                </a:solidFill>
                <a:latin typeface="Calibri"/>
              </a:rPr>
              <a:t>▪  </a:t>
            </a:r>
            <a:r>
              <a:rPr sz="1800" b="1">
                <a:solidFill>
                  <a:srgbClr val="111111"/>
                </a:solidFill>
                <a:latin typeface="Calibri"/>
              </a:rPr>
              <a:t>What-if sliders</a:t>
            </a:r>
            <a:r>
              <a:rPr sz="1800" b="0">
                <a:solidFill>
                  <a:srgbClr val="111111"/>
                </a:solidFill>
                <a:latin typeface="Calibri"/>
              </a:rPr>
              <a:t>: change internship, projects, certifications, skill ratings and see the range move</a:t>
            </a:r>
          </a:p>
          <a:p>
            <a:pPr>
              <a:spcAft>
                <a:spcPts val="1100"/>
              </a:spcAft>
            </a:pPr>
            <a:r>
              <a:rPr sz="1800">
                <a:solidFill>
                  <a:srgbClr val="2A78D6"/>
                </a:solidFill>
                <a:latin typeface="Calibri"/>
              </a:rPr>
              <a:t>▪  </a:t>
            </a:r>
            <a:r>
              <a:rPr sz="1800" b="1">
                <a:solidFill>
                  <a:srgbClr val="111111"/>
                </a:solidFill>
                <a:latin typeface="Calibri"/>
              </a:rPr>
              <a:t>Careful wording</a:t>
            </a:r>
            <a:r>
              <a:rPr sz="1800" b="0">
                <a:solidFill>
                  <a:srgbClr val="111111"/>
                </a:solidFill>
                <a:latin typeface="Calibri"/>
              </a:rPr>
              <a:t>: 'tended to', never 'will'; patterns, not causes</a:t>
            </a:r>
          </a:p>
          <a:p>
            <a:pPr>
              <a:spcAft>
                <a:spcPts val="1100"/>
              </a:spcAft>
            </a:pPr>
            <a:r>
              <a:rPr sz="1800">
                <a:solidFill>
                  <a:srgbClr val="2A78D6"/>
                </a:solidFill>
                <a:latin typeface="Calibri"/>
              </a:rPr>
              <a:t>▪  </a:t>
            </a:r>
            <a:r>
              <a:rPr sz="1800" b="1">
                <a:solidFill>
                  <a:srgbClr val="111111"/>
                </a:solidFill>
                <a:latin typeface="Calibri"/>
              </a:rPr>
              <a:t>Honest</a:t>
            </a:r>
            <a:r>
              <a:rPr sz="1800" b="0">
                <a:solidFill>
                  <a:srgbClr val="111111"/>
                </a:solidFill>
                <a:latin typeface="Calibri"/>
              </a:rPr>
              <a:t>: the app says only GPA and internship were clearly linked</a:t>
            </a:r>
          </a:p>
          <a:p>
            <a:pPr>
              <a:spcAft>
                <a:spcPts val="1100"/>
              </a:spcAft>
            </a:pPr>
            <a:r>
              <a:rPr sz="1800">
                <a:solidFill>
                  <a:srgbClr val="2A78D6"/>
                </a:solidFill>
                <a:latin typeface="Calibri"/>
              </a:rPr>
              <a:t>▪  </a:t>
            </a:r>
            <a:r>
              <a:rPr sz="1800" b="1">
                <a:solidFill>
                  <a:srgbClr val="111111"/>
                </a:solidFill>
                <a:latin typeface="Calibri"/>
              </a:rPr>
              <a:t>Grounded assistant (Spark)</a:t>
            </a:r>
            <a:r>
              <a:rPr sz="1800" b="0">
                <a:solidFill>
                  <a:srgbClr val="111111"/>
                </a:solidFill>
                <a:latin typeface="Calibri"/>
              </a:rPr>
              <a:t>: answers only from the system's own results; nothing stored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Transparency built in: the Research lab</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ARTIFACT</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24</a:t>
            </a:r>
          </a:p>
        </p:txBody>
      </p:sp>
      <p:pic>
        <p:nvPicPr>
          <p:cNvPr id="9" name="Picture 8" descr="A11.png"/>
          <p:cNvPicPr>
            <a:picLocks noChangeAspect="1"/>
          </p:cNvPicPr>
          <p:nvPr/>
        </p:nvPicPr>
        <p:blipFill>
          <a:blip r:embed="rId3"/>
          <a:stretch>
            <a:fillRect/>
          </a:stretch>
        </p:blipFill>
        <p:spPr>
          <a:xfrm>
            <a:off x="486663" y="1143000"/>
            <a:ext cx="7347712" cy="5166360"/>
          </a:xfrm>
          <a:prstGeom prst="rect">
            <a:avLst/>
          </a:prstGeom>
          <a:ln w="15875">
            <a:solidFill>
              <a:srgbClr val="C9D6E8"/>
            </a:solidFill>
          </a:ln>
        </p:spPr>
      </p:pic>
      <p:sp>
        <p:nvSpPr>
          <p:cNvPr id="10" name="TextBox 9"/>
          <p:cNvSpPr txBox="1"/>
          <p:nvPr/>
        </p:nvSpPr>
        <p:spPr>
          <a:xfrm>
            <a:off x="8138160" y="1371600"/>
            <a:ext cx="3749039" cy="4846320"/>
          </a:xfrm>
          <a:prstGeom prst="rect">
            <a:avLst/>
          </a:prstGeom>
          <a:noFill/>
        </p:spPr>
        <p:txBody>
          <a:bodyPr wrap="square">
            <a:spAutoFit/>
          </a:bodyPr>
          <a:lstStyle/>
          <a:p>
            <a:pPr>
              <a:spcAft>
                <a:spcPts val="1200"/>
              </a:spcAft>
            </a:pPr>
            <a:r>
              <a:rPr sz="1800">
                <a:solidFill>
                  <a:srgbClr val="2A78D6"/>
                </a:solidFill>
                <a:latin typeface="Calibri"/>
              </a:rPr>
              <a:t>▪  </a:t>
            </a:r>
            <a:r>
              <a:rPr sz="1800" b="1">
                <a:solidFill>
                  <a:srgbClr val="111111"/>
                </a:solidFill>
                <a:latin typeface="Calibri"/>
              </a:rPr>
              <a:t>Models</a:t>
            </a:r>
            <a:r>
              <a:rPr sz="1800" b="0">
                <a:solidFill>
                  <a:srgbClr val="111111"/>
                </a:solidFill>
                <a:latin typeface="Calibri"/>
              </a:rPr>
              <a:t>: all 7 compared, selected one marked</a:t>
            </a:r>
          </a:p>
          <a:p>
            <a:pPr>
              <a:spcAft>
                <a:spcPts val="1200"/>
              </a:spcAft>
            </a:pPr>
            <a:r>
              <a:rPr sz="1800">
                <a:solidFill>
                  <a:srgbClr val="2A78D6"/>
                </a:solidFill>
                <a:latin typeface="Calibri"/>
              </a:rPr>
              <a:t>▪  </a:t>
            </a:r>
            <a:r>
              <a:rPr sz="1800" b="1">
                <a:solidFill>
                  <a:srgbClr val="111111"/>
                </a:solidFill>
                <a:latin typeface="Calibri"/>
              </a:rPr>
              <a:t>Tabs</a:t>
            </a:r>
            <a:r>
              <a:rPr sz="1800" b="0">
                <a:solidFill>
                  <a:srgbClr val="111111"/>
                </a:solidFill>
                <a:latin typeface="Calibri"/>
              </a:rPr>
              <a:t>: calibration, what matters, fairness, robustness, simulation, questionnaire</a:t>
            </a:r>
          </a:p>
          <a:p>
            <a:pPr>
              <a:spcAft>
                <a:spcPts val="1200"/>
              </a:spcAft>
            </a:pPr>
            <a:r>
              <a:rPr sz="1800">
                <a:solidFill>
                  <a:srgbClr val="2A78D6"/>
                </a:solidFill>
                <a:latin typeface="Calibri"/>
              </a:rPr>
              <a:t>▪  </a:t>
            </a:r>
            <a:r>
              <a:rPr sz="1800" b="1">
                <a:solidFill>
                  <a:srgbClr val="111111"/>
                </a:solidFill>
                <a:latin typeface="Calibri"/>
              </a:rPr>
              <a:t>Real vs synthetic</a:t>
            </a:r>
            <a:r>
              <a:rPr sz="1800" b="0">
                <a:solidFill>
                  <a:srgbClr val="111111"/>
                </a:solidFill>
                <a:latin typeface="Calibri"/>
              </a:rPr>
              <a:t>: every figure is tagged</a:t>
            </a:r>
          </a:p>
          <a:p>
            <a:pPr>
              <a:spcAft>
                <a:spcPts val="1200"/>
              </a:spcAft>
            </a:pPr>
            <a:r>
              <a:rPr sz="1800">
                <a:solidFill>
                  <a:srgbClr val="2A78D6"/>
                </a:solidFill>
                <a:latin typeface="Calibri"/>
              </a:rPr>
              <a:t>▪  </a:t>
            </a:r>
            <a:r>
              <a:rPr sz="1800" b="1">
                <a:solidFill>
                  <a:srgbClr val="111111"/>
                </a:solidFill>
                <a:latin typeface="Calibri"/>
              </a:rPr>
              <a:t>Honest</a:t>
            </a:r>
            <a:r>
              <a:rPr sz="1800" b="0">
                <a:solidFill>
                  <a:srgbClr val="111111"/>
                </a:solidFill>
                <a:latin typeface="Calibri"/>
              </a:rPr>
              <a:t>: shows the 16.9-point calibration error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Why not just use ChatGPT? I tested it</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ARTIFACT</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25</a:t>
            </a:r>
          </a:p>
        </p:txBody>
      </p:sp>
      <p:sp>
        <p:nvSpPr>
          <p:cNvPr id="9" name="Rounded Rectangle 8"/>
          <p:cNvSpPr/>
          <p:nvPr/>
        </p:nvSpPr>
        <p:spPr>
          <a:xfrm>
            <a:off x="548640" y="1280160"/>
            <a:ext cx="2743200" cy="169164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389888"/>
            <a:ext cx="45720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685800"/>
          </a:xfrm>
          <a:prstGeom prst="rect">
            <a:avLst/>
          </a:prstGeom>
          <a:noFill/>
        </p:spPr>
        <p:txBody>
          <a:bodyPr wrap="square" anchor="ctr" lIns="45720" rIns="45720" tIns="18288" bIns="18288">
            <a:spAutoFit/>
          </a:bodyPr>
          <a:lstStyle/>
          <a:p>
            <a:pPr algn="ctr"/>
            <a:r>
              <a:rPr sz="4000" b="1" i="0">
                <a:solidFill>
                  <a:srgbClr val="2A78D6"/>
                </a:solidFill>
                <a:latin typeface="Calibri"/>
              </a:rPr>
              <a:t>0.619</a:t>
            </a:r>
          </a:p>
        </p:txBody>
      </p:sp>
      <p:sp>
        <p:nvSpPr>
          <p:cNvPr id="12" name="TextBox 11"/>
          <p:cNvSpPr txBox="1"/>
          <p:nvPr/>
        </p:nvSpPr>
        <p:spPr>
          <a:xfrm>
            <a:off x="658368" y="2148840"/>
            <a:ext cx="2523744" cy="777240"/>
          </a:xfrm>
          <a:prstGeom prst="rect">
            <a:avLst/>
          </a:prstGeom>
          <a:noFill/>
        </p:spPr>
        <p:txBody>
          <a:bodyPr wrap="square" anchor="t" lIns="45720" rIns="45720" tIns="18288" bIns="18288">
            <a:spAutoFit/>
          </a:bodyPr>
          <a:lstStyle/>
          <a:p>
            <a:pPr algn="ctr"/>
            <a:r>
              <a:rPr sz="1400" b="0" i="0">
                <a:solidFill>
                  <a:srgbClr val="111111"/>
                </a:solidFill>
                <a:latin typeface="Calibri"/>
              </a:rPr>
              <a:t>this model</a:t>
            </a:r>
          </a:p>
        </p:txBody>
      </p:sp>
      <p:sp>
        <p:nvSpPr>
          <p:cNvPr id="13" name="Rounded Rectangle 12"/>
          <p:cNvSpPr/>
          <p:nvPr/>
        </p:nvSpPr>
        <p:spPr>
          <a:xfrm>
            <a:off x="3474720" y="1280160"/>
            <a:ext cx="2743200" cy="169164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03320" y="1389888"/>
            <a:ext cx="457200" cy="54864"/>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463040"/>
            <a:ext cx="2743200" cy="685800"/>
          </a:xfrm>
          <a:prstGeom prst="rect">
            <a:avLst/>
          </a:prstGeom>
          <a:noFill/>
        </p:spPr>
        <p:txBody>
          <a:bodyPr wrap="square" anchor="ctr" lIns="45720" rIns="45720" tIns="18288" bIns="18288">
            <a:spAutoFit/>
          </a:bodyPr>
          <a:lstStyle/>
          <a:p>
            <a:pPr algn="ctr"/>
            <a:r>
              <a:rPr sz="4000" b="1" i="0">
                <a:solidFill>
                  <a:srgbClr val="EB6834"/>
                </a:solidFill>
                <a:latin typeface="Calibri"/>
              </a:rPr>
              <a:t>0.539</a:t>
            </a:r>
          </a:p>
        </p:txBody>
      </p:sp>
      <p:sp>
        <p:nvSpPr>
          <p:cNvPr id="16" name="TextBox 15"/>
          <p:cNvSpPr txBox="1"/>
          <p:nvPr/>
        </p:nvSpPr>
        <p:spPr>
          <a:xfrm>
            <a:off x="3584448" y="2148840"/>
            <a:ext cx="2523744" cy="777240"/>
          </a:xfrm>
          <a:prstGeom prst="rect">
            <a:avLst/>
          </a:prstGeom>
          <a:noFill/>
        </p:spPr>
        <p:txBody>
          <a:bodyPr wrap="square" anchor="t" lIns="45720" rIns="45720" tIns="18288" bIns="18288">
            <a:spAutoFit/>
          </a:bodyPr>
          <a:lstStyle/>
          <a:p>
            <a:pPr algn="ctr"/>
            <a:r>
              <a:rPr sz="1400" b="0" i="0">
                <a:solidFill>
                  <a:srgbClr val="111111"/>
                </a:solidFill>
                <a:latin typeface="Calibri"/>
              </a:rPr>
              <a:t>ChatGPT (near chance)</a:t>
            </a:r>
          </a:p>
        </p:txBody>
      </p:sp>
      <p:sp>
        <p:nvSpPr>
          <p:cNvPr id="17" name="Rounded Rectangle 16"/>
          <p:cNvSpPr/>
          <p:nvPr/>
        </p:nvSpPr>
        <p:spPr>
          <a:xfrm>
            <a:off x="6400800" y="1280160"/>
            <a:ext cx="2651760" cy="169164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29400" y="1389888"/>
            <a:ext cx="457200" cy="54864"/>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463040"/>
            <a:ext cx="2651760" cy="685800"/>
          </a:xfrm>
          <a:prstGeom prst="rect">
            <a:avLst/>
          </a:prstGeom>
          <a:noFill/>
        </p:spPr>
        <p:txBody>
          <a:bodyPr wrap="square" anchor="ctr" lIns="45720" rIns="45720" tIns="18288" bIns="18288">
            <a:spAutoFit/>
          </a:bodyPr>
          <a:lstStyle/>
          <a:p>
            <a:pPr algn="ctr"/>
            <a:r>
              <a:rPr sz="3400" b="1" i="0">
                <a:solidFill>
                  <a:srgbClr val="1BAF7A"/>
                </a:solidFill>
                <a:latin typeface="Calibri"/>
              </a:rPr>
              <a:t>+0.081</a:t>
            </a:r>
          </a:p>
        </p:txBody>
      </p:sp>
      <p:sp>
        <p:nvSpPr>
          <p:cNvPr id="20" name="TextBox 19"/>
          <p:cNvSpPr txBox="1"/>
          <p:nvPr/>
        </p:nvSpPr>
        <p:spPr>
          <a:xfrm>
            <a:off x="6510528" y="2148840"/>
            <a:ext cx="2432304" cy="777240"/>
          </a:xfrm>
          <a:prstGeom prst="rect">
            <a:avLst/>
          </a:prstGeom>
          <a:noFill/>
        </p:spPr>
        <p:txBody>
          <a:bodyPr wrap="square" anchor="t" lIns="45720" rIns="45720" tIns="18288" bIns="18288">
            <a:spAutoFit/>
          </a:bodyPr>
          <a:lstStyle/>
          <a:p>
            <a:pPr algn="ctr"/>
            <a:r>
              <a:rPr sz="1400" b="0" i="0">
                <a:solidFill>
                  <a:srgbClr val="111111"/>
                </a:solidFill>
                <a:latin typeface="Calibri"/>
              </a:rPr>
              <a:t>difference, 95% CI 0.030-0.131</a:t>
            </a:r>
          </a:p>
        </p:txBody>
      </p:sp>
      <p:sp>
        <p:nvSpPr>
          <p:cNvPr id="21" name="Rounded Rectangle 20"/>
          <p:cNvSpPr/>
          <p:nvPr/>
        </p:nvSpPr>
        <p:spPr>
          <a:xfrm>
            <a:off x="9235440" y="1280160"/>
            <a:ext cx="2377440" cy="169164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64040" y="1389888"/>
            <a:ext cx="457200" cy="54864"/>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463040"/>
            <a:ext cx="2377440" cy="685800"/>
          </a:xfrm>
          <a:prstGeom prst="rect">
            <a:avLst/>
          </a:prstGeom>
          <a:noFill/>
        </p:spPr>
        <p:txBody>
          <a:bodyPr wrap="square" anchor="ctr" lIns="45720" rIns="45720" tIns="18288" bIns="18288">
            <a:spAutoFit/>
          </a:bodyPr>
          <a:lstStyle/>
          <a:p>
            <a:pPr algn="ctr"/>
            <a:r>
              <a:rPr sz="4000" b="1" i="0">
                <a:solidFill>
                  <a:srgbClr val="1C5CAB"/>
                </a:solidFill>
                <a:latin typeface="Calibri"/>
              </a:rPr>
              <a:t>132</a:t>
            </a:r>
          </a:p>
        </p:txBody>
      </p:sp>
      <p:sp>
        <p:nvSpPr>
          <p:cNvPr id="24" name="TextBox 23"/>
          <p:cNvSpPr txBox="1"/>
          <p:nvPr/>
        </p:nvSpPr>
        <p:spPr>
          <a:xfrm>
            <a:off x="9345168" y="2148840"/>
            <a:ext cx="2157984" cy="777240"/>
          </a:xfrm>
          <a:prstGeom prst="rect">
            <a:avLst/>
          </a:prstGeom>
          <a:noFill/>
        </p:spPr>
        <p:txBody>
          <a:bodyPr wrap="square" anchor="t" lIns="45720" rIns="45720" tIns="18288" bIns="18288">
            <a:spAutoFit/>
          </a:bodyPr>
          <a:lstStyle/>
          <a:p>
            <a:pPr algn="ctr"/>
            <a:r>
              <a:rPr sz="1400" b="0" i="0">
                <a:solidFill>
                  <a:srgbClr val="111111"/>
                </a:solidFill>
                <a:latin typeface="Calibri"/>
              </a:rPr>
              <a:t>same test graduates</a:t>
            </a:r>
          </a:p>
        </p:txBody>
      </p:sp>
      <p:graphicFrame>
        <p:nvGraphicFramePr>
          <p:cNvPr id="25" name="Table 24"/>
          <p:cNvGraphicFramePr>
            <a:graphicFrameLocks noGrp="1"/>
          </p:cNvGraphicFramePr>
          <p:nvPr/>
        </p:nvGraphicFramePr>
        <p:xfrm>
          <a:off x="548640" y="3291840"/>
          <a:ext cx="11064239" cy="2743200"/>
        </p:xfrm>
        <a:graphic>
          <a:graphicData uri="http://schemas.openxmlformats.org/drawingml/2006/table">
            <a:tbl>
              <a:tblPr firstRow="1" bandRow="1">
                <a:tableStyleId>{5C22544A-7EE6-4342-B048-85BDC9FD1C3A}</a:tableStyleId>
              </a:tblPr>
              <a:tblGrid>
                <a:gridCol w="2377440"/>
                <a:gridCol w="4480560"/>
                <a:gridCol w="4206239"/>
              </a:tblGrid>
              <a:tr h="457200">
                <a:tc>
                  <a:txBody>
                    <a:bodyPr wrap="square"/>
                    <a:lstStyle/>
                    <a:p>
                      <a:pPr algn="l"/>
                      <a:r>
                        <a:rPr sz="1500" b="1">
                          <a:solidFill>
                            <a:srgbClr val="FFFFFF"/>
                          </a:solidFill>
                          <a:latin typeface="Calibri"/>
                        </a:rPr>
                        <a:t/>
                      </a:r>
                    </a:p>
                  </a:txBody>
                  <a:tcPr marL="73152" marR="73152" anchor="ctr">
                    <a:solidFill>
                      <a:srgbClr val="0D366B"/>
                    </a:solidFill>
                  </a:tcPr>
                </a:tc>
                <a:tc>
                  <a:txBody>
                    <a:bodyPr wrap="square"/>
                    <a:lstStyle/>
                    <a:p>
                      <a:pPr algn="ctr"/>
                      <a:r>
                        <a:rPr sz="1500" b="1">
                          <a:solidFill>
                            <a:srgbClr val="FFFFFF"/>
                          </a:solidFill>
                          <a:latin typeface="Calibri"/>
                        </a:rPr>
                        <a:t>This system</a:t>
                      </a:r>
                    </a:p>
                  </a:txBody>
                  <a:tcPr marL="73152" marR="73152" anchor="ctr">
                    <a:solidFill>
                      <a:srgbClr val="0D366B"/>
                    </a:solidFill>
                  </a:tcPr>
                </a:tc>
                <a:tc>
                  <a:txBody>
                    <a:bodyPr wrap="square"/>
                    <a:lstStyle/>
                    <a:p>
                      <a:pPr algn="ctr"/>
                      <a:r>
                        <a:rPr sz="1500" b="1">
                          <a:solidFill>
                            <a:srgbClr val="FFFFFF"/>
                          </a:solidFill>
                          <a:latin typeface="Calibri"/>
                        </a:rPr>
                        <a:t>ChatGPT (general LLM)</a:t>
                      </a:r>
                    </a:p>
                  </a:txBody>
                  <a:tcPr marL="73152" marR="73152" anchor="ctr">
                    <a:solidFill>
                      <a:srgbClr val="0D366B"/>
                    </a:solidFill>
                  </a:tcPr>
                </a:tc>
              </a:tr>
              <a:tr h="457200">
                <a:tc>
                  <a:txBody>
                    <a:bodyPr wrap="square"/>
                    <a:lstStyle/>
                    <a:p>
                      <a:pPr algn="l"/>
                      <a:r>
                        <a:rPr sz="1500" b="1">
                          <a:solidFill>
                            <a:srgbClr val="111111"/>
                          </a:solidFill>
                          <a:latin typeface="Calibri"/>
                        </a:rPr>
                        <a:t>Trained on</a:t>
                      </a:r>
                    </a:p>
                  </a:txBody>
                  <a:tcPr marL="73152" marR="73152" anchor="ctr">
                    <a:solidFill>
                      <a:srgbClr val="FFFFFF"/>
                    </a:solidFill>
                  </a:tcPr>
                </a:tc>
                <a:tc>
                  <a:txBody>
                    <a:bodyPr wrap="square"/>
                    <a:lstStyle/>
                    <a:p>
                      <a:pPr algn="ctr"/>
                      <a:r>
                        <a:rPr sz="1500" b="0">
                          <a:solidFill>
                            <a:srgbClr val="111111"/>
                          </a:solidFill>
                          <a:latin typeface="Calibri"/>
                        </a:rPr>
                        <a:t>620 real Sri Lankan graduates, for this one outcome</a:t>
                      </a:r>
                    </a:p>
                  </a:txBody>
                  <a:tcPr marL="73152" marR="73152" anchor="ctr">
                    <a:solidFill>
                      <a:srgbClr val="FFFFFF"/>
                    </a:solidFill>
                  </a:tcPr>
                </a:tc>
                <a:tc>
                  <a:txBody>
                    <a:bodyPr wrap="square"/>
                    <a:lstStyle/>
                    <a:p>
                      <a:pPr algn="ctr"/>
                      <a:r>
                        <a:rPr sz="1500" b="0">
                          <a:solidFill>
                            <a:srgbClr val="111111"/>
                          </a:solidFill>
                          <a:latin typeface="Calibri"/>
                        </a:rPr>
                        <a:t>web text, for general language</a:t>
                      </a:r>
                    </a:p>
                  </a:txBody>
                  <a:tcPr marL="73152" marR="73152" anchor="ctr">
                    <a:solidFill>
                      <a:srgbClr val="FFFFFF"/>
                    </a:solidFill>
                  </a:tcPr>
                </a:tc>
              </a:tr>
              <a:tr h="457200">
                <a:tc>
                  <a:txBody>
                    <a:bodyPr wrap="square"/>
                    <a:lstStyle/>
                    <a:p>
                      <a:pPr algn="l"/>
                      <a:r>
                        <a:rPr sz="1500" b="1">
                          <a:solidFill>
                            <a:srgbClr val="111111"/>
                          </a:solidFill>
                          <a:latin typeface="Calibri"/>
                        </a:rPr>
                        <a:t>Uses graduates still searching</a:t>
                      </a:r>
                    </a:p>
                  </a:txBody>
                  <a:tcPr marL="73152" marR="73152" anchor="ctr">
                    <a:solidFill>
                      <a:srgbClr val="EEF3FA"/>
                    </a:solidFill>
                  </a:tcPr>
                </a:tc>
                <a:tc>
                  <a:txBody>
                    <a:bodyPr wrap="square"/>
                    <a:lstStyle/>
                    <a:p>
                      <a:pPr algn="ctr"/>
                      <a:r>
                        <a:rPr sz="1500" b="0">
                          <a:solidFill>
                            <a:srgbClr val="111111"/>
                          </a:solidFill>
                          <a:latin typeface="Calibri"/>
                        </a:rPr>
                        <a:t>Yes (censoring)</a:t>
                      </a:r>
                    </a:p>
                  </a:txBody>
                  <a:tcPr marL="73152" marR="73152" anchor="ctr">
                    <a:solidFill>
                      <a:srgbClr val="EEF3FA"/>
                    </a:solidFill>
                  </a:tcPr>
                </a:tc>
                <a:tc>
                  <a:txBody>
                    <a:bodyPr wrap="square"/>
                    <a:lstStyle/>
                    <a:p>
                      <a:pPr algn="ctr"/>
                      <a:r>
                        <a:rPr sz="1500" b="0">
                          <a:solidFill>
                            <a:srgbClr val="EB6834"/>
                          </a:solidFill>
                          <a:latin typeface="Calibri"/>
                        </a:rPr>
                        <a:t>No</a:t>
                      </a:r>
                    </a:p>
                  </a:txBody>
                  <a:tcPr marL="73152" marR="73152" anchor="ctr">
                    <a:solidFill>
                      <a:srgbClr val="EEF3FA"/>
                    </a:solidFill>
                  </a:tcPr>
                </a:tc>
              </a:tr>
              <a:tr h="457200">
                <a:tc>
                  <a:txBody>
                    <a:bodyPr wrap="square"/>
                    <a:lstStyle/>
                    <a:p>
                      <a:pPr algn="l"/>
                      <a:r>
                        <a:rPr sz="1500" b="1">
                          <a:solidFill>
                            <a:srgbClr val="111111"/>
                          </a:solidFill>
                          <a:latin typeface="Calibri"/>
                        </a:rPr>
                        <a:t>Consistency</a:t>
                      </a:r>
                    </a:p>
                  </a:txBody>
                  <a:tcPr marL="73152" marR="73152" anchor="ctr">
                    <a:solidFill>
                      <a:srgbClr val="FFFFFF"/>
                    </a:solidFill>
                  </a:tcPr>
                </a:tc>
                <a:tc>
                  <a:txBody>
                    <a:bodyPr wrap="square"/>
                    <a:lstStyle/>
                    <a:p>
                      <a:pPr algn="ctr"/>
                      <a:r>
                        <a:rPr sz="1500" b="0">
                          <a:solidFill>
                            <a:srgbClr val="111111"/>
                          </a:solidFill>
                          <a:latin typeface="Calibri"/>
                        </a:rPr>
                        <a:t>same profile → same answer</a:t>
                      </a:r>
                    </a:p>
                  </a:txBody>
                  <a:tcPr marL="73152" marR="73152" anchor="ctr">
                    <a:solidFill>
                      <a:srgbClr val="FFFFFF"/>
                    </a:solidFill>
                  </a:tcPr>
                </a:tc>
                <a:tc>
                  <a:txBody>
                    <a:bodyPr wrap="square"/>
                    <a:lstStyle/>
                    <a:p>
                      <a:pPr algn="ctr"/>
                      <a:r>
                        <a:rPr sz="1500" b="0">
                          <a:solidFill>
                            <a:srgbClr val="111111"/>
                          </a:solidFill>
                          <a:latin typeface="Calibri"/>
                        </a:rPr>
                        <a:t>different answers on repeated runs</a:t>
                      </a:r>
                    </a:p>
                  </a:txBody>
                  <a:tcPr marL="73152" marR="73152" anchor="ctr">
                    <a:solidFill>
                      <a:srgbClr val="FFFFFF"/>
                    </a:solidFill>
                  </a:tcPr>
                </a:tc>
              </a:tr>
              <a:tr h="457200">
                <a:tc>
                  <a:txBody>
                    <a:bodyPr wrap="square"/>
                    <a:lstStyle/>
                    <a:p>
                      <a:pPr algn="l"/>
                      <a:r>
                        <a:rPr sz="1500" b="1">
                          <a:solidFill>
                            <a:srgbClr val="111111"/>
                          </a:solidFill>
                          <a:latin typeface="Calibri"/>
                        </a:rPr>
                        <a:t>Bias on the 132 graduates</a:t>
                      </a:r>
                    </a:p>
                  </a:txBody>
                  <a:tcPr marL="73152" marR="73152" anchor="ctr">
                    <a:solidFill>
                      <a:srgbClr val="EEF3FA"/>
                    </a:solidFill>
                  </a:tcPr>
                </a:tc>
                <a:tc>
                  <a:txBody>
                    <a:bodyPr wrap="square"/>
                    <a:lstStyle/>
                    <a:p>
                      <a:pPr algn="ctr"/>
                      <a:r>
                        <a:rPr sz="1500" b="0">
                          <a:solidFill>
                            <a:srgbClr val="111111"/>
                          </a:solidFill>
                          <a:latin typeface="Calibri"/>
                        </a:rPr>
                        <a:t>under-predicts (pessimistic)</a:t>
                      </a:r>
                    </a:p>
                  </a:txBody>
                  <a:tcPr marL="73152" marR="73152" anchor="ctr">
                    <a:solidFill>
                      <a:srgbClr val="EEF3FA"/>
                    </a:solidFill>
                  </a:tcPr>
                </a:tc>
                <a:tc>
                  <a:txBody>
                    <a:bodyPr wrap="square"/>
                    <a:lstStyle/>
                    <a:p>
                      <a:pPr algn="ctr"/>
                      <a:r>
                        <a:rPr sz="1500" b="0">
                          <a:solidFill>
                            <a:srgbClr val="111111"/>
                          </a:solidFill>
                          <a:latin typeface="Calibri"/>
                        </a:rPr>
                        <a:t>over-optimistic within 6 months</a:t>
                      </a:r>
                    </a:p>
                  </a:txBody>
                  <a:tcPr marL="73152" marR="73152" anchor="ctr">
                    <a:solidFill>
                      <a:srgbClr val="EEF3FA"/>
                    </a:solidFill>
                  </a:tcPr>
                </a:tc>
              </a:tr>
              <a:tr h="457200">
                <a:tc>
                  <a:txBody>
                    <a:bodyPr wrap="square"/>
                    <a:lstStyle/>
                    <a:p>
                      <a:pPr algn="l"/>
                      <a:r>
                        <a:rPr sz="1500" b="1">
                          <a:solidFill>
                            <a:srgbClr val="111111"/>
                          </a:solidFill>
                          <a:latin typeface="Calibri"/>
                        </a:rPr>
                        <a:t>Best at</a:t>
                      </a:r>
                    </a:p>
                  </a:txBody>
                  <a:tcPr marL="73152" marR="73152" anchor="ctr">
                    <a:solidFill>
                      <a:srgbClr val="FFFFFF"/>
                    </a:solidFill>
                  </a:tcPr>
                </a:tc>
                <a:tc>
                  <a:txBody>
                    <a:bodyPr wrap="square"/>
                    <a:lstStyle/>
                    <a:p>
                      <a:pPr algn="ctr"/>
                      <a:r>
                        <a:rPr sz="1500" b="0">
                          <a:solidFill>
                            <a:srgbClr val="111111"/>
                          </a:solidFill>
                          <a:latin typeface="Calibri"/>
                        </a:rPr>
                        <a:t>individual, consistent, evidence-based timeline</a:t>
                      </a:r>
                    </a:p>
                  </a:txBody>
                  <a:tcPr marL="73152" marR="73152" anchor="ctr">
                    <a:solidFill>
                      <a:srgbClr val="FFFFFF"/>
                    </a:solidFill>
                  </a:tcPr>
                </a:tc>
                <a:tc>
                  <a:txBody>
                    <a:bodyPr wrap="square"/>
                    <a:lstStyle/>
                    <a:p>
                      <a:pPr algn="ctr"/>
                      <a:r>
                        <a:rPr sz="1500" b="0">
                          <a:solidFill>
                            <a:srgbClr val="111111"/>
                          </a:solidFill>
                          <a:latin typeface="Calibri"/>
                        </a:rPr>
                        <a:t>general advice and wording</a:t>
                      </a:r>
                    </a:p>
                  </a:txBody>
                  <a:tcPr marL="73152" marR="73152"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Usability: SUS 76.3 with 12 users, and what changed after</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ARTIFACT</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26</a:t>
            </a:r>
          </a:p>
        </p:txBody>
      </p:sp>
      <p:pic>
        <p:nvPicPr>
          <p:cNvPr id="9" name="Picture 8" descr="sus_scores.png"/>
          <p:cNvPicPr>
            <a:picLocks noChangeAspect="1"/>
          </p:cNvPicPr>
          <p:nvPr/>
        </p:nvPicPr>
        <p:blipFill>
          <a:blip r:embed="rId3"/>
          <a:stretch>
            <a:fillRect/>
          </a:stretch>
        </p:blipFill>
        <p:spPr>
          <a:xfrm>
            <a:off x="411480" y="1453896"/>
            <a:ext cx="5669280" cy="3401568"/>
          </a:xfrm>
          <a:prstGeom prst="rect">
            <a:avLst/>
          </a:prstGeom>
          <a:ln w="15875">
            <a:solidFill>
              <a:srgbClr val="C9D6E8"/>
            </a:solidFill>
          </a:ln>
        </p:spPr>
      </p:pic>
      <p:sp>
        <p:nvSpPr>
          <p:cNvPr id="10" name="Rounded Rectangle 9"/>
          <p:cNvSpPr/>
          <p:nvPr/>
        </p:nvSpPr>
        <p:spPr>
          <a:xfrm>
            <a:off x="548640" y="5257800"/>
            <a:ext cx="1828800" cy="10972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5367528"/>
            <a:ext cx="457200" cy="54864"/>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440680"/>
            <a:ext cx="1828800" cy="685800"/>
          </a:xfrm>
          <a:prstGeom prst="rect">
            <a:avLst/>
          </a:prstGeom>
          <a:noFill/>
        </p:spPr>
        <p:txBody>
          <a:bodyPr wrap="square" anchor="ctr" lIns="45720" rIns="45720" tIns="18288" bIns="18288">
            <a:spAutoFit/>
          </a:bodyPr>
          <a:lstStyle/>
          <a:p>
            <a:pPr algn="ctr"/>
            <a:r>
              <a:rPr sz="2800" b="1" i="0">
                <a:solidFill>
                  <a:srgbClr val="1BAF7A"/>
                </a:solidFill>
                <a:latin typeface="Calibri"/>
              </a:rPr>
              <a:t>76.3</a:t>
            </a:r>
          </a:p>
        </p:txBody>
      </p:sp>
      <p:sp>
        <p:nvSpPr>
          <p:cNvPr id="13" name="TextBox 12"/>
          <p:cNvSpPr txBox="1"/>
          <p:nvPr/>
        </p:nvSpPr>
        <p:spPr>
          <a:xfrm>
            <a:off x="658368" y="6126480"/>
            <a:ext cx="1609344" cy="182880"/>
          </a:xfrm>
          <a:prstGeom prst="rect">
            <a:avLst/>
          </a:prstGeom>
          <a:noFill/>
        </p:spPr>
        <p:txBody>
          <a:bodyPr wrap="square" anchor="t" lIns="45720" rIns="45720" tIns="18288" bIns="18288">
            <a:spAutoFit/>
          </a:bodyPr>
          <a:lstStyle/>
          <a:p>
            <a:pPr algn="ctr"/>
            <a:r>
              <a:rPr sz="1400" b="0" i="0">
                <a:solidFill>
                  <a:srgbClr val="111111"/>
                </a:solidFill>
                <a:latin typeface="Calibri"/>
              </a:rPr>
              <a:t>mean SUS</a:t>
            </a:r>
          </a:p>
        </p:txBody>
      </p:sp>
      <p:sp>
        <p:nvSpPr>
          <p:cNvPr id="14" name="Rounded Rectangle 13"/>
          <p:cNvSpPr/>
          <p:nvPr/>
        </p:nvSpPr>
        <p:spPr>
          <a:xfrm>
            <a:off x="2514600" y="5257800"/>
            <a:ext cx="1828800" cy="10972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0" y="5367528"/>
            <a:ext cx="45720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4600" y="5440680"/>
            <a:ext cx="1828800" cy="685800"/>
          </a:xfrm>
          <a:prstGeom prst="rect">
            <a:avLst/>
          </a:prstGeom>
          <a:noFill/>
        </p:spPr>
        <p:txBody>
          <a:bodyPr wrap="square" anchor="ctr" lIns="45720" rIns="45720" tIns="18288" bIns="18288">
            <a:spAutoFit/>
          </a:bodyPr>
          <a:lstStyle/>
          <a:p>
            <a:pPr algn="ctr"/>
            <a:r>
              <a:rPr sz="2600" b="1" i="0">
                <a:solidFill>
                  <a:srgbClr val="2A78D6"/>
                </a:solidFill>
                <a:latin typeface="Calibri"/>
              </a:rPr>
              <a:t>10 / 12</a:t>
            </a:r>
          </a:p>
        </p:txBody>
      </p:sp>
      <p:sp>
        <p:nvSpPr>
          <p:cNvPr id="17" name="TextBox 16"/>
          <p:cNvSpPr txBox="1"/>
          <p:nvPr/>
        </p:nvSpPr>
        <p:spPr>
          <a:xfrm>
            <a:off x="2624328" y="6126480"/>
            <a:ext cx="1609344" cy="182880"/>
          </a:xfrm>
          <a:prstGeom prst="rect">
            <a:avLst/>
          </a:prstGeom>
          <a:noFill/>
        </p:spPr>
        <p:txBody>
          <a:bodyPr wrap="square" anchor="t" lIns="45720" rIns="45720" tIns="18288" bIns="18288">
            <a:spAutoFit/>
          </a:bodyPr>
          <a:lstStyle/>
          <a:p>
            <a:pPr algn="ctr"/>
            <a:r>
              <a:rPr sz="1400" b="0" i="0">
                <a:solidFill>
                  <a:srgbClr val="111111"/>
                </a:solidFill>
                <a:latin typeface="Calibri"/>
              </a:rPr>
              <a:t>scored ≥ 68</a:t>
            </a:r>
          </a:p>
        </p:txBody>
      </p:sp>
      <p:sp>
        <p:nvSpPr>
          <p:cNvPr id="18" name="Rounded Rectangle 17"/>
          <p:cNvSpPr/>
          <p:nvPr/>
        </p:nvSpPr>
        <p:spPr>
          <a:xfrm>
            <a:off x="4480560" y="5257800"/>
            <a:ext cx="1737360" cy="10972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09160" y="5367528"/>
            <a:ext cx="457200" cy="54864"/>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5440680"/>
            <a:ext cx="1737360" cy="685800"/>
          </a:xfrm>
          <a:prstGeom prst="rect">
            <a:avLst/>
          </a:prstGeom>
          <a:noFill/>
        </p:spPr>
        <p:txBody>
          <a:bodyPr wrap="square" anchor="ctr" lIns="45720" rIns="45720" tIns="18288" bIns="18288">
            <a:spAutoFit/>
          </a:bodyPr>
          <a:lstStyle/>
          <a:p>
            <a:pPr algn="ctr"/>
            <a:r>
              <a:rPr sz="2600" b="1" i="0">
                <a:solidFill>
                  <a:srgbClr val="1C5CAB"/>
                </a:solidFill>
                <a:latin typeface="Calibri"/>
              </a:rPr>
              <a:t>α 0.90</a:t>
            </a:r>
          </a:p>
        </p:txBody>
      </p:sp>
      <p:sp>
        <p:nvSpPr>
          <p:cNvPr id="21" name="TextBox 20"/>
          <p:cNvSpPr txBox="1"/>
          <p:nvPr/>
        </p:nvSpPr>
        <p:spPr>
          <a:xfrm>
            <a:off x="4590288" y="6126480"/>
            <a:ext cx="1517904" cy="182880"/>
          </a:xfrm>
          <a:prstGeom prst="rect">
            <a:avLst/>
          </a:prstGeom>
          <a:noFill/>
        </p:spPr>
        <p:txBody>
          <a:bodyPr wrap="square" anchor="t" lIns="45720" rIns="45720" tIns="18288" bIns="18288">
            <a:spAutoFit/>
          </a:bodyPr>
          <a:lstStyle/>
          <a:p>
            <a:pPr algn="ctr"/>
            <a:r>
              <a:rPr sz="1400" b="0" i="0">
                <a:solidFill>
                  <a:srgbClr val="111111"/>
                </a:solidFill>
                <a:latin typeface="Calibri"/>
              </a:rPr>
              <a:t>reliability</a:t>
            </a:r>
          </a:p>
        </p:txBody>
      </p:sp>
      <p:graphicFrame>
        <p:nvGraphicFramePr>
          <p:cNvPr id="22" name="Table 21"/>
          <p:cNvGraphicFramePr>
            <a:graphicFrameLocks noGrp="1"/>
          </p:cNvGraphicFramePr>
          <p:nvPr/>
        </p:nvGraphicFramePr>
        <p:xfrm>
          <a:off x="6400800" y="1234440"/>
          <a:ext cx="5486399" cy="4114800"/>
        </p:xfrm>
        <a:graphic>
          <a:graphicData uri="http://schemas.openxmlformats.org/drawingml/2006/table">
            <a:tbl>
              <a:tblPr firstRow="1" bandRow="1">
                <a:tableStyleId>{5C22544A-7EE6-4342-B048-85BDC9FD1C3A}</a:tableStyleId>
              </a:tblPr>
              <a:tblGrid>
                <a:gridCol w="2560319"/>
                <a:gridCol w="2926080"/>
              </a:tblGrid>
              <a:tr h="822960">
                <a:tc>
                  <a:txBody>
                    <a:bodyPr wrap="square"/>
                    <a:lstStyle/>
                    <a:p>
                      <a:pPr algn="l"/>
                      <a:r>
                        <a:rPr sz="1400" b="1">
                          <a:solidFill>
                            <a:srgbClr val="FFFFFF"/>
                          </a:solidFill>
                          <a:latin typeface="Calibri"/>
                        </a:rPr>
                        <a:t>What users said</a:t>
                      </a:r>
                    </a:p>
                  </a:txBody>
                  <a:tcPr marL="73152" marR="73152" anchor="ctr">
                    <a:solidFill>
                      <a:srgbClr val="0D366B"/>
                    </a:solidFill>
                  </a:tcPr>
                </a:tc>
                <a:tc>
                  <a:txBody>
                    <a:bodyPr wrap="square"/>
                    <a:lstStyle/>
                    <a:p>
                      <a:pPr algn="ctr"/>
                      <a:r>
                        <a:rPr sz="1400" b="1">
                          <a:solidFill>
                            <a:srgbClr val="FFFFFF"/>
                          </a:solidFill>
                          <a:latin typeface="Calibri"/>
                        </a:rPr>
                        <a:t>What changed</a:t>
                      </a:r>
                    </a:p>
                  </a:txBody>
                  <a:tcPr marL="73152" marR="73152" anchor="ctr">
                    <a:solidFill>
                      <a:srgbClr val="0D366B"/>
                    </a:solidFill>
                  </a:tcPr>
                </a:tc>
              </a:tr>
              <a:tr h="822960">
                <a:tc>
                  <a:txBody>
                    <a:bodyPr wrap="square"/>
                    <a:lstStyle/>
                    <a:p>
                      <a:pPr algn="l"/>
                      <a:r>
                        <a:rPr sz="1400" b="1">
                          <a:solidFill>
                            <a:srgbClr val="111111"/>
                          </a:solidFill>
                          <a:latin typeface="Calibri"/>
                        </a:rPr>
                        <a:t>Main result not obvious (3)</a:t>
                      </a:r>
                    </a:p>
                  </a:txBody>
                  <a:tcPr marL="73152" marR="73152" anchor="ctr">
                    <a:solidFill>
                      <a:srgbClr val="FFFFFF"/>
                    </a:solidFill>
                  </a:tcPr>
                </a:tc>
                <a:tc>
                  <a:txBody>
                    <a:bodyPr wrap="square"/>
                    <a:lstStyle/>
                    <a:p>
                      <a:pPr algn="ctr"/>
                      <a:r>
                        <a:rPr sz="1400" b="0">
                          <a:solidFill>
                            <a:srgbClr val="111111"/>
                          </a:solidFill>
                          <a:latin typeface="Calibri"/>
                        </a:rPr>
                        <a:t>Chat folded away so the estimate stays the focus</a:t>
                      </a:r>
                    </a:p>
                  </a:txBody>
                  <a:tcPr marL="73152" marR="73152" anchor="ctr">
                    <a:solidFill>
                      <a:srgbClr val="FFFFFF"/>
                    </a:solidFill>
                  </a:tcPr>
                </a:tc>
              </a:tr>
              <a:tr h="822960">
                <a:tc>
                  <a:txBody>
                    <a:bodyPr wrap="square"/>
                    <a:lstStyle/>
                    <a:p>
                      <a:pPr algn="l"/>
                      <a:r>
                        <a:rPr sz="1400" b="1">
                          <a:solidFill>
                            <a:srgbClr val="111111"/>
                          </a:solidFill>
                          <a:latin typeface="Calibri"/>
                        </a:rPr>
                        <a:t>Terms and charts need explaining (3)</a:t>
                      </a:r>
                    </a:p>
                  </a:txBody>
                  <a:tcPr marL="73152" marR="73152" anchor="ctr">
                    <a:solidFill>
                      <a:srgbClr val="EEF3FA"/>
                    </a:solidFill>
                  </a:tcPr>
                </a:tc>
                <a:tc>
                  <a:txBody>
                    <a:bodyPr wrap="square"/>
                    <a:lstStyle/>
                    <a:p>
                      <a:pPr algn="ctr"/>
                      <a:r>
                        <a:rPr sz="1400" b="0">
                          <a:solidFill>
                            <a:srgbClr val="111111"/>
                          </a:solidFill>
                          <a:latin typeface="Calibri"/>
                        </a:rPr>
                        <a:t>'How to read this result' guide added</a:t>
                      </a:r>
                    </a:p>
                  </a:txBody>
                  <a:tcPr marL="73152" marR="73152" anchor="ctr">
                    <a:solidFill>
                      <a:srgbClr val="EEF3FA"/>
                    </a:solidFill>
                  </a:tcPr>
                </a:tc>
              </a:tr>
              <a:tr h="822960">
                <a:tc>
                  <a:txBody>
                    <a:bodyPr wrap="square"/>
                    <a:lstStyle/>
                    <a:p>
                      <a:pPr algn="l"/>
                      <a:r>
                        <a:rPr sz="1400" b="1">
                          <a:solidFill>
                            <a:srgbClr val="111111"/>
                          </a:solidFill>
                          <a:latin typeface="Calibri"/>
                        </a:rPr>
                        <a:t>Navigation inconsistent (2)</a:t>
                      </a:r>
                    </a:p>
                  </a:txBody>
                  <a:tcPr marL="73152" marR="73152" anchor="ctr">
                    <a:solidFill>
                      <a:srgbClr val="FFFFFF"/>
                    </a:solidFill>
                  </a:tcPr>
                </a:tc>
                <a:tc>
                  <a:txBody>
                    <a:bodyPr wrap="square"/>
                    <a:lstStyle/>
                    <a:p>
                      <a:pPr algn="ctr"/>
                      <a:r>
                        <a:rPr sz="1400" b="0">
                          <a:solidFill>
                            <a:srgbClr val="111111"/>
                          </a:solidFill>
                          <a:latin typeface="Calibri"/>
                        </a:rPr>
                        <a:t>Page headings now match the menu</a:t>
                      </a:r>
                    </a:p>
                  </a:txBody>
                  <a:tcPr marL="73152" marR="73152" anchor="ctr">
                    <a:solidFill>
                      <a:srgbClr val="FFFFFF"/>
                    </a:solidFill>
                  </a:tcPr>
                </a:tc>
              </a:tr>
              <a:tr h="822960">
                <a:tc>
                  <a:txBody>
                    <a:bodyPr wrap="square"/>
                    <a:lstStyle/>
                    <a:p>
                      <a:pPr algn="l"/>
                      <a:r>
                        <a:rPr sz="1400" b="1">
                          <a:solidFill>
                            <a:srgbClr val="111111"/>
                          </a:solidFill>
                          <a:latin typeface="Calibri"/>
                        </a:rPr>
                        <a:t>Unsure the numbers apply to them (2)</a:t>
                      </a:r>
                    </a:p>
                  </a:txBody>
                  <a:tcPr marL="73152" marR="73152" anchor="ctr">
                    <a:solidFill>
                      <a:srgbClr val="EEF3FA"/>
                    </a:solidFill>
                  </a:tcPr>
                </a:tc>
                <a:tc>
                  <a:txBody>
                    <a:bodyPr wrap="square"/>
                    <a:lstStyle/>
                    <a:p>
                      <a:pPr algn="ctr"/>
                      <a:r>
                        <a:rPr sz="1400" b="0">
                          <a:solidFill>
                            <a:srgbClr val="111111"/>
                          </a:solidFill>
                          <a:latin typeface="Calibri"/>
                        </a:rPr>
                        <a:t>Data-source line under the estimate</a:t>
                      </a:r>
                    </a:p>
                  </a:txBody>
                  <a:tcPr marL="73152" marR="73152" anchor="ctr">
                    <a:solidFill>
                      <a:srgbClr val="EEF3FA"/>
                    </a:solidFill>
                  </a:tcPr>
                </a:tc>
              </a:tr>
            </a:tbl>
          </a:graphicData>
        </a:graphic>
      </p:graphicFrame>
      <p:sp>
        <p:nvSpPr>
          <p:cNvPr id="23" name="TextBox 22"/>
          <p:cNvSpPr txBox="1"/>
          <p:nvPr/>
        </p:nvSpPr>
        <p:spPr>
          <a:xfrm>
            <a:off x="6400800" y="5486400"/>
            <a:ext cx="5486400" cy="822960"/>
          </a:xfrm>
          <a:prstGeom prst="rect">
            <a:avLst/>
          </a:prstGeom>
          <a:noFill/>
        </p:spPr>
        <p:txBody>
          <a:bodyPr wrap="square" anchor="t" lIns="45720" rIns="45720" tIns="18288" bIns="18288">
            <a:spAutoFit/>
          </a:bodyPr>
          <a:lstStyle/>
          <a:p>
            <a:pPr algn="l"/>
            <a:r>
              <a:rPr sz="1400" b="0" i="1">
                <a:solidFill>
                  <a:srgbClr val="EB6834"/>
                </a:solidFill>
                <a:latin typeface="Calibri"/>
              </a:rPr>
              <a:t>Honest limits: 12 peers, task completion not recorded, fixes not re-tested.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Quality and trust: tests, reproducibility, ethics</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ARTIFACT</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27</a:t>
            </a:r>
          </a:p>
        </p:txBody>
      </p:sp>
      <p:sp>
        <p:nvSpPr>
          <p:cNvPr id="9" name="Rounded Rectangle 8"/>
          <p:cNvSpPr/>
          <p:nvPr/>
        </p:nvSpPr>
        <p:spPr>
          <a:xfrm>
            <a:off x="548640" y="1280160"/>
            <a:ext cx="2651760" cy="173736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389888"/>
            <a:ext cx="457200" cy="54864"/>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651760" cy="685800"/>
          </a:xfrm>
          <a:prstGeom prst="rect">
            <a:avLst/>
          </a:prstGeom>
          <a:noFill/>
        </p:spPr>
        <p:txBody>
          <a:bodyPr wrap="square" anchor="ctr" lIns="45720" rIns="45720" tIns="18288" bIns="18288">
            <a:spAutoFit/>
          </a:bodyPr>
          <a:lstStyle/>
          <a:p>
            <a:pPr algn="ctr"/>
            <a:r>
              <a:rPr sz="3400" b="1" i="0">
                <a:solidFill>
                  <a:srgbClr val="1BAF7A"/>
                </a:solidFill>
                <a:latin typeface="Calibri"/>
              </a:rPr>
              <a:t>295</a:t>
            </a:r>
          </a:p>
        </p:txBody>
      </p:sp>
      <p:sp>
        <p:nvSpPr>
          <p:cNvPr id="12" name="TextBox 11"/>
          <p:cNvSpPr txBox="1"/>
          <p:nvPr/>
        </p:nvSpPr>
        <p:spPr>
          <a:xfrm>
            <a:off x="658368" y="2148840"/>
            <a:ext cx="2432304" cy="822960"/>
          </a:xfrm>
          <a:prstGeom prst="rect">
            <a:avLst/>
          </a:prstGeom>
          <a:noFill/>
        </p:spPr>
        <p:txBody>
          <a:bodyPr wrap="square" anchor="t" lIns="45720" rIns="45720" tIns="18288" bIns="18288">
            <a:spAutoFit/>
          </a:bodyPr>
          <a:lstStyle/>
          <a:p>
            <a:pPr algn="ctr"/>
            <a:r>
              <a:rPr sz="1400" b="0" i="0">
                <a:solidFill>
                  <a:srgbClr val="111111"/>
                </a:solidFill>
                <a:latin typeface="Calibri"/>
              </a:rPr>
              <a:t>automated tests pass</a:t>
            </a:r>
          </a:p>
        </p:txBody>
      </p:sp>
      <p:sp>
        <p:nvSpPr>
          <p:cNvPr id="13" name="Rounded Rectangle 12"/>
          <p:cNvSpPr/>
          <p:nvPr/>
        </p:nvSpPr>
        <p:spPr>
          <a:xfrm>
            <a:off x="3337560" y="1280160"/>
            <a:ext cx="2651760" cy="173736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66160" y="1389888"/>
            <a:ext cx="457200" cy="5486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1463040"/>
            <a:ext cx="2651760" cy="685800"/>
          </a:xfrm>
          <a:prstGeom prst="rect">
            <a:avLst/>
          </a:prstGeom>
          <a:noFill/>
        </p:spPr>
        <p:txBody>
          <a:bodyPr wrap="square" anchor="ctr" lIns="45720" rIns="45720" tIns="18288" bIns="18288">
            <a:spAutoFit/>
          </a:bodyPr>
          <a:lstStyle/>
          <a:p>
            <a:pPr algn="ctr"/>
            <a:r>
              <a:rPr sz="2800" b="1" i="0">
                <a:solidFill>
                  <a:srgbClr val="2A78D6"/>
                </a:solidFill>
                <a:latin typeface="Calibri"/>
              </a:rPr>
              <a:t>1 command</a:t>
            </a:r>
          </a:p>
        </p:txBody>
      </p:sp>
      <p:sp>
        <p:nvSpPr>
          <p:cNvPr id="16" name="TextBox 15"/>
          <p:cNvSpPr txBox="1"/>
          <p:nvPr/>
        </p:nvSpPr>
        <p:spPr>
          <a:xfrm>
            <a:off x="3447288" y="2148840"/>
            <a:ext cx="2432304" cy="822960"/>
          </a:xfrm>
          <a:prstGeom prst="rect">
            <a:avLst/>
          </a:prstGeom>
          <a:noFill/>
        </p:spPr>
        <p:txBody>
          <a:bodyPr wrap="square" anchor="t" lIns="45720" rIns="45720" tIns="18288" bIns="18288">
            <a:spAutoFit/>
          </a:bodyPr>
          <a:lstStyle/>
          <a:p>
            <a:pPr algn="ctr"/>
            <a:r>
              <a:rPr sz="1400" b="0" i="0">
                <a:solidFill>
                  <a:srgbClr val="111111"/>
                </a:solidFill>
                <a:latin typeface="Calibri"/>
              </a:rPr>
              <a:t>re-runs the whole pipeline</a:t>
            </a:r>
          </a:p>
        </p:txBody>
      </p:sp>
      <p:sp>
        <p:nvSpPr>
          <p:cNvPr id="17" name="Rounded Rectangle 16"/>
          <p:cNvSpPr/>
          <p:nvPr/>
        </p:nvSpPr>
        <p:spPr>
          <a:xfrm>
            <a:off x="6126480" y="1280160"/>
            <a:ext cx="2651760" cy="173736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5080" y="1389888"/>
            <a:ext cx="457200" cy="54864"/>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1463040"/>
            <a:ext cx="2651760" cy="685800"/>
          </a:xfrm>
          <a:prstGeom prst="rect">
            <a:avLst/>
          </a:prstGeom>
          <a:noFill/>
        </p:spPr>
        <p:txBody>
          <a:bodyPr wrap="square" anchor="ctr" lIns="45720" rIns="45720" tIns="18288" bIns="18288">
            <a:spAutoFit/>
          </a:bodyPr>
          <a:lstStyle/>
          <a:p>
            <a:pPr algn="ctr"/>
            <a:r>
              <a:rPr sz="3000" b="1" i="0">
                <a:solidFill>
                  <a:srgbClr val="1C5CAB"/>
                </a:solidFill>
                <a:latin typeface="Calibri"/>
              </a:rPr>
              <a:t>Public</a:t>
            </a:r>
          </a:p>
        </p:txBody>
      </p:sp>
      <p:sp>
        <p:nvSpPr>
          <p:cNvPr id="20" name="TextBox 19"/>
          <p:cNvSpPr txBox="1"/>
          <p:nvPr/>
        </p:nvSpPr>
        <p:spPr>
          <a:xfrm>
            <a:off x="6236208" y="2148840"/>
            <a:ext cx="2432304" cy="822960"/>
          </a:xfrm>
          <a:prstGeom prst="rect">
            <a:avLst/>
          </a:prstGeom>
          <a:noFill/>
        </p:spPr>
        <p:txBody>
          <a:bodyPr wrap="square" anchor="t" lIns="45720" rIns="45720" tIns="18288" bIns="18288">
            <a:spAutoFit/>
          </a:bodyPr>
          <a:lstStyle/>
          <a:p>
            <a:pPr algn="ctr"/>
            <a:r>
              <a:rPr sz="1400" b="0" i="0">
                <a:solidFill>
                  <a:srgbClr val="111111"/>
                </a:solidFill>
                <a:latin typeface="Calibri"/>
              </a:rPr>
              <a:t>code and walkthrough notebook on GitHub</a:t>
            </a:r>
          </a:p>
        </p:txBody>
      </p:sp>
      <p:sp>
        <p:nvSpPr>
          <p:cNvPr id="21" name="Rounded Rectangle 20"/>
          <p:cNvSpPr/>
          <p:nvPr/>
        </p:nvSpPr>
        <p:spPr>
          <a:xfrm>
            <a:off x="8915400" y="1280160"/>
            <a:ext cx="2697480" cy="173736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1389888"/>
            <a:ext cx="457200" cy="54864"/>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400" y="1463040"/>
            <a:ext cx="2697480" cy="685800"/>
          </a:xfrm>
          <a:prstGeom prst="rect">
            <a:avLst/>
          </a:prstGeom>
          <a:noFill/>
        </p:spPr>
        <p:txBody>
          <a:bodyPr wrap="square" anchor="ctr" lIns="45720" rIns="45720" tIns="18288" bIns="18288">
            <a:spAutoFit/>
          </a:bodyPr>
          <a:lstStyle/>
          <a:p>
            <a:pPr algn="ctr"/>
            <a:r>
              <a:rPr sz="3000" b="1" i="0">
                <a:solidFill>
                  <a:srgbClr val="EB6834"/>
                </a:solidFill>
                <a:latin typeface="Calibri"/>
              </a:rPr>
              <a:t>0 stored</a:t>
            </a:r>
          </a:p>
        </p:txBody>
      </p:sp>
      <p:sp>
        <p:nvSpPr>
          <p:cNvPr id="24" name="TextBox 23"/>
          <p:cNvSpPr txBox="1"/>
          <p:nvPr/>
        </p:nvSpPr>
        <p:spPr>
          <a:xfrm>
            <a:off x="9025128" y="2148840"/>
            <a:ext cx="2478024" cy="822960"/>
          </a:xfrm>
          <a:prstGeom prst="rect">
            <a:avLst/>
          </a:prstGeom>
          <a:noFill/>
        </p:spPr>
        <p:txBody>
          <a:bodyPr wrap="square" anchor="t" lIns="45720" rIns="45720" tIns="18288" bIns="18288">
            <a:spAutoFit/>
          </a:bodyPr>
          <a:lstStyle/>
          <a:p>
            <a:pPr algn="ctr"/>
            <a:r>
              <a:rPr sz="1400" b="0" i="0">
                <a:solidFill>
                  <a:srgbClr val="111111"/>
                </a:solidFill>
                <a:latin typeface="Calibri"/>
              </a:rPr>
              <a:t>profiles kept by the app (tested)</a:t>
            </a:r>
          </a:p>
        </p:txBody>
      </p:sp>
      <p:sp>
        <p:nvSpPr>
          <p:cNvPr id="25" name="TextBox 24"/>
          <p:cNvSpPr txBox="1"/>
          <p:nvPr/>
        </p:nvSpPr>
        <p:spPr>
          <a:xfrm>
            <a:off x="548640" y="3383280"/>
            <a:ext cx="11064240" cy="3017520"/>
          </a:xfrm>
          <a:prstGeom prst="rect">
            <a:avLst/>
          </a:prstGeom>
          <a:noFill/>
        </p:spPr>
        <p:txBody>
          <a:bodyPr wrap="square">
            <a:spAutoFit/>
          </a:bodyPr>
          <a:lstStyle/>
          <a:p>
            <a:pPr>
              <a:spcAft>
                <a:spcPts val="1000"/>
              </a:spcAft>
            </a:pPr>
            <a:r>
              <a:rPr sz="1900">
                <a:solidFill>
                  <a:srgbClr val="2A78D6"/>
                </a:solidFill>
                <a:latin typeface="Calibri"/>
              </a:rPr>
              <a:t>▪  </a:t>
            </a:r>
            <a:r>
              <a:rPr sz="1900" b="1">
                <a:solidFill>
                  <a:srgbClr val="111111"/>
                </a:solidFill>
                <a:latin typeface="Calibri"/>
              </a:rPr>
              <a:t>Testing</a:t>
            </a:r>
            <a:r>
              <a:rPr sz="1900" b="0">
                <a:solidFill>
                  <a:srgbClr val="111111"/>
                </a:solidFill>
                <a:latin typeface="Calibri"/>
              </a:rPr>
              <a:t>: cleaning rules, model interface, API schemas, SUS scoring, privacy guarantee, wording rules</a:t>
            </a:r>
          </a:p>
          <a:p>
            <a:pPr>
              <a:spcAft>
                <a:spcPts val="1000"/>
              </a:spcAft>
            </a:pPr>
            <a:r>
              <a:rPr sz="1900">
                <a:solidFill>
                  <a:srgbClr val="2A78D6"/>
                </a:solidFill>
                <a:latin typeface="Calibri"/>
              </a:rPr>
              <a:t>▪  </a:t>
            </a:r>
            <a:r>
              <a:rPr sz="1900" b="1">
                <a:solidFill>
                  <a:srgbClr val="111111"/>
                </a:solidFill>
                <a:latin typeface="Calibri"/>
              </a:rPr>
              <a:t>Reproducibility</a:t>
            </a:r>
            <a:r>
              <a:rPr sz="1900" b="0">
                <a:solidFill>
                  <a:srgbClr val="111111"/>
                </a:solidFill>
                <a:latin typeface="Calibri"/>
              </a:rPr>
              <a:t>: fixed seeds, data fingerprint, walkthrough notebook that re-computes every reported metric</a:t>
            </a:r>
          </a:p>
          <a:p>
            <a:pPr>
              <a:spcAft>
                <a:spcPts val="1000"/>
              </a:spcAft>
            </a:pPr>
            <a:r>
              <a:rPr sz="1900">
                <a:solidFill>
                  <a:srgbClr val="2A78D6"/>
                </a:solidFill>
                <a:latin typeface="Calibri"/>
              </a:rPr>
              <a:t>▪  </a:t>
            </a:r>
            <a:r>
              <a:rPr sz="1900" b="1">
                <a:solidFill>
                  <a:srgbClr val="111111"/>
                </a:solidFill>
                <a:latin typeface="Calibri"/>
              </a:rPr>
              <a:t>Ethics</a:t>
            </a:r>
            <a:r>
              <a:rPr sz="1900" b="0">
                <a:solidFill>
                  <a:srgbClr val="111111"/>
                </a:solidFill>
                <a:latin typeface="Calibri"/>
              </a:rPr>
              <a:t>: approved before collection; consent; no names or contacts; PDPA 2022; fairness checked; associational wording</a:t>
            </a:r>
          </a:p>
          <a:p>
            <a:pPr>
              <a:spcAft>
                <a:spcPts val="1000"/>
              </a:spcAft>
            </a:pPr>
            <a:r>
              <a:rPr sz="1900">
                <a:solidFill>
                  <a:srgbClr val="2A78D6"/>
                </a:solidFill>
                <a:latin typeface="Calibri"/>
              </a:rPr>
              <a:t>▪  </a:t>
            </a:r>
            <a:r>
              <a:rPr sz="1900" b="1">
                <a:solidFill>
                  <a:srgbClr val="111111"/>
                </a:solidFill>
                <a:latin typeface="Calibri"/>
              </a:rPr>
              <a:t>Process</a:t>
            </a:r>
            <a:r>
              <a:rPr sz="1900" b="0">
                <a:solidFill>
                  <a:srgbClr val="111111"/>
                </a:solidFill>
                <a:latin typeface="Calibri"/>
              </a:rPr>
              <a:t>: pre-set analysis plan; every deviation documented with its reason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6F5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Limitations, stated openly</a:t>
            </a:r>
          </a:p>
        </p:txBody>
      </p:sp>
      <p:sp>
        <p:nvSpPr>
          <p:cNvPr id="5" name="Rounded Rectangle 4"/>
          <p:cNvSpPr/>
          <p:nvPr/>
        </p:nvSpPr>
        <p:spPr>
          <a:xfrm>
            <a:off x="10241280" y="292608"/>
            <a:ext cx="1691640" cy="347472"/>
          </a:xfrm>
          <a:prstGeom prst="roundRect">
            <a:avLst>
              <a:gd name="adj" fmla="val 50000"/>
            </a:avLst>
          </a:prstGeom>
          <a:solidFill>
            <a:srgbClr val="6F5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REFLECTION</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28</a:t>
            </a:r>
          </a:p>
        </p:txBody>
      </p:sp>
      <p:graphicFrame>
        <p:nvGraphicFramePr>
          <p:cNvPr id="9" name="Table 8"/>
          <p:cNvGraphicFramePr>
            <a:graphicFrameLocks noGrp="1"/>
          </p:cNvGraphicFramePr>
          <p:nvPr/>
        </p:nvGraphicFramePr>
        <p:xfrm>
          <a:off x="548640" y="1234440"/>
          <a:ext cx="11064239" cy="4828032"/>
        </p:xfrm>
        <a:graphic>
          <a:graphicData uri="http://schemas.openxmlformats.org/drawingml/2006/table">
            <a:tbl>
              <a:tblPr firstRow="1" bandRow="1">
                <a:tableStyleId>{5C22544A-7EE6-4342-B048-85BDC9FD1C3A}</a:tableStyleId>
              </a:tblPr>
              <a:tblGrid>
                <a:gridCol w="4206239"/>
                <a:gridCol w="6858000"/>
              </a:tblGrid>
              <a:tr h="603504">
                <a:tc>
                  <a:txBody>
                    <a:bodyPr wrap="square"/>
                    <a:lstStyle/>
                    <a:p>
                      <a:pPr algn="l"/>
                      <a:r>
                        <a:rPr sz="1400" b="1">
                          <a:solidFill>
                            <a:srgbClr val="FFFFFF"/>
                          </a:solidFill>
                          <a:latin typeface="Calibri"/>
                        </a:rPr>
                        <a:t>Limitation</a:t>
                      </a:r>
                    </a:p>
                  </a:txBody>
                  <a:tcPr marL="73152" marR="73152" anchor="ctr">
                    <a:solidFill>
                      <a:srgbClr val="0D366B"/>
                    </a:solidFill>
                  </a:tcPr>
                </a:tc>
                <a:tc>
                  <a:txBody>
                    <a:bodyPr wrap="square"/>
                    <a:lstStyle/>
                    <a:p>
                      <a:pPr algn="ctr"/>
                      <a:r>
                        <a:rPr sz="1400" b="1">
                          <a:solidFill>
                            <a:srgbClr val="FFFFFF"/>
                          </a:solidFill>
                          <a:latin typeface="Calibri"/>
                        </a:rPr>
                        <a:t>How it is handled</a:t>
                      </a:r>
                    </a:p>
                  </a:txBody>
                  <a:tcPr marL="73152" marR="73152" anchor="ctr">
                    <a:solidFill>
                      <a:srgbClr val="0D366B"/>
                    </a:solidFill>
                  </a:tcPr>
                </a:tc>
              </a:tr>
              <a:tr h="603504">
                <a:tc>
                  <a:txBody>
                    <a:bodyPr wrap="square"/>
                    <a:lstStyle/>
                    <a:p>
                      <a:pPr algn="l"/>
                      <a:r>
                        <a:rPr sz="1400" b="1">
                          <a:solidFill>
                            <a:srgbClr val="111111"/>
                          </a:solidFill>
                          <a:latin typeface="Calibri"/>
                        </a:rPr>
                        <a:t>Non-probability sample; a third from one institution</a:t>
                      </a:r>
                    </a:p>
                  </a:txBody>
                  <a:tcPr marL="73152" marR="73152" anchor="ctr">
                    <a:solidFill>
                      <a:srgbClr val="FFFFFF"/>
                    </a:solidFill>
                  </a:tcPr>
                </a:tc>
                <a:tc>
                  <a:txBody>
                    <a:bodyPr wrap="square"/>
                    <a:lstStyle/>
                    <a:p>
                      <a:pPr algn="ctr"/>
                      <a:r>
                        <a:rPr sz="1400" b="0">
                          <a:solidFill>
                            <a:srgbClr val="111111"/>
                          </a:solidFill>
                          <a:latin typeface="Calibri"/>
                        </a:rPr>
                        <a:t>stated; compared with Kelaniya 2022; results describe this sample</a:t>
                      </a:r>
                    </a:p>
                  </a:txBody>
                  <a:tcPr marL="73152" marR="73152" anchor="ctr">
                    <a:solidFill>
                      <a:srgbClr val="FFFFFF"/>
                    </a:solidFill>
                  </a:tcPr>
                </a:tc>
              </a:tr>
              <a:tr h="603504">
                <a:tc>
                  <a:txBody>
                    <a:bodyPr wrap="square"/>
                    <a:lstStyle/>
                    <a:p>
                      <a:pPr algn="l"/>
                      <a:r>
                        <a:rPr sz="1400" b="1">
                          <a:solidFill>
                            <a:srgbClr val="111111"/>
                          </a:solidFill>
                          <a:latin typeface="Calibri"/>
                        </a:rPr>
                        <a:t>Self-reported outcome and recalled dates</a:t>
                      </a:r>
                    </a:p>
                  </a:txBody>
                  <a:tcPr marL="73152" marR="73152" anchor="ctr">
                    <a:solidFill>
                      <a:srgbClr val="EEF3FA"/>
                    </a:solidFill>
                  </a:tcPr>
                </a:tc>
                <a:tc>
                  <a:txBody>
                    <a:bodyPr wrap="square"/>
                    <a:lstStyle/>
                    <a:p>
                      <a:pPr algn="ctr"/>
                      <a:r>
                        <a:rPr sz="1400" b="0">
                          <a:solidFill>
                            <a:srgbClr val="111111"/>
                          </a:solidFill>
                          <a:latin typeface="Calibri"/>
                        </a:rPr>
                        <a:t>month-and-year questions, impossible dates removed, sensitivity checks</a:t>
                      </a:r>
                    </a:p>
                  </a:txBody>
                  <a:tcPr marL="73152" marR="73152" anchor="ctr">
                    <a:solidFill>
                      <a:srgbClr val="EEF3FA"/>
                    </a:solidFill>
                  </a:tcPr>
                </a:tc>
              </a:tr>
              <a:tr h="603504">
                <a:tc>
                  <a:txBody>
                    <a:bodyPr wrap="square"/>
                    <a:lstStyle/>
                    <a:p>
                      <a:pPr algn="l"/>
                      <a:r>
                        <a:rPr sz="1400" b="1">
                          <a:solidFill>
                            <a:srgbClr val="111111"/>
                          </a:solidFill>
                          <a:latin typeface="Calibri"/>
                        </a:rPr>
                        <a:t>One reference survey date for every response</a:t>
                      </a:r>
                    </a:p>
                  </a:txBody>
                  <a:tcPr marL="73152" marR="73152" anchor="ctr">
                    <a:solidFill>
                      <a:srgbClr val="FFFFFF"/>
                    </a:solidFill>
                  </a:tcPr>
                </a:tc>
                <a:tc>
                  <a:txBody>
                    <a:bodyPr wrap="square"/>
                    <a:lstStyle/>
                    <a:p>
                      <a:pPr algn="ctr"/>
                      <a:r>
                        <a:rPr sz="1400" b="0">
                          <a:solidFill>
                            <a:srgbClr val="111111"/>
                          </a:solidFill>
                          <a:latin typeface="Calibri"/>
                        </a:rPr>
                        <a:t>documented deviation; may overstate follow-up for those still searching</a:t>
                      </a:r>
                    </a:p>
                  </a:txBody>
                  <a:tcPr marL="73152" marR="73152" anchor="ctr">
                    <a:solidFill>
                      <a:srgbClr val="FFFFFF"/>
                    </a:solidFill>
                  </a:tcPr>
                </a:tc>
              </a:tr>
              <a:tr h="603504">
                <a:tc>
                  <a:txBody>
                    <a:bodyPr wrap="square"/>
                    <a:lstStyle/>
                    <a:p>
                      <a:pPr algn="l"/>
                      <a:r>
                        <a:rPr sz="1400" b="1">
                          <a:solidFill>
                            <a:srgbClr val="111111"/>
                          </a:solidFill>
                          <a:latin typeface="Calibri"/>
                        </a:rPr>
                        <a:t>Small evaluation sets (about 130); probabilities pessimistic</a:t>
                      </a:r>
                    </a:p>
                  </a:txBody>
                  <a:tcPr marL="73152" marR="73152" anchor="ctr">
                    <a:solidFill>
                      <a:srgbClr val="EEF3FA"/>
                    </a:solidFill>
                  </a:tcPr>
                </a:tc>
                <a:tc>
                  <a:txBody>
                    <a:bodyPr wrap="square"/>
                    <a:lstStyle/>
                    <a:p>
                      <a:pPr algn="ctr"/>
                      <a:r>
                        <a:rPr sz="1400" b="0">
                          <a:solidFill>
                            <a:srgbClr val="111111"/>
                          </a:solidFill>
                          <a:latin typeface="Calibri"/>
                        </a:rPr>
                        <a:t>reported openly; app leads with a range; labelled indicative</a:t>
                      </a:r>
                    </a:p>
                  </a:txBody>
                  <a:tcPr marL="73152" marR="73152" anchor="ctr">
                    <a:solidFill>
                      <a:srgbClr val="EEF3FA"/>
                    </a:solidFill>
                  </a:tcPr>
                </a:tc>
              </a:tr>
              <a:tr h="603504">
                <a:tc>
                  <a:txBody>
                    <a:bodyPr wrap="square"/>
                    <a:lstStyle/>
                    <a:p>
                      <a:pPr algn="l"/>
                      <a:r>
                        <a:rPr sz="1400" b="1">
                          <a:solidFill>
                            <a:srgbClr val="111111"/>
                          </a:solidFill>
                          <a:latin typeface="Calibri"/>
                        </a:rPr>
                        <a:t>Observational data</a:t>
                      </a:r>
                    </a:p>
                  </a:txBody>
                  <a:tcPr marL="73152" marR="73152" anchor="ctr">
                    <a:solidFill>
                      <a:srgbClr val="FFFFFF"/>
                    </a:solidFill>
                  </a:tcPr>
                </a:tc>
                <a:tc>
                  <a:txBody>
                    <a:bodyPr wrap="square"/>
                    <a:lstStyle/>
                    <a:p>
                      <a:pPr algn="ctr"/>
                      <a:r>
                        <a:rPr sz="1400" b="0">
                          <a:solidFill>
                            <a:srgbClr val="111111"/>
                          </a:solidFill>
                          <a:latin typeface="Calibri"/>
                        </a:rPr>
                        <a:t>associational wording everywhere; no causal claims</a:t>
                      </a:r>
                    </a:p>
                  </a:txBody>
                  <a:tcPr marL="73152" marR="73152" anchor="ctr">
                    <a:solidFill>
                      <a:srgbClr val="FFFFFF"/>
                    </a:solidFill>
                  </a:tcPr>
                </a:tc>
              </a:tr>
              <a:tr h="603504">
                <a:tc>
                  <a:txBody>
                    <a:bodyPr wrap="square"/>
                    <a:lstStyle/>
                    <a:p>
                      <a:pPr algn="l"/>
                      <a:r>
                        <a:rPr sz="1400" b="1">
                          <a:solidFill>
                            <a:srgbClr val="111111"/>
                          </a:solidFill>
                          <a:latin typeface="Calibri"/>
                        </a:rPr>
                        <a:t>Employer ratings cluster at 4-5</a:t>
                      </a:r>
                    </a:p>
                  </a:txBody>
                  <a:tcPr marL="73152" marR="73152" anchor="ctr">
                    <a:solidFill>
                      <a:srgbClr val="EEF3FA"/>
                    </a:solidFill>
                  </a:tcPr>
                </a:tc>
                <a:tc>
                  <a:txBody>
                    <a:bodyPr wrap="square"/>
                    <a:lstStyle/>
                    <a:p>
                      <a:pPr algn="ctr"/>
                      <a:r>
                        <a:rPr sz="1400" b="0">
                          <a:solidFill>
                            <a:srgbClr val="111111"/>
                          </a:solidFill>
                          <a:latin typeface="Calibri"/>
                        </a:rPr>
                        <a:t>used to rank skills; checked against real job ads</a:t>
                      </a:r>
                    </a:p>
                  </a:txBody>
                  <a:tcPr marL="73152" marR="73152" anchor="ctr">
                    <a:solidFill>
                      <a:srgbClr val="EEF3FA"/>
                    </a:solidFill>
                  </a:tcPr>
                </a:tc>
              </a:tr>
              <a:tr h="603504">
                <a:tc>
                  <a:txBody>
                    <a:bodyPr wrap="square"/>
                    <a:lstStyle/>
                    <a:p>
                      <a:pPr algn="l"/>
                      <a:r>
                        <a:rPr sz="1400" b="1">
                          <a:solidFill>
                            <a:srgbClr val="111111"/>
                          </a:solidFill>
                          <a:latin typeface="Calibri"/>
                        </a:rPr>
                        <a:t>SUS: 12 peers, no task-by-task completion</a:t>
                      </a:r>
                    </a:p>
                  </a:txBody>
                  <a:tcPr marL="73152" marR="73152" anchor="ctr">
                    <a:solidFill>
                      <a:srgbClr val="FFFFFF"/>
                    </a:solidFill>
                  </a:tcPr>
                </a:tc>
                <a:tc>
                  <a:txBody>
                    <a:bodyPr wrap="square"/>
                    <a:lstStyle/>
                    <a:p>
                      <a:pPr algn="ctr"/>
                      <a:r>
                        <a:rPr sz="1400" b="0">
                          <a:solidFill>
                            <a:srgbClr val="111111"/>
                          </a:solidFill>
                          <a:latin typeface="Calibri"/>
                        </a:rPr>
                        <a:t>stated; fixes made but not re-tested</a:t>
                      </a:r>
                    </a:p>
                  </a:txBody>
                  <a:tcPr marL="73152" marR="73152"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6F5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Answers to the research questions, and the contribution</a:t>
            </a:r>
          </a:p>
        </p:txBody>
      </p:sp>
      <p:sp>
        <p:nvSpPr>
          <p:cNvPr id="5" name="Rounded Rectangle 4"/>
          <p:cNvSpPr/>
          <p:nvPr/>
        </p:nvSpPr>
        <p:spPr>
          <a:xfrm>
            <a:off x="10241280" y="292608"/>
            <a:ext cx="1691640" cy="347472"/>
          </a:xfrm>
          <a:prstGeom prst="roundRect">
            <a:avLst>
              <a:gd name="adj" fmla="val 50000"/>
            </a:avLst>
          </a:prstGeom>
          <a:solidFill>
            <a:srgbClr val="6F5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REFLECTION</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29</a:t>
            </a:r>
          </a:p>
        </p:txBody>
      </p:sp>
      <p:sp>
        <p:nvSpPr>
          <p:cNvPr id="9" name="Rounded Rectangle 8"/>
          <p:cNvSpPr/>
          <p:nvPr/>
        </p:nvSpPr>
        <p:spPr>
          <a:xfrm>
            <a:off x="548640" y="1188720"/>
            <a:ext cx="1188720" cy="868680"/>
          </a:xfrm>
          <a:prstGeom prst="roundRect">
            <a:avLst>
              <a:gd name="adj" fmla="val 12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188720"/>
            <a:ext cx="1188720" cy="868680"/>
          </a:xfrm>
          <a:prstGeom prst="rect">
            <a:avLst/>
          </a:prstGeom>
          <a:noFill/>
        </p:spPr>
        <p:txBody>
          <a:bodyPr wrap="square" anchor="ctr" lIns="45720" rIns="45720" tIns="18288" bIns="18288">
            <a:spAutoFit/>
          </a:bodyPr>
          <a:lstStyle/>
          <a:p>
            <a:pPr algn="ctr"/>
            <a:r>
              <a:rPr sz="2200" b="1" i="0">
                <a:solidFill>
                  <a:srgbClr val="FFFFFF"/>
                </a:solidFill>
                <a:latin typeface="Calibri"/>
              </a:rPr>
              <a:t>RQ1</a:t>
            </a:r>
          </a:p>
        </p:txBody>
      </p:sp>
      <p:sp>
        <p:nvSpPr>
          <p:cNvPr id="11" name="TextBox 10"/>
          <p:cNvSpPr txBox="1"/>
          <p:nvPr/>
        </p:nvSpPr>
        <p:spPr>
          <a:xfrm>
            <a:off x="1920240" y="1188720"/>
            <a:ext cx="9784080" cy="868680"/>
          </a:xfrm>
          <a:prstGeom prst="rect">
            <a:avLst/>
          </a:prstGeom>
          <a:noFill/>
        </p:spPr>
        <p:txBody>
          <a:bodyPr wrap="square" anchor="ctr" lIns="45720" rIns="45720" tIns="18288" bIns="18288">
            <a:spAutoFit/>
          </a:bodyPr>
          <a:lstStyle/>
          <a:p>
            <a:pPr algn="l"/>
            <a:r>
              <a:rPr sz="1800" b="0" i="0">
                <a:solidFill>
                  <a:srgbClr val="111111"/>
                </a:solidFill>
                <a:latin typeface="Calibri"/>
              </a:rPr>
              <a:t>GPA and internship months are linked to 20% and 16% shorter searches; institution and degree type show no clear link</a:t>
            </a:r>
          </a:p>
        </p:txBody>
      </p:sp>
      <p:sp>
        <p:nvSpPr>
          <p:cNvPr id="12" name="Rounded Rectangle 11"/>
          <p:cNvSpPr/>
          <p:nvPr/>
        </p:nvSpPr>
        <p:spPr>
          <a:xfrm>
            <a:off x="548640" y="2212848"/>
            <a:ext cx="1188720" cy="868680"/>
          </a:xfrm>
          <a:prstGeom prst="roundRect">
            <a:avLst>
              <a:gd name="adj" fmla="val 12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212848"/>
            <a:ext cx="1188720" cy="868680"/>
          </a:xfrm>
          <a:prstGeom prst="rect">
            <a:avLst/>
          </a:prstGeom>
          <a:noFill/>
        </p:spPr>
        <p:txBody>
          <a:bodyPr wrap="square" anchor="ctr" lIns="45720" rIns="45720" tIns="18288" bIns="18288">
            <a:spAutoFit/>
          </a:bodyPr>
          <a:lstStyle/>
          <a:p>
            <a:pPr algn="ctr"/>
            <a:r>
              <a:rPr sz="2200" b="1" i="0">
                <a:solidFill>
                  <a:srgbClr val="FFFFFF"/>
                </a:solidFill>
                <a:latin typeface="Calibri"/>
              </a:rPr>
              <a:t>RQ2</a:t>
            </a:r>
          </a:p>
        </p:txBody>
      </p:sp>
      <p:sp>
        <p:nvSpPr>
          <p:cNvPr id="14" name="TextBox 13"/>
          <p:cNvSpPr txBox="1"/>
          <p:nvPr/>
        </p:nvSpPr>
        <p:spPr>
          <a:xfrm>
            <a:off x="1920240" y="2212848"/>
            <a:ext cx="9784080" cy="868680"/>
          </a:xfrm>
          <a:prstGeom prst="rect">
            <a:avLst/>
          </a:prstGeom>
          <a:noFill/>
        </p:spPr>
        <p:txBody>
          <a:bodyPr wrap="square" anchor="ctr" lIns="45720" rIns="45720" tIns="18288" bIns="18288">
            <a:spAutoFit/>
          </a:bodyPr>
          <a:lstStyle/>
          <a:p>
            <a:pPr algn="l"/>
            <a:r>
              <a:rPr sz="1800" b="0" i="0">
                <a:solidFill>
                  <a:srgbClr val="111111"/>
                </a:solidFill>
                <a:latin typeface="Calibri"/>
              </a:rPr>
              <a:t>graduates rate themselves below employers on 25 of 26 skills; biggest gaps in cloud, testing and DevOps</a:t>
            </a:r>
          </a:p>
        </p:txBody>
      </p:sp>
      <p:sp>
        <p:nvSpPr>
          <p:cNvPr id="15" name="Rounded Rectangle 14"/>
          <p:cNvSpPr/>
          <p:nvPr/>
        </p:nvSpPr>
        <p:spPr>
          <a:xfrm>
            <a:off x="548640" y="3236976"/>
            <a:ext cx="1188720" cy="868680"/>
          </a:xfrm>
          <a:prstGeom prst="roundRect">
            <a:avLst>
              <a:gd name="adj" fmla="val 12000"/>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236976"/>
            <a:ext cx="1188720" cy="868680"/>
          </a:xfrm>
          <a:prstGeom prst="rect">
            <a:avLst/>
          </a:prstGeom>
          <a:noFill/>
        </p:spPr>
        <p:txBody>
          <a:bodyPr wrap="square" anchor="ctr" lIns="45720" rIns="45720" tIns="18288" bIns="18288">
            <a:spAutoFit/>
          </a:bodyPr>
          <a:lstStyle/>
          <a:p>
            <a:pPr algn="ctr"/>
            <a:r>
              <a:rPr sz="2200" b="1" i="0">
                <a:solidFill>
                  <a:srgbClr val="FFFFFF"/>
                </a:solidFill>
                <a:latin typeface="Calibri"/>
              </a:rPr>
              <a:t>RQ3</a:t>
            </a:r>
          </a:p>
        </p:txBody>
      </p:sp>
      <p:sp>
        <p:nvSpPr>
          <p:cNvPr id="17" name="TextBox 16"/>
          <p:cNvSpPr txBox="1"/>
          <p:nvPr/>
        </p:nvSpPr>
        <p:spPr>
          <a:xfrm>
            <a:off x="1920240" y="3236976"/>
            <a:ext cx="9784080" cy="868680"/>
          </a:xfrm>
          <a:prstGeom prst="rect">
            <a:avLst/>
          </a:prstGeom>
          <a:noFill/>
        </p:spPr>
        <p:txBody>
          <a:bodyPr wrap="square" anchor="ctr" lIns="45720" rIns="45720" tIns="18288" bIns="18288">
            <a:spAutoFit/>
          </a:bodyPr>
          <a:lstStyle/>
          <a:p>
            <a:pPr algn="l"/>
            <a:r>
              <a:rPr sz="1800" b="0" i="0">
                <a:solidFill>
                  <a:srgbClr val="111111"/>
                </a:solidFill>
                <a:latin typeface="Calibri"/>
              </a:rPr>
              <a:t>AFT Log-Normal chosen by a pre-set rule; moderate ranking on the locked test (C 0.619); probabilities too pessimistic</a:t>
            </a:r>
          </a:p>
        </p:txBody>
      </p:sp>
      <p:sp>
        <p:nvSpPr>
          <p:cNvPr id="18" name="Rounded Rectangle 17"/>
          <p:cNvSpPr/>
          <p:nvPr/>
        </p:nvSpPr>
        <p:spPr>
          <a:xfrm>
            <a:off x="548640" y="4261104"/>
            <a:ext cx="1188720" cy="868680"/>
          </a:xfrm>
          <a:prstGeom prst="roundRect">
            <a:avLst>
              <a:gd name="adj" fmla="val 12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261104"/>
            <a:ext cx="1188720" cy="868680"/>
          </a:xfrm>
          <a:prstGeom prst="rect">
            <a:avLst/>
          </a:prstGeom>
          <a:noFill/>
        </p:spPr>
        <p:txBody>
          <a:bodyPr wrap="square" anchor="ctr" lIns="45720" rIns="45720" tIns="18288" bIns="18288">
            <a:spAutoFit/>
          </a:bodyPr>
          <a:lstStyle/>
          <a:p>
            <a:pPr algn="ctr"/>
            <a:r>
              <a:rPr sz="2200" b="1" i="0">
                <a:solidFill>
                  <a:srgbClr val="FFFFFF"/>
                </a:solidFill>
                <a:latin typeface="Calibri"/>
              </a:rPr>
              <a:t>RQ4</a:t>
            </a:r>
          </a:p>
        </p:txBody>
      </p:sp>
      <p:sp>
        <p:nvSpPr>
          <p:cNvPr id="20" name="TextBox 19"/>
          <p:cNvSpPr txBox="1"/>
          <p:nvPr/>
        </p:nvSpPr>
        <p:spPr>
          <a:xfrm>
            <a:off x="1920240" y="4261104"/>
            <a:ext cx="9784080" cy="868680"/>
          </a:xfrm>
          <a:prstGeom prst="rect">
            <a:avLst/>
          </a:prstGeom>
          <a:noFill/>
        </p:spPr>
        <p:txBody>
          <a:bodyPr wrap="square" anchor="ctr" lIns="45720" rIns="45720" tIns="18288" bIns="18288">
            <a:spAutoFit/>
          </a:bodyPr>
          <a:lstStyle/>
          <a:p>
            <a:pPr algn="l"/>
            <a:r>
              <a:rPr sz="1800" b="0" i="0">
                <a:solidFill>
                  <a:srgbClr val="111111"/>
                </a:solidFill>
                <a:latin typeface="Calibri"/>
              </a:rPr>
              <a:t>usable (SUS 76.3) and better than ChatGPT on the same graduates (0.619 vs 0.539)</a:t>
            </a:r>
          </a:p>
        </p:txBody>
      </p:sp>
      <p:sp>
        <p:nvSpPr>
          <p:cNvPr id="21" name="Rounded Rectangle 20"/>
          <p:cNvSpPr/>
          <p:nvPr/>
        </p:nvSpPr>
        <p:spPr>
          <a:xfrm>
            <a:off x="548640" y="5349240"/>
            <a:ext cx="11064240" cy="1005840"/>
          </a:xfrm>
          <a:prstGeom prst="roundRect">
            <a:avLst>
              <a:gd name="adj" fmla="val 12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349240"/>
            <a:ext cx="10607040" cy="1005840"/>
          </a:xfrm>
          <a:prstGeom prst="rect">
            <a:avLst/>
          </a:prstGeom>
          <a:noFill/>
        </p:spPr>
        <p:txBody>
          <a:bodyPr wrap="square" anchor="ctr" lIns="45720" rIns="45720" tIns="18288" bIns="18288">
            <a:spAutoFit/>
          </a:bodyPr>
          <a:lstStyle/>
          <a:p>
            <a:pPr algn="l"/>
            <a:r>
              <a:rPr sz="1900" b="1" i="0">
                <a:solidFill>
                  <a:srgbClr val="FFFFFF"/>
                </a:solidFill>
                <a:latin typeface="Calibri"/>
              </a:rPr>
              <a:t>Contribution: the first explainable survival-analysis system that predicts WHEN Sri Lankan IT graduates find a first IT job, linked to real employer demand and tested against a general LLM.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6F5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Project journey and what comes next</a:t>
            </a:r>
          </a:p>
        </p:txBody>
      </p:sp>
      <p:sp>
        <p:nvSpPr>
          <p:cNvPr id="5" name="Rounded Rectangle 4"/>
          <p:cNvSpPr/>
          <p:nvPr/>
        </p:nvSpPr>
        <p:spPr>
          <a:xfrm>
            <a:off x="10241280" y="292608"/>
            <a:ext cx="1691640" cy="347472"/>
          </a:xfrm>
          <a:prstGeom prst="roundRect">
            <a:avLst>
              <a:gd name="adj" fmla="val 50000"/>
            </a:avLst>
          </a:prstGeom>
          <a:solidFill>
            <a:srgbClr val="6F5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REFLECTION</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30</a:t>
            </a:r>
          </a:p>
        </p:txBody>
      </p:sp>
      <p:pic>
        <p:nvPicPr>
          <p:cNvPr id="9" name="Picture 8" descr="project_timeline.png"/>
          <p:cNvPicPr>
            <a:picLocks noChangeAspect="1"/>
          </p:cNvPicPr>
          <p:nvPr/>
        </p:nvPicPr>
        <p:blipFill>
          <a:blip r:embed="rId3"/>
          <a:stretch>
            <a:fillRect/>
          </a:stretch>
        </p:blipFill>
        <p:spPr>
          <a:xfrm>
            <a:off x="411480" y="1458468"/>
            <a:ext cx="7315200" cy="4535424"/>
          </a:xfrm>
          <a:prstGeom prst="rect">
            <a:avLst/>
          </a:prstGeom>
          <a:ln w="15875">
            <a:solidFill>
              <a:srgbClr val="C9D6E8"/>
            </a:solidFill>
          </a:ln>
        </p:spPr>
      </p:pic>
      <p:sp>
        <p:nvSpPr>
          <p:cNvPr id="10" name="TextBox 9"/>
          <p:cNvSpPr txBox="1"/>
          <p:nvPr/>
        </p:nvSpPr>
        <p:spPr>
          <a:xfrm>
            <a:off x="8046720" y="1280160"/>
            <a:ext cx="3840480" cy="457200"/>
          </a:xfrm>
          <a:prstGeom prst="rect">
            <a:avLst/>
          </a:prstGeom>
          <a:noFill/>
        </p:spPr>
        <p:txBody>
          <a:bodyPr wrap="square" anchor="t" lIns="45720" rIns="45720" tIns="18288" bIns="18288">
            <a:spAutoFit/>
          </a:bodyPr>
          <a:lstStyle/>
          <a:p>
            <a:pPr algn="l"/>
            <a:r>
              <a:rPr sz="2400" b="1" i="0">
                <a:solidFill>
                  <a:srgbClr val="0D366B"/>
                </a:solidFill>
                <a:latin typeface="Calibri"/>
              </a:rPr>
              <a:t>Next steps</a:t>
            </a:r>
          </a:p>
        </p:txBody>
      </p:sp>
      <p:sp>
        <p:nvSpPr>
          <p:cNvPr id="11" name="TextBox 10"/>
          <p:cNvSpPr txBox="1"/>
          <p:nvPr/>
        </p:nvSpPr>
        <p:spPr>
          <a:xfrm>
            <a:off x="8046720" y="1828800"/>
            <a:ext cx="3840480" cy="4389120"/>
          </a:xfrm>
          <a:prstGeom prst="rect">
            <a:avLst/>
          </a:prstGeom>
          <a:noFill/>
        </p:spPr>
        <p:txBody>
          <a:bodyPr wrap="square">
            <a:spAutoFit/>
          </a:bodyPr>
          <a:lstStyle/>
          <a:p>
            <a:pPr>
              <a:spcAft>
                <a:spcPts val="1100"/>
              </a:spcAft>
            </a:pPr>
            <a:r>
              <a:rPr sz="1800">
                <a:solidFill>
                  <a:srgbClr val="2A78D6"/>
                </a:solidFill>
                <a:latin typeface="Calibri"/>
              </a:rPr>
              <a:t>▪  </a:t>
            </a:r>
            <a:r>
              <a:rPr sz="1800" b="1">
                <a:solidFill>
                  <a:srgbClr val="111111"/>
                </a:solidFill>
                <a:latin typeface="Calibri"/>
              </a:rPr>
              <a:t>More data</a:t>
            </a:r>
            <a:r>
              <a:rPr sz="1800" b="0">
                <a:solidFill>
                  <a:srgbClr val="111111"/>
                </a:solidFill>
                <a:latin typeface="Calibri"/>
              </a:rPr>
              <a:t>: more respondents and institutions</a:t>
            </a:r>
          </a:p>
          <a:p>
            <a:pPr>
              <a:spcAft>
                <a:spcPts val="1100"/>
              </a:spcAft>
            </a:pPr>
            <a:r>
              <a:rPr sz="1800">
                <a:solidFill>
                  <a:srgbClr val="2A78D6"/>
                </a:solidFill>
                <a:latin typeface="Calibri"/>
              </a:rPr>
              <a:t>▪  </a:t>
            </a:r>
            <a:r>
              <a:rPr sz="1800" b="1">
                <a:solidFill>
                  <a:srgbClr val="111111"/>
                </a:solidFill>
                <a:latin typeface="Calibri"/>
              </a:rPr>
              <a:t>Recalibrate</a:t>
            </a:r>
            <a:r>
              <a:rPr sz="1800" b="0">
                <a:solidFill>
                  <a:srgbClr val="111111"/>
                </a:solidFill>
                <a:latin typeface="Calibri"/>
              </a:rPr>
              <a:t>: fix the pessimistic probabilities</a:t>
            </a:r>
          </a:p>
          <a:p>
            <a:pPr>
              <a:spcAft>
                <a:spcPts val="1100"/>
              </a:spcAft>
            </a:pPr>
            <a:r>
              <a:rPr sz="1800">
                <a:solidFill>
                  <a:srgbClr val="2A78D6"/>
                </a:solidFill>
                <a:latin typeface="Calibri"/>
              </a:rPr>
              <a:t>▪  </a:t>
            </a:r>
            <a:r>
              <a:rPr sz="1800" b="1">
                <a:solidFill>
                  <a:srgbClr val="111111"/>
                </a:solidFill>
                <a:latin typeface="Calibri"/>
              </a:rPr>
              <a:t>Real dates</a:t>
            </a:r>
            <a:r>
              <a:rPr sz="1800" b="0">
                <a:solidFill>
                  <a:srgbClr val="111111"/>
                </a:solidFill>
                <a:latin typeface="Calibri"/>
              </a:rPr>
              <a:t>: per-respondent survey dates</a:t>
            </a:r>
          </a:p>
          <a:p>
            <a:pPr>
              <a:spcAft>
                <a:spcPts val="1100"/>
              </a:spcAft>
            </a:pPr>
            <a:r>
              <a:rPr sz="1800">
                <a:solidFill>
                  <a:srgbClr val="2A78D6"/>
                </a:solidFill>
                <a:latin typeface="Calibri"/>
              </a:rPr>
              <a:t>▪  </a:t>
            </a:r>
            <a:r>
              <a:rPr sz="1800" b="1">
                <a:solidFill>
                  <a:srgbClr val="111111"/>
                </a:solidFill>
                <a:latin typeface="Calibri"/>
              </a:rPr>
              <a:t>Re-test</a:t>
            </a:r>
            <a:r>
              <a:rPr sz="1800" b="0">
                <a:solidFill>
                  <a:srgbClr val="111111"/>
                </a:solidFill>
                <a:latin typeface="Calibri"/>
              </a:rPr>
              <a:t>: the improved app with task-level measures</a:t>
            </a:r>
          </a:p>
          <a:p>
            <a:pPr>
              <a:spcAft>
                <a:spcPts val="1100"/>
              </a:spcAft>
            </a:pPr>
            <a:r>
              <a:rPr sz="1800">
                <a:solidFill>
                  <a:srgbClr val="2A78D6"/>
                </a:solidFill>
                <a:latin typeface="Calibri"/>
              </a:rPr>
              <a:t>▪  </a:t>
            </a:r>
            <a:r>
              <a:rPr sz="1800" b="1">
                <a:solidFill>
                  <a:srgbClr val="111111"/>
                </a:solidFill>
                <a:latin typeface="Calibri"/>
              </a:rPr>
              <a:t>Track outcomes</a:t>
            </a:r>
            <a:r>
              <a:rPr sz="1800" b="0">
                <a:solidFill>
                  <a:srgbClr val="111111"/>
                </a:solidFill>
                <a:latin typeface="Calibri"/>
              </a:rPr>
              <a:t>: follow graduates after using the tool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1828800"/>
            <a:ext cx="5943600" cy="594360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10058400" cy="822960"/>
          </a:xfrm>
          <a:prstGeom prst="rect">
            <a:avLst/>
          </a:prstGeom>
          <a:noFill/>
        </p:spPr>
        <p:txBody>
          <a:bodyPr wrap="square" anchor="t" lIns="45720" rIns="45720" tIns="18288" bIns="18288">
            <a:spAutoFit/>
          </a:bodyPr>
          <a:lstStyle/>
          <a:p>
            <a:pPr algn="l"/>
            <a:r>
              <a:rPr sz="4000" b="1" i="0">
                <a:solidFill>
                  <a:srgbClr val="FFFFFF"/>
                </a:solidFill>
                <a:latin typeface="Calibri"/>
              </a:rPr>
              <a:t>Four things to remember</a:t>
            </a:r>
          </a:p>
        </p:txBody>
      </p:sp>
      <p:sp>
        <p:nvSpPr>
          <p:cNvPr id="5" name="Rounded Rectangle 4"/>
          <p:cNvSpPr/>
          <p:nvPr/>
        </p:nvSpPr>
        <p:spPr>
          <a:xfrm>
            <a:off x="822960" y="1828800"/>
            <a:ext cx="5120640" cy="1508760"/>
          </a:xfrm>
          <a:prstGeom prst="roundRect">
            <a:avLst>
              <a:gd name="adj" fmla="val 10000"/>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38528"/>
            <a:ext cx="4663440" cy="548640"/>
          </a:xfrm>
          <a:prstGeom prst="rect">
            <a:avLst/>
          </a:prstGeom>
          <a:noFill/>
        </p:spPr>
        <p:txBody>
          <a:bodyPr wrap="square" anchor="t" lIns="45720" rIns="45720" tIns="18288" bIns="18288">
            <a:spAutoFit/>
          </a:bodyPr>
          <a:lstStyle/>
          <a:p>
            <a:pPr algn="l"/>
            <a:r>
              <a:rPr sz="2400" b="1" i="0">
                <a:solidFill>
                  <a:srgbClr val="FFFFFF"/>
                </a:solidFill>
                <a:latin typeface="Calibri"/>
              </a:rPr>
              <a:t>WHEN, not just whether</a:t>
            </a:r>
          </a:p>
        </p:txBody>
      </p:sp>
      <p:sp>
        <p:nvSpPr>
          <p:cNvPr id="7" name="TextBox 6"/>
          <p:cNvSpPr txBox="1"/>
          <p:nvPr/>
        </p:nvSpPr>
        <p:spPr>
          <a:xfrm>
            <a:off x="1051560" y="2560320"/>
            <a:ext cx="4663440" cy="731520"/>
          </a:xfrm>
          <a:prstGeom prst="rect">
            <a:avLst/>
          </a:prstGeom>
          <a:noFill/>
        </p:spPr>
        <p:txBody>
          <a:bodyPr wrap="square" anchor="t" lIns="45720" rIns="45720" tIns="18288" bIns="18288">
            <a:spAutoFit/>
          </a:bodyPr>
          <a:lstStyle/>
          <a:p>
            <a:pPr algn="l"/>
            <a:r>
              <a:rPr sz="1700" b="0" i="0">
                <a:solidFill>
                  <a:srgbClr val="FFFFFF"/>
                </a:solidFill>
                <a:latin typeface="Calibri"/>
              </a:rPr>
              <a:t>survival analysis uses the one in four still searching</a:t>
            </a:r>
          </a:p>
        </p:txBody>
      </p:sp>
      <p:sp>
        <p:nvSpPr>
          <p:cNvPr id="8" name="Rounded Rectangle 7"/>
          <p:cNvSpPr/>
          <p:nvPr/>
        </p:nvSpPr>
        <p:spPr>
          <a:xfrm>
            <a:off x="6309360" y="1828800"/>
            <a:ext cx="5120640" cy="1508760"/>
          </a:xfrm>
          <a:prstGeom prst="roundRect">
            <a:avLst>
              <a:gd name="adj" fmla="val 10000"/>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938528"/>
            <a:ext cx="4663440" cy="548640"/>
          </a:xfrm>
          <a:prstGeom prst="rect">
            <a:avLst/>
          </a:prstGeom>
          <a:noFill/>
        </p:spPr>
        <p:txBody>
          <a:bodyPr wrap="square" anchor="t" lIns="45720" rIns="45720" tIns="18288" bIns="18288">
            <a:spAutoFit/>
          </a:bodyPr>
          <a:lstStyle/>
          <a:p>
            <a:pPr algn="l"/>
            <a:r>
              <a:rPr sz="2400" b="1" i="0">
                <a:solidFill>
                  <a:srgbClr val="FFFFFF"/>
                </a:solidFill>
                <a:latin typeface="Calibri"/>
              </a:rPr>
              <a:t>Honest evidence</a:t>
            </a:r>
          </a:p>
        </p:txBody>
      </p:sp>
      <p:sp>
        <p:nvSpPr>
          <p:cNvPr id="10" name="TextBox 9"/>
          <p:cNvSpPr txBox="1"/>
          <p:nvPr/>
        </p:nvSpPr>
        <p:spPr>
          <a:xfrm>
            <a:off x="6537960" y="2560320"/>
            <a:ext cx="4663440" cy="731520"/>
          </a:xfrm>
          <a:prstGeom prst="rect">
            <a:avLst/>
          </a:prstGeom>
          <a:noFill/>
        </p:spPr>
        <p:txBody>
          <a:bodyPr wrap="square" anchor="t" lIns="45720" rIns="45720" tIns="18288" bIns="18288">
            <a:spAutoFit/>
          </a:bodyPr>
          <a:lstStyle/>
          <a:p>
            <a:pPr algn="l"/>
            <a:r>
              <a:rPr sz="1700" b="0" i="0">
                <a:solidFill>
                  <a:srgbClr val="FFFFFF"/>
                </a:solidFill>
                <a:latin typeface="Calibri"/>
              </a:rPr>
              <a:t>locked test set used once: C 0.619, reported with its flaws</a:t>
            </a:r>
          </a:p>
        </p:txBody>
      </p:sp>
      <p:sp>
        <p:nvSpPr>
          <p:cNvPr id="11" name="Rounded Rectangle 10"/>
          <p:cNvSpPr/>
          <p:nvPr/>
        </p:nvSpPr>
        <p:spPr>
          <a:xfrm>
            <a:off x="822960" y="3566160"/>
            <a:ext cx="5120640" cy="1508760"/>
          </a:xfrm>
          <a:prstGeom prst="roundRect">
            <a:avLst>
              <a:gd name="adj" fmla="val 10000"/>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675888"/>
            <a:ext cx="4663440" cy="548640"/>
          </a:xfrm>
          <a:prstGeom prst="rect">
            <a:avLst/>
          </a:prstGeom>
          <a:noFill/>
        </p:spPr>
        <p:txBody>
          <a:bodyPr wrap="square" anchor="t" lIns="45720" rIns="45720" tIns="18288" bIns="18288">
            <a:spAutoFit/>
          </a:bodyPr>
          <a:lstStyle/>
          <a:p>
            <a:pPr algn="l"/>
            <a:r>
              <a:rPr sz="2400" b="1" i="0">
                <a:solidFill>
                  <a:srgbClr val="FFFFFF"/>
                </a:solidFill>
                <a:latin typeface="Calibri"/>
              </a:rPr>
              <a:t>Beats ChatGPT</a:t>
            </a:r>
          </a:p>
        </p:txBody>
      </p:sp>
      <p:sp>
        <p:nvSpPr>
          <p:cNvPr id="13" name="TextBox 12"/>
          <p:cNvSpPr txBox="1"/>
          <p:nvPr/>
        </p:nvSpPr>
        <p:spPr>
          <a:xfrm>
            <a:off x="1051560" y="4297680"/>
            <a:ext cx="4663440" cy="731520"/>
          </a:xfrm>
          <a:prstGeom prst="rect">
            <a:avLst/>
          </a:prstGeom>
          <a:noFill/>
        </p:spPr>
        <p:txBody>
          <a:bodyPr wrap="square" anchor="t" lIns="45720" rIns="45720" tIns="18288" bIns="18288">
            <a:spAutoFit/>
          </a:bodyPr>
          <a:lstStyle/>
          <a:p>
            <a:pPr algn="l"/>
            <a:r>
              <a:rPr sz="1700" b="0" i="0">
                <a:solidFill>
                  <a:srgbClr val="FFFFFF"/>
                </a:solidFill>
                <a:latin typeface="Calibri"/>
              </a:rPr>
              <a:t>0.619 vs 0.539 on the same 132 graduates</a:t>
            </a:r>
          </a:p>
        </p:txBody>
      </p:sp>
      <p:sp>
        <p:nvSpPr>
          <p:cNvPr id="14" name="Rounded Rectangle 13"/>
          <p:cNvSpPr/>
          <p:nvPr/>
        </p:nvSpPr>
        <p:spPr>
          <a:xfrm>
            <a:off x="6309360" y="3566160"/>
            <a:ext cx="5120640" cy="1508760"/>
          </a:xfrm>
          <a:prstGeom prst="roundRect">
            <a:avLst>
              <a:gd name="adj" fmla="val 10000"/>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3675888"/>
            <a:ext cx="4663440" cy="548640"/>
          </a:xfrm>
          <a:prstGeom prst="rect">
            <a:avLst/>
          </a:prstGeom>
          <a:noFill/>
        </p:spPr>
        <p:txBody>
          <a:bodyPr wrap="square" anchor="t" lIns="45720" rIns="45720" tIns="18288" bIns="18288">
            <a:spAutoFit/>
          </a:bodyPr>
          <a:lstStyle/>
          <a:p>
            <a:pPr algn="l"/>
            <a:r>
              <a:rPr sz="2400" b="1" i="0">
                <a:solidFill>
                  <a:srgbClr val="FFFFFF"/>
                </a:solidFill>
                <a:latin typeface="Calibri"/>
              </a:rPr>
              <a:t>Actually built</a:t>
            </a:r>
          </a:p>
        </p:txBody>
      </p:sp>
      <p:sp>
        <p:nvSpPr>
          <p:cNvPr id="16" name="TextBox 15"/>
          <p:cNvSpPr txBox="1"/>
          <p:nvPr/>
        </p:nvSpPr>
        <p:spPr>
          <a:xfrm>
            <a:off x="6537960" y="4297680"/>
            <a:ext cx="4663440" cy="731520"/>
          </a:xfrm>
          <a:prstGeom prst="rect">
            <a:avLst/>
          </a:prstGeom>
          <a:noFill/>
        </p:spPr>
        <p:txBody>
          <a:bodyPr wrap="square" anchor="t" lIns="45720" rIns="45720" tIns="18288" bIns="18288">
            <a:spAutoFit/>
          </a:bodyPr>
          <a:lstStyle/>
          <a:p>
            <a:pPr algn="l"/>
            <a:r>
              <a:rPr sz="1700" b="0" i="0">
                <a:solidFill>
                  <a:srgbClr val="FFFFFF"/>
                </a:solidFill>
                <a:latin typeface="Calibri"/>
              </a:rPr>
              <a:t>working app, SUS 76.3, 295 tests, public code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863840" y="-2011680"/>
            <a:ext cx="6858000" cy="685800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09760" y="3108960"/>
            <a:ext cx="5029200" cy="5029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737360"/>
            <a:ext cx="1097280" cy="73152"/>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65960"/>
            <a:ext cx="8229600" cy="1280160"/>
          </a:xfrm>
          <a:prstGeom prst="rect">
            <a:avLst/>
          </a:prstGeom>
          <a:noFill/>
        </p:spPr>
        <p:txBody>
          <a:bodyPr wrap="square" anchor="t" lIns="45720" rIns="45720" tIns="18288" bIns="18288">
            <a:spAutoFit/>
          </a:bodyPr>
          <a:lstStyle/>
          <a:p>
            <a:pPr algn="l"/>
            <a:r>
              <a:rPr sz="6600" b="1" i="0">
                <a:solidFill>
                  <a:srgbClr val="FFFFFF"/>
                </a:solidFill>
                <a:latin typeface="Calibri"/>
              </a:rPr>
              <a:t>Thank you</a:t>
            </a:r>
          </a:p>
        </p:txBody>
      </p:sp>
      <p:sp>
        <p:nvSpPr>
          <p:cNvPr id="7" name="TextBox 6"/>
          <p:cNvSpPr txBox="1"/>
          <p:nvPr/>
        </p:nvSpPr>
        <p:spPr>
          <a:xfrm>
            <a:off x="822960" y="3291840"/>
            <a:ext cx="8229600" cy="731520"/>
          </a:xfrm>
          <a:prstGeom prst="rect">
            <a:avLst/>
          </a:prstGeom>
          <a:noFill/>
        </p:spPr>
        <p:txBody>
          <a:bodyPr wrap="square" anchor="t" lIns="45720" rIns="45720" tIns="18288" bIns="18288">
            <a:spAutoFit/>
          </a:bodyPr>
          <a:lstStyle/>
          <a:p>
            <a:pPr algn="l"/>
            <a:r>
              <a:rPr sz="3000" b="0" i="0">
                <a:solidFill>
                  <a:srgbClr val="86B6EF"/>
                </a:solidFill>
                <a:latin typeface="Calibri"/>
              </a:rPr>
              <a:t>Questions and discussion</a:t>
            </a:r>
          </a:p>
        </p:txBody>
      </p:sp>
      <p:sp>
        <p:nvSpPr>
          <p:cNvPr id="8" name="TextBox 7"/>
          <p:cNvSpPr txBox="1"/>
          <p:nvPr/>
        </p:nvSpPr>
        <p:spPr>
          <a:xfrm>
            <a:off x="822960" y="4572000"/>
            <a:ext cx="8686800" cy="1280160"/>
          </a:xfrm>
          <a:prstGeom prst="rect">
            <a:avLst/>
          </a:prstGeom>
          <a:noFill/>
        </p:spPr>
        <p:txBody>
          <a:bodyPr wrap="square" anchor="t" lIns="45720" rIns="45720" tIns="18288" bIns="18288">
            <a:spAutoFit/>
          </a:bodyPr>
          <a:lstStyle/>
          <a:p>
            <a:pPr algn="l"/>
            <a:r>
              <a:rPr sz="1700" b="0" i="0">
                <a:solidFill>
                  <a:srgbClr val="FFFFFF"/>
                </a:solidFill>
                <a:latin typeface="Calibri"/>
              </a:rPr>
              <a:t>M.S.F. Shazna  ·  Supervisor: L. S. Chathurika</a:t>
            </a:r>
          </a:p>
          <a:p>
            <a:pPr algn="l"/>
            <a:r>
              <a:rPr sz="1700" b="0" i="0">
                <a:solidFill>
                  <a:srgbClr val="FFFFFF"/>
                </a:solidFill>
                <a:latin typeface="Calibri"/>
              </a:rPr>
              <a:t>Code, tests and walkthrough notebook: github.com/ShaznaSalman/final-research-employability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Backup: the hard questions, ready</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BACKUP</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33</a:t>
            </a:r>
          </a:p>
        </p:txBody>
      </p:sp>
      <p:sp>
        <p:nvSpPr>
          <p:cNvPr id="9" name="Rounded Rectangle 8"/>
          <p:cNvSpPr/>
          <p:nvPr/>
        </p:nvSpPr>
        <p:spPr>
          <a:xfrm>
            <a:off x="502920" y="1188720"/>
            <a:ext cx="5486400" cy="15544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61872"/>
            <a:ext cx="5120640" cy="411480"/>
          </a:xfrm>
          <a:prstGeom prst="rect">
            <a:avLst/>
          </a:prstGeom>
          <a:noFill/>
        </p:spPr>
        <p:txBody>
          <a:bodyPr wrap="square" anchor="t" lIns="45720" rIns="45720" tIns="18288" bIns="18288">
            <a:spAutoFit/>
          </a:bodyPr>
          <a:lstStyle/>
          <a:p>
            <a:pPr algn="l"/>
            <a:r>
              <a:rPr sz="1800" b="1" i="0">
                <a:solidFill>
                  <a:srgbClr val="EB6834"/>
                </a:solidFill>
                <a:latin typeface="Calibri"/>
              </a:rPr>
              <a:t>'0.62 is weak'</a:t>
            </a:r>
          </a:p>
        </p:txBody>
      </p:sp>
      <p:sp>
        <p:nvSpPr>
          <p:cNvPr id="11" name="TextBox 10"/>
          <p:cNvSpPr txBox="1"/>
          <p:nvPr/>
        </p:nvSpPr>
        <p:spPr>
          <a:xfrm>
            <a:off x="685800" y="1691640"/>
            <a:ext cx="5120640" cy="1005840"/>
          </a:xfrm>
          <a:prstGeom prst="rect">
            <a:avLst/>
          </a:prstGeom>
          <a:noFill/>
        </p:spPr>
        <p:txBody>
          <a:bodyPr wrap="square" anchor="t" lIns="45720" rIns="45720" tIns="18288" bIns="18288">
            <a:spAutoFit/>
          </a:bodyPr>
          <a:lstStyle/>
          <a:p>
            <a:pPr algn="l"/>
            <a:r>
              <a:rPr sz="1400" b="0" i="0">
                <a:solidFill>
                  <a:srgbClr val="111111"/>
                </a:solidFill>
                <a:latin typeface="Calibri"/>
              </a:rPr>
              <a:t>0.62 is the unbiased TEST score (0.693 was the validation score used to choose the model). Honest, not tuned; contacts and interviews weren't measured; more data adds ~0.01-0.02.</a:t>
            </a:r>
          </a:p>
        </p:txBody>
      </p:sp>
      <p:sp>
        <p:nvSpPr>
          <p:cNvPr id="12" name="Rounded Rectangle 11"/>
          <p:cNvSpPr/>
          <p:nvPr/>
        </p:nvSpPr>
        <p:spPr>
          <a:xfrm>
            <a:off x="6172200" y="1188720"/>
            <a:ext cx="5486400" cy="15544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261872"/>
            <a:ext cx="5120640" cy="411480"/>
          </a:xfrm>
          <a:prstGeom prst="rect">
            <a:avLst/>
          </a:prstGeom>
          <a:noFill/>
        </p:spPr>
        <p:txBody>
          <a:bodyPr wrap="square" anchor="t" lIns="45720" rIns="45720" tIns="18288" bIns="18288">
            <a:spAutoFit/>
          </a:bodyPr>
          <a:lstStyle/>
          <a:p>
            <a:pPr algn="l"/>
            <a:r>
              <a:rPr sz="1800" b="1" i="0">
                <a:solidFill>
                  <a:srgbClr val="EB6834"/>
                </a:solidFill>
                <a:latin typeface="Calibri"/>
              </a:rPr>
              <a:t>'It under-predicts'</a:t>
            </a:r>
          </a:p>
        </p:txBody>
      </p:sp>
      <p:sp>
        <p:nvSpPr>
          <p:cNvPr id="14" name="TextBox 13"/>
          <p:cNvSpPr txBox="1"/>
          <p:nvPr/>
        </p:nvSpPr>
        <p:spPr>
          <a:xfrm>
            <a:off x="6355080" y="1691640"/>
            <a:ext cx="5120640" cy="1005840"/>
          </a:xfrm>
          <a:prstGeom prst="rect">
            <a:avLst/>
          </a:prstGeom>
          <a:noFill/>
        </p:spPr>
        <p:txBody>
          <a:bodyPr wrap="square" anchor="t" lIns="45720" rIns="45720" tIns="18288" bIns="18288">
            <a:spAutoFit/>
          </a:bodyPr>
          <a:lstStyle/>
          <a:p>
            <a:pPr algn="l"/>
            <a:r>
              <a:rPr sz="1400" b="0" i="0">
                <a:solidFill>
                  <a:srgbClr val="111111"/>
                </a:solidFill>
                <a:latin typeface="Calibri"/>
              </a:rPr>
              <a:t>Yes, by up to 17 pts. Small sets and faster later cohorts. Reported, not tuned away; the app leads with a range.</a:t>
            </a:r>
          </a:p>
        </p:txBody>
      </p:sp>
      <p:sp>
        <p:nvSpPr>
          <p:cNvPr id="15" name="Rounded Rectangle 14"/>
          <p:cNvSpPr/>
          <p:nvPr/>
        </p:nvSpPr>
        <p:spPr>
          <a:xfrm>
            <a:off x="502920" y="2880360"/>
            <a:ext cx="5486400" cy="15544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953512"/>
            <a:ext cx="5120640" cy="411480"/>
          </a:xfrm>
          <a:prstGeom prst="rect">
            <a:avLst/>
          </a:prstGeom>
          <a:noFill/>
        </p:spPr>
        <p:txBody>
          <a:bodyPr wrap="square" anchor="t" lIns="45720" rIns="45720" tIns="18288" bIns="18288">
            <a:spAutoFit/>
          </a:bodyPr>
          <a:lstStyle/>
          <a:p>
            <a:pPr algn="l"/>
            <a:r>
              <a:rPr sz="1800" b="1" i="0">
                <a:solidFill>
                  <a:srgbClr val="EB6834"/>
                </a:solidFill>
                <a:latin typeface="Calibri"/>
              </a:rPr>
              <a:t>'Why not ChatGPT?'</a:t>
            </a:r>
          </a:p>
        </p:txBody>
      </p:sp>
      <p:sp>
        <p:nvSpPr>
          <p:cNvPr id="17" name="TextBox 16"/>
          <p:cNvSpPr txBox="1"/>
          <p:nvPr/>
        </p:nvSpPr>
        <p:spPr>
          <a:xfrm>
            <a:off x="685800" y="3383280"/>
            <a:ext cx="5120640" cy="1005840"/>
          </a:xfrm>
          <a:prstGeom prst="rect">
            <a:avLst/>
          </a:prstGeom>
          <a:noFill/>
        </p:spPr>
        <p:txBody>
          <a:bodyPr wrap="square" anchor="t" lIns="45720" rIns="45720" tIns="18288" bIns="18288">
            <a:spAutoFit/>
          </a:bodyPr>
          <a:lstStyle/>
          <a:p>
            <a:pPr algn="l"/>
            <a:r>
              <a:rPr sz="1400" b="0" i="0">
                <a:solidFill>
                  <a:srgbClr val="111111"/>
                </a:solidFill>
                <a:latin typeface="Calibri"/>
              </a:rPr>
              <a:t>Tested on the same 132 graduates: 0.539 vs 0.619, and inconsistent across runs.</a:t>
            </a:r>
          </a:p>
        </p:txBody>
      </p:sp>
      <p:sp>
        <p:nvSpPr>
          <p:cNvPr id="18" name="Rounded Rectangle 17"/>
          <p:cNvSpPr/>
          <p:nvPr/>
        </p:nvSpPr>
        <p:spPr>
          <a:xfrm>
            <a:off x="6172200" y="2880360"/>
            <a:ext cx="5486400" cy="15544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2953512"/>
            <a:ext cx="5120640" cy="411480"/>
          </a:xfrm>
          <a:prstGeom prst="rect">
            <a:avLst/>
          </a:prstGeom>
          <a:noFill/>
        </p:spPr>
        <p:txBody>
          <a:bodyPr wrap="square" anchor="t" lIns="45720" rIns="45720" tIns="18288" bIns="18288">
            <a:spAutoFit/>
          </a:bodyPr>
          <a:lstStyle/>
          <a:p>
            <a:pPr algn="l"/>
            <a:r>
              <a:rPr sz="1800" b="1" i="0">
                <a:solidFill>
                  <a:srgbClr val="EB6834"/>
                </a:solidFill>
                <a:latin typeface="Calibri"/>
              </a:rPr>
              <a:t>'Will it get me a job?'</a:t>
            </a:r>
          </a:p>
        </p:txBody>
      </p:sp>
      <p:sp>
        <p:nvSpPr>
          <p:cNvPr id="20" name="TextBox 19"/>
          <p:cNvSpPr txBox="1"/>
          <p:nvPr/>
        </p:nvSpPr>
        <p:spPr>
          <a:xfrm>
            <a:off x="6355080" y="3383280"/>
            <a:ext cx="5120640" cy="1005840"/>
          </a:xfrm>
          <a:prstGeom prst="rect">
            <a:avLst/>
          </a:prstGeom>
          <a:noFill/>
        </p:spPr>
        <p:txBody>
          <a:bodyPr wrap="square" anchor="t" lIns="45720" rIns="45720" tIns="18288" bIns="18288">
            <a:spAutoFit/>
          </a:bodyPr>
          <a:lstStyle/>
          <a:p>
            <a:pPr algn="l"/>
            <a:r>
              <a:rPr sz="1400" b="0" i="0">
                <a:solidFill>
                  <a:srgbClr val="111111"/>
                </a:solidFill>
                <a:latin typeface="Calibri"/>
              </a:rPr>
              <a:t>No promise. It shows a realistic timeline and which changeable factors went with faster hiring.</a:t>
            </a:r>
          </a:p>
        </p:txBody>
      </p:sp>
      <p:sp>
        <p:nvSpPr>
          <p:cNvPr id="21" name="Rounded Rectangle 20"/>
          <p:cNvSpPr/>
          <p:nvPr/>
        </p:nvSpPr>
        <p:spPr>
          <a:xfrm>
            <a:off x="502920" y="4572000"/>
            <a:ext cx="5486400" cy="15544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645152"/>
            <a:ext cx="5120640" cy="411480"/>
          </a:xfrm>
          <a:prstGeom prst="rect">
            <a:avLst/>
          </a:prstGeom>
          <a:noFill/>
        </p:spPr>
        <p:txBody>
          <a:bodyPr wrap="square" anchor="t" lIns="45720" rIns="45720" tIns="18288" bIns="18288">
            <a:spAutoFit/>
          </a:bodyPr>
          <a:lstStyle/>
          <a:p>
            <a:pPr algn="l"/>
            <a:r>
              <a:rPr sz="1800" b="1" i="0">
                <a:solidFill>
                  <a:srgbClr val="EB6834"/>
                </a:solidFill>
                <a:latin typeface="Calibri"/>
              </a:rPr>
              <a:t>'Biased sample?'</a:t>
            </a:r>
          </a:p>
        </p:txBody>
      </p:sp>
      <p:sp>
        <p:nvSpPr>
          <p:cNvPr id="23" name="TextBox 22"/>
          <p:cNvSpPr txBox="1"/>
          <p:nvPr/>
        </p:nvSpPr>
        <p:spPr>
          <a:xfrm>
            <a:off x="685800" y="5074920"/>
            <a:ext cx="5120640" cy="1005840"/>
          </a:xfrm>
          <a:prstGeom prst="rect">
            <a:avLst/>
          </a:prstGeom>
          <a:noFill/>
        </p:spPr>
        <p:txBody>
          <a:bodyPr wrap="square" anchor="t" lIns="45720" rIns="45720" tIns="18288" bIns="18288">
            <a:spAutoFit/>
          </a:bodyPr>
          <a:lstStyle/>
          <a:p>
            <a:pPr algn="l"/>
            <a:r>
              <a:rPr sz="1400" b="0" i="0">
                <a:solidFill>
                  <a:srgbClr val="111111"/>
                </a:solidFill>
                <a:latin typeface="Calibri"/>
              </a:rPr>
              <a:t>Non-probability, stated. Compared with Kelaniya 2022; results describe this sample.</a:t>
            </a:r>
          </a:p>
        </p:txBody>
      </p:sp>
      <p:sp>
        <p:nvSpPr>
          <p:cNvPr id="24" name="Rounded Rectangle 23"/>
          <p:cNvSpPr/>
          <p:nvPr/>
        </p:nvSpPr>
        <p:spPr>
          <a:xfrm>
            <a:off x="6172200" y="4572000"/>
            <a:ext cx="5486400" cy="1554480"/>
          </a:xfrm>
          <a:prstGeom prst="roundRect">
            <a:avLst>
              <a:gd name="adj" fmla="val 8000"/>
            </a:avLst>
          </a:prstGeom>
          <a:solidFill>
            <a:srgbClr val="EEF3FA"/>
          </a:solidFill>
          <a:ln w="12700">
            <a:solidFill>
              <a:srgbClr val="C9D6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4645152"/>
            <a:ext cx="5120640" cy="411480"/>
          </a:xfrm>
          <a:prstGeom prst="rect">
            <a:avLst/>
          </a:prstGeom>
          <a:noFill/>
        </p:spPr>
        <p:txBody>
          <a:bodyPr wrap="square" anchor="t" lIns="45720" rIns="45720" tIns="18288" bIns="18288">
            <a:spAutoFit/>
          </a:bodyPr>
          <a:lstStyle/>
          <a:p>
            <a:pPr algn="l"/>
            <a:r>
              <a:rPr sz="1800" b="1" i="0">
                <a:solidFill>
                  <a:srgbClr val="EB6834"/>
                </a:solidFill>
                <a:latin typeface="Calibri"/>
              </a:rPr>
              <a:t>'Why no Random Forest?'</a:t>
            </a:r>
          </a:p>
        </p:txBody>
      </p:sp>
      <p:sp>
        <p:nvSpPr>
          <p:cNvPr id="26" name="TextBox 25"/>
          <p:cNvSpPr txBox="1"/>
          <p:nvPr/>
        </p:nvSpPr>
        <p:spPr>
          <a:xfrm>
            <a:off x="6355080" y="5074920"/>
            <a:ext cx="5120640" cy="1005840"/>
          </a:xfrm>
          <a:prstGeom prst="rect">
            <a:avLst/>
          </a:prstGeom>
          <a:noFill/>
        </p:spPr>
        <p:txBody>
          <a:bodyPr wrap="square" anchor="t" lIns="45720" rIns="45720" tIns="18288" bIns="18288">
            <a:spAutoFit/>
          </a:bodyPr>
          <a:lstStyle/>
          <a:p>
            <a:pPr algn="l"/>
            <a:r>
              <a:rPr sz="1400" b="0" i="0">
                <a:solidFill>
                  <a:srgbClr val="111111"/>
                </a:solidFill>
                <a:latin typeface="Calibri"/>
              </a:rPr>
              <a:t>Individual explanations need interpretable time ratios; supervisor requirement; a test enforces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9692640" cy="731520"/>
          </a:xfrm>
          <a:prstGeom prst="rect">
            <a:avLst/>
          </a:prstGeom>
          <a:noFill/>
        </p:spPr>
        <p:txBody>
          <a:bodyPr wrap="square" anchor="ctr" lIns="45720" rIns="45720" tIns="18288" bIns="18288">
            <a:spAutoFit/>
          </a:bodyPr>
          <a:lstStyle/>
          <a:p>
            <a:pPr algn="l"/>
            <a:r>
              <a:rPr sz="2800" b="1" i="0">
                <a:solidFill>
                  <a:srgbClr val="FFFFFF"/>
                </a:solidFill>
                <a:latin typeface="Calibri"/>
              </a:rPr>
              <a:t>Backup: key numbers</a:t>
            </a:r>
          </a:p>
        </p:txBody>
      </p:sp>
      <p:sp>
        <p:nvSpPr>
          <p:cNvPr id="5" name="Rounded Rectangle 4"/>
          <p:cNvSpPr/>
          <p:nvPr/>
        </p:nvSpPr>
        <p:spPr>
          <a:xfrm>
            <a:off x="10241280" y="292608"/>
            <a:ext cx="1691640" cy="34747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0" y="292608"/>
            <a:ext cx="1691640" cy="347472"/>
          </a:xfrm>
          <a:prstGeom prst="rect">
            <a:avLst/>
          </a:prstGeom>
          <a:noFill/>
        </p:spPr>
        <p:txBody>
          <a:bodyPr wrap="square" anchor="ctr" lIns="45720" rIns="45720" tIns="18288" bIns="18288">
            <a:spAutoFit/>
          </a:bodyPr>
          <a:lstStyle/>
          <a:p>
            <a:pPr algn="ctr"/>
            <a:r>
              <a:rPr sz="1200" b="1" i="0">
                <a:solidFill>
                  <a:srgbClr val="FFFFFF"/>
                </a:solidFill>
                <a:latin typeface="Calibri"/>
              </a:rPr>
              <a:t>BACKUP</a:t>
            </a:r>
          </a:p>
        </p:txBody>
      </p:sp>
      <p:sp>
        <p:nvSpPr>
          <p:cNvPr id="7" name="TextBox 6"/>
          <p:cNvSpPr txBox="1"/>
          <p:nvPr/>
        </p:nvSpPr>
        <p:spPr>
          <a:xfrm>
            <a:off x="411480" y="6492240"/>
            <a:ext cx="8229600" cy="274320"/>
          </a:xfrm>
          <a:prstGeom prst="rect">
            <a:avLst/>
          </a:prstGeom>
          <a:noFill/>
        </p:spPr>
        <p:txBody>
          <a:bodyPr wrap="square" anchor="t" lIns="45720" rIns="45720" tIns="18288" bIns="18288">
            <a:spAutoFit/>
          </a:bodyPr>
          <a:lstStyle/>
          <a:p>
            <a:pPr algn="l"/>
            <a:r>
              <a:rPr sz="1100" b="0" i="0">
                <a:solidFill>
                  <a:srgbClr val="55565A"/>
                </a:solidFill>
                <a:latin typeface="Calibri"/>
              </a:rPr>
              <a:t>M.S.F. Shazna  ·  Time to First IT Job  ·  NIBM / Coventry</a:t>
            </a:r>
          </a:p>
        </p:txBody>
      </p:sp>
      <p:sp>
        <p:nvSpPr>
          <p:cNvPr id="8" name="TextBox 7"/>
          <p:cNvSpPr txBox="1"/>
          <p:nvPr/>
        </p:nvSpPr>
        <p:spPr>
          <a:xfrm>
            <a:off x="10972800" y="6492240"/>
            <a:ext cx="822960" cy="274320"/>
          </a:xfrm>
          <a:prstGeom prst="rect">
            <a:avLst/>
          </a:prstGeom>
          <a:noFill/>
        </p:spPr>
        <p:txBody>
          <a:bodyPr wrap="square" anchor="t" lIns="45720" rIns="45720" tIns="18288" bIns="18288">
            <a:spAutoFit/>
          </a:bodyPr>
          <a:lstStyle/>
          <a:p>
            <a:pPr algn="r"/>
            <a:r>
              <a:rPr sz="1100" b="1" i="0">
                <a:solidFill>
                  <a:srgbClr val="55565A"/>
                </a:solidFill>
                <a:latin typeface="Calibri"/>
              </a:rPr>
              <a:t>34</a:t>
            </a:r>
          </a:p>
        </p:txBody>
      </p:sp>
      <p:graphicFrame>
        <p:nvGraphicFramePr>
          <p:cNvPr id="9" name="Table 8"/>
          <p:cNvGraphicFramePr>
            <a:graphicFrameLocks noGrp="1"/>
          </p:cNvGraphicFramePr>
          <p:nvPr/>
        </p:nvGraphicFramePr>
        <p:xfrm>
          <a:off x="548640" y="1234440"/>
          <a:ext cx="11064236" cy="4535424"/>
        </p:xfrm>
        <a:graphic>
          <a:graphicData uri="http://schemas.openxmlformats.org/drawingml/2006/table">
            <a:tbl>
              <a:tblPr firstRow="1" bandRow="1">
                <a:tableStyleId>{5C22544A-7EE6-4342-B048-85BDC9FD1C3A}</a:tableStyleId>
              </a:tblPr>
              <a:tblGrid>
                <a:gridCol w="2926079"/>
                <a:gridCol w="3200399"/>
                <a:gridCol w="2377439"/>
                <a:gridCol w="2560319"/>
              </a:tblGrid>
              <a:tr h="566928">
                <a:tc>
                  <a:txBody>
                    <a:bodyPr wrap="square"/>
                    <a:lstStyle/>
                    <a:p>
                      <a:pPr algn="l"/>
                      <a:r>
                        <a:rPr sz="1500" b="1">
                          <a:solidFill>
                            <a:srgbClr val="FFFFFF"/>
                          </a:solidFill>
                          <a:latin typeface="Calibri"/>
                        </a:rPr>
                        <a:t>Measure</a:t>
                      </a:r>
                    </a:p>
                  </a:txBody>
                  <a:tcPr marL="73152" marR="73152" anchor="ctr">
                    <a:solidFill>
                      <a:srgbClr val="0D366B"/>
                    </a:solidFill>
                  </a:tcPr>
                </a:tc>
                <a:tc>
                  <a:txBody>
                    <a:bodyPr wrap="square"/>
                    <a:lstStyle/>
                    <a:p>
                      <a:pPr algn="ctr"/>
                      <a:r>
                        <a:rPr sz="1500" b="1">
                          <a:solidFill>
                            <a:srgbClr val="FFFFFF"/>
                          </a:solidFill>
                          <a:latin typeface="Calibri"/>
                        </a:rPr>
                        <a:t>Value</a:t>
                      </a:r>
                    </a:p>
                  </a:txBody>
                  <a:tcPr marL="73152" marR="73152" anchor="ctr">
                    <a:solidFill>
                      <a:srgbClr val="0D366B"/>
                    </a:solidFill>
                  </a:tcPr>
                </a:tc>
                <a:tc>
                  <a:txBody>
                    <a:bodyPr wrap="square"/>
                    <a:lstStyle/>
                    <a:p>
                      <a:pPr algn="ctr"/>
                      <a:r>
                        <a:rPr sz="1500" b="1">
                          <a:solidFill>
                            <a:srgbClr val="FFFFFF"/>
                          </a:solidFill>
                          <a:latin typeface="Calibri"/>
                        </a:rPr>
                        <a:t>Measure</a:t>
                      </a:r>
                    </a:p>
                  </a:txBody>
                  <a:tcPr marL="73152" marR="73152" anchor="ctr">
                    <a:solidFill>
                      <a:srgbClr val="0D366B"/>
                    </a:solidFill>
                  </a:tcPr>
                </a:tc>
                <a:tc>
                  <a:txBody>
                    <a:bodyPr wrap="square"/>
                    <a:lstStyle/>
                    <a:p>
                      <a:pPr algn="ctr"/>
                      <a:r>
                        <a:rPr sz="1500" b="1">
                          <a:solidFill>
                            <a:srgbClr val="FFFFFF"/>
                          </a:solidFill>
                          <a:latin typeface="Calibri"/>
                        </a:rPr>
                        <a:t>Value</a:t>
                      </a:r>
                    </a:p>
                  </a:txBody>
                  <a:tcPr marL="73152" marR="73152" anchor="ctr">
                    <a:solidFill>
                      <a:srgbClr val="0D366B"/>
                    </a:solidFill>
                  </a:tcPr>
                </a:tc>
              </a:tr>
              <a:tr h="566928">
                <a:tc>
                  <a:txBody>
                    <a:bodyPr wrap="square"/>
                    <a:lstStyle/>
                    <a:p>
                      <a:pPr algn="l"/>
                      <a:r>
                        <a:rPr sz="1500" b="1">
                          <a:solidFill>
                            <a:srgbClr val="111111"/>
                          </a:solidFill>
                          <a:latin typeface="Calibri"/>
                        </a:rPr>
                        <a:t>Graduates / employers / ads</a:t>
                      </a:r>
                    </a:p>
                  </a:txBody>
                  <a:tcPr marL="73152" marR="73152" anchor="ctr">
                    <a:solidFill>
                      <a:srgbClr val="FFFFFF"/>
                    </a:solidFill>
                  </a:tcPr>
                </a:tc>
                <a:tc>
                  <a:txBody>
                    <a:bodyPr wrap="square"/>
                    <a:lstStyle/>
                    <a:p>
                      <a:pPr algn="ctr"/>
                      <a:r>
                        <a:rPr sz="1500" b="0">
                          <a:solidFill>
                            <a:srgbClr val="111111"/>
                          </a:solidFill>
                          <a:latin typeface="Calibri"/>
                        </a:rPr>
                        <a:t>1,175 / 245 / 324</a:t>
                      </a:r>
                    </a:p>
                  </a:txBody>
                  <a:tcPr marL="73152" marR="73152" anchor="ctr">
                    <a:solidFill>
                      <a:srgbClr val="FFFFFF"/>
                    </a:solidFill>
                  </a:tcPr>
                </a:tc>
                <a:tc>
                  <a:txBody>
                    <a:bodyPr wrap="square"/>
                    <a:lstStyle/>
                    <a:p>
                      <a:pPr algn="ctr"/>
                      <a:r>
                        <a:rPr sz="1500" b="0">
                          <a:solidFill>
                            <a:srgbClr val="111111"/>
                          </a:solidFill>
                          <a:latin typeface="Calibri"/>
                        </a:rPr>
                        <a:t>Split</a:t>
                      </a:r>
                    </a:p>
                  </a:txBody>
                  <a:tcPr marL="73152" marR="73152" anchor="ctr">
                    <a:solidFill>
                      <a:srgbClr val="FFFFFF"/>
                    </a:solidFill>
                  </a:tcPr>
                </a:tc>
                <a:tc>
                  <a:txBody>
                    <a:bodyPr wrap="square"/>
                    <a:lstStyle/>
                    <a:p>
                      <a:pPr algn="ctr"/>
                      <a:r>
                        <a:rPr sz="1500" b="0">
                          <a:solidFill>
                            <a:srgbClr val="111111"/>
                          </a:solidFill>
                          <a:latin typeface="Calibri"/>
                        </a:rPr>
                        <a:t>620 / 133 / 132</a:t>
                      </a:r>
                    </a:p>
                  </a:txBody>
                  <a:tcPr marL="73152" marR="73152" anchor="ctr">
                    <a:solidFill>
                      <a:srgbClr val="FFFFFF"/>
                    </a:solidFill>
                  </a:tcPr>
                </a:tc>
              </a:tr>
              <a:tr h="566928">
                <a:tc>
                  <a:txBody>
                    <a:bodyPr wrap="square"/>
                    <a:lstStyle/>
                    <a:p>
                      <a:pPr algn="l"/>
                      <a:r>
                        <a:rPr sz="1500" b="1">
                          <a:solidFill>
                            <a:srgbClr val="111111"/>
                          </a:solidFill>
                          <a:latin typeface="Calibri"/>
                        </a:rPr>
                        <a:t>Modelled graduates</a:t>
                      </a:r>
                    </a:p>
                  </a:txBody>
                  <a:tcPr marL="73152" marR="73152" anchor="ctr">
                    <a:solidFill>
                      <a:srgbClr val="EEF3FA"/>
                    </a:solidFill>
                  </a:tcPr>
                </a:tc>
                <a:tc>
                  <a:txBody>
                    <a:bodyPr wrap="square"/>
                    <a:lstStyle/>
                    <a:p>
                      <a:pPr algn="ctr"/>
                      <a:r>
                        <a:rPr sz="1500" b="0">
                          <a:solidFill>
                            <a:srgbClr val="111111"/>
                          </a:solidFill>
                          <a:latin typeface="Calibri"/>
                        </a:rPr>
                        <a:t>885 (667 found a job, 218 searching)</a:t>
                      </a:r>
                    </a:p>
                  </a:txBody>
                  <a:tcPr marL="73152" marR="73152" anchor="ctr">
                    <a:solidFill>
                      <a:srgbClr val="EEF3FA"/>
                    </a:solidFill>
                  </a:tcPr>
                </a:tc>
                <a:tc>
                  <a:txBody>
                    <a:bodyPr wrap="square"/>
                    <a:lstStyle/>
                    <a:p>
                      <a:pPr algn="ctr"/>
                      <a:r>
                        <a:rPr sz="1500" b="0">
                          <a:solidFill>
                            <a:srgbClr val="111111"/>
                          </a:solidFill>
                          <a:latin typeface="Calibri"/>
                        </a:rPr>
                        <a:t>Selected model</a:t>
                      </a:r>
                    </a:p>
                  </a:txBody>
                  <a:tcPr marL="73152" marR="73152" anchor="ctr">
                    <a:solidFill>
                      <a:srgbClr val="EEF3FA"/>
                    </a:solidFill>
                  </a:tcPr>
                </a:tc>
                <a:tc>
                  <a:txBody>
                    <a:bodyPr wrap="square"/>
                    <a:lstStyle/>
                    <a:p>
                      <a:pPr algn="ctr"/>
                      <a:r>
                        <a:rPr sz="1500" b="0">
                          <a:solidFill>
                            <a:srgbClr val="111111"/>
                          </a:solidFill>
                          <a:latin typeface="Calibri"/>
                        </a:rPr>
                        <a:t>AFT Log-Normal</a:t>
                      </a:r>
                    </a:p>
                  </a:txBody>
                  <a:tcPr marL="73152" marR="73152" anchor="ctr">
                    <a:solidFill>
                      <a:srgbClr val="EEF3FA"/>
                    </a:solidFill>
                  </a:tcPr>
                </a:tc>
              </a:tr>
              <a:tr h="566928">
                <a:tc>
                  <a:txBody>
                    <a:bodyPr wrap="square"/>
                    <a:lstStyle/>
                    <a:p>
                      <a:pPr algn="l"/>
                      <a:r>
                        <a:rPr sz="1500" b="1">
                          <a:solidFill>
                            <a:srgbClr val="111111"/>
                          </a:solidFill>
                          <a:latin typeface="Calibri"/>
                        </a:rPr>
                        <a:t>Validation Uno's C (chose the model)</a:t>
                      </a:r>
                    </a:p>
                  </a:txBody>
                  <a:tcPr marL="73152" marR="73152" anchor="ctr">
                    <a:solidFill>
                      <a:srgbClr val="FFFFFF"/>
                    </a:solidFill>
                  </a:tcPr>
                </a:tc>
                <a:tc>
                  <a:txBody>
                    <a:bodyPr wrap="square"/>
                    <a:lstStyle/>
                    <a:p>
                      <a:pPr algn="ctr"/>
                      <a:r>
                        <a:rPr sz="1500" b="0">
                          <a:solidFill>
                            <a:srgbClr val="111111"/>
                          </a:solidFill>
                          <a:latin typeface="Calibri"/>
                        </a:rPr>
                        <a:t>0.693 (0.636-0.745)</a:t>
                      </a:r>
                    </a:p>
                  </a:txBody>
                  <a:tcPr marL="73152" marR="73152" anchor="ctr">
                    <a:solidFill>
                      <a:srgbClr val="FFFFFF"/>
                    </a:solidFill>
                  </a:tcPr>
                </a:tc>
                <a:tc>
                  <a:txBody>
                    <a:bodyPr wrap="square"/>
                    <a:lstStyle/>
                    <a:p>
                      <a:pPr algn="ctr"/>
                      <a:r>
                        <a:rPr sz="1500" b="0">
                          <a:solidFill>
                            <a:srgbClr val="111111"/>
                          </a:solidFill>
                          <a:latin typeface="Calibri"/>
                        </a:rPr>
                        <a:t>TEST Uno's C (headline, say 0.62)</a:t>
                      </a:r>
                    </a:p>
                  </a:txBody>
                  <a:tcPr marL="73152" marR="73152" anchor="ctr">
                    <a:solidFill>
                      <a:srgbClr val="FFFFFF"/>
                    </a:solidFill>
                  </a:tcPr>
                </a:tc>
                <a:tc>
                  <a:txBody>
                    <a:bodyPr wrap="square"/>
                    <a:lstStyle/>
                    <a:p>
                      <a:pPr algn="ctr"/>
                      <a:r>
                        <a:rPr sz="1500" b="0">
                          <a:solidFill>
                            <a:srgbClr val="111111"/>
                          </a:solidFill>
                          <a:latin typeface="Calibri"/>
                        </a:rPr>
                        <a:t>0.619 (0.557-0.683)</a:t>
                      </a:r>
                    </a:p>
                  </a:txBody>
                  <a:tcPr marL="73152" marR="73152" anchor="ctr">
                    <a:solidFill>
                      <a:srgbClr val="FFFFFF"/>
                    </a:solidFill>
                  </a:tcPr>
                </a:tc>
              </a:tr>
              <a:tr h="566928">
                <a:tc>
                  <a:txBody>
                    <a:bodyPr wrap="square"/>
                    <a:lstStyle/>
                    <a:p>
                      <a:pPr algn="l"/>
                      <a:r>
                        <a:rPr sz="1500" b="1">
                          <a:solidFill>
                            <a:srgbClr val="111111"/>
                          </a:solidFill>
                          <a:latin typeface="Calibri"/>
                        </a:rPr>
                        <a:t>Test Harrell's C / IBS</a:t>
                      </a:r>
                    </a:p>
                  </a:txBody>
                  <a:tcPr marL="73152" marR="73152" anchor="ctr">
                    <a:solidFill>
                      <a:srgbClr val="EEF3FA"/>
                    </a:solidFill>
                  </a:tcPr>
                </a:tc>
                <a:tc>
                  <a:txBody>
                    <a:bodyPr wrap="square"/>
                    <a:lstStyle/>
                    <a:p>
                      <a:pPr algn="ctr"/>
                      <a:r>
                        <a:rPr sz="1500" b="0">
                          <a:solidFill>
                            <a:srgbClr val="111111"/>
                          </a:solidFill>
                          <a:latin typeface="Calibri"/>
                        </a:rPr>
                        <a:t>0.626 / 0.167 (KM 0.164)</a:t>
                      </a:r>
                    </a:p>
                  </a:txBody>
                  <a:tcPr marL="73152" marR="73152" anchor="ctr">
                    <a:solidFill>
                      <a:srgbClr val="EEF3FA"/>
                    </a:solidFill>
                  </a:tcPr>
                </a:tc>
                <a:tc>
                  <a:txBody>
                    <a:bodyPr wrap="square"/>
                    <a:lstStyle/>
                    <a:p>
                      <a:pPr algn="ctr"/>
                      <a:r>
                        <a:rPr sz="1500" b="0">
                          <a:solidFill>
                            <a:srgbClr val="111111"/>
                          </a:solidFill>
                          <a:latin typeface="Calibri"/>
                        </a:rPr>
                        <a:t>ChatGPT Uno's C</a:t>
                      </a:r>
                    </a:p>
                  </a:txBody>
                  <a:tcPr marL="73152" marR="73152" anchor="ctr">
                    <a:solidFill>
                      <a:srgbClr val="EEF3FA"/>
                    </a:solidFill>
                  </a:tcPr>
                </a:tc>
                <a:tc>
                  <a:txBody>
                    <a:bodyPr wrap="square"/>
                    <a:lstStyle/>
                    <a:p>
                      <a:pPr algn="ctr"/>
                      <a:r>
                        <a:rPr sz="1500" b="0">
                          <a:solidFill>
                            <a:srgbClr val="111111"/>
                          </a:solidFill>
                          <a:latin typeface="Calibri"/>
                        </a:rPr>
                        <a:t>0.539 (diff 0.081)</a:t>
                      </a:r>
                    </a:p>
                  </a:txBody>
                  <a:tcPr marL="73152" marR="73152" anchor="ctr">
                    <a:solidFill>
                      <a:srgbClr val="EEF3FA"/>
                    </a:solidFill>
                  </a:tcPr>
                </a:tc>
              </a:tr>
              <a:tr h="566928">
                <a:tc>
                  <a:txBody>
                    <a:bodyPr wrap="square"/>
                    <a:lstStyle/>
                    <a:p>
                      <a:pPr algn="l"/>
                      <a:r>
                        <a:rPr sz="1500" b="1">
                          <a:solidFill>
                            <a:srgbClr val="111111"/>
                          </a:solidFill>
                          <a:latin typeface="Calibri"/>
                        </a:rPr>
                        <a:t>GPA / internship time ratio</a:t>
                      </a:r>
                    </a:p>
                  </a:txBody>
                  <a:tcPr marL="73152" marR="73152" anchor="ctr">
                    <a:solidFill>
                      <a:srgbClr val="FFFFFF"/>
                    </a:solidFill>
                  </a:tcPr>
                </a:tc>
                <a:tc>
                  <a:txBody>
                    <a:bodyPr wrap="square"/>
                    <a:lstStyle/>
                    <a:p>
                      <a:pPr algn="ctr"/>
                      <a:r>
                        <a:rPr sz="1500" b="0">
                          <a:solidFill>
                            <a:srgbClr val="111111"/>
                          </a:solidFill>
                          <a:latin typeface="Calibri"/>
                        </a:rPr>
                        <a:t>0.80 / 0.84 per SD</a:t>
                      </a:r>
                    </a:p>
                  </a:txBody>
                  <a:tcPr marL="73152" marR="73152" anchor="ctr">
                    <a:solidFill>
                      <a:srgbClr val="FFFFFF"/>
                    </a:solidFill>
                  </a:tcPr>
                </a:tc>
                <a:tc>
                  <a:txBody>
                    <a:bodyPr wrap="square"/>
                    <a:lstStyle/>
                    <a:p>
                      <a:pPr algn="ctr"/>
                      <a:r>
                        <a:rPr sz="1500" b="0">
                          <a:solidFill>
                            <a:srgbClr val="111111"/>
                          </a:solidFill>
                          <a:latin typeface="Calibri"/>
                        </a:rPr>
                        <a:t>Events per parameter</a:t>
                      </a:r>
                    </a:p>
                  </a:txBody>
                  <a:tcPr marL="73152" marR="73152" anchor="ctr">
                    <a:solidFill>
                      <a:srgbClr val="FFFFFF"/>
                    </a:solidFill>
                  </a:tcPr>
                </a:tc>
                <a:tc>
                  <a:txBody>
                    <a:bodyPr wrap="square"/>
                    <a:lstStyle/>
                    <a:p>
                      <a:pPr algn="ctr"/>
                      <a:r>
                        <a:rPr sz="1500" b="0">
                          <a:solidFill>
                            <a:srgbClr val="111111"/>
                          </a:solidFill>
                          <a:latin typeface="Calibri"/>
                        </a:rPr>
                        <a:t>29.2</a:t>
                      </a:r>
                    </a:p>
                  </a:txBody>
                  <a:tcPr marL="73152" marR="73152" anchor="ctr">
                    <a:solidFill>
                      <a:srgbClr val="FFFFFF"/>
                    </a:solidFill>
                  </a:tcPr>
                </a:tc>
              </a:tr>
              <a:tr h="566928">
                <a:tc>
                  <a:txBody>
                    <a:bodyPr wrap="square"/>
                    <a:lstStyle/>
                    <a:p>
                      <a:pPr algn="l"/>
                      <a:r>
                        <a:rPr sz="1500" b="1">
                          <a:solidFill>
                            <a:srgbClr val="111111"/>
                          </a:solidFill>
                          <a:latin typeface="Calibri"/>
                        </a:rPr>
                        <a:t>Found a job by 3/6/12/24 m</a:t>
                      </a:r>
                    </a:p>
                  </a:txBody>
                  <a:tcPr marL="73152" marR="73152" anchor="ctr">
                    <a:solidFill>
                      <a:srgbClr val="EEF3FA"/>
                    </a:solidFill>
                  </a:tcPr>
                </a:tc>
                <a:tc>
                  <a:txBody>
                    <a:bodyPr wrap="square"/>
                    <a:lstStyle/>
                    <a:p>
                      <a:pPr algn="ctr"/>
                      <a:r>
                        <a:rPr sz="1500" b="0">
                          <a:solidFill>
                            <a:srgbClr val="111111"/>
                          </a:solidFill>
                          <a:latin typeface="Calibri"/>
                        </a:rPr>
                        <a:t>43.6 / 67.0 / 80.9 / 89.8%</a:t>
                      </a:r>
                    </a:p>
                  </a:txBody>
                  <a:tcPr marL="73152" marR="73152" anchor="ctr">
                    <a:solidFill>
                      <a:srgbClr val="EEF3FA"/>
                    </a:solidFill>
                  </a:tcPr>
                </a:tc>
                <a:tc>
                  <a:txBody>
                    <a:bodyPr wrap="square"/>
                    <a:lstStyle/>
                    <a:p>
                      <a:pPr algn="ctr"/>
                      <a:r>
                        <a:rPr sz="1500" b="0">
                          <a:solidFill>
                            <a:srgbClr val="111111"/>
                          </a:solidFill>
                          <a:latin typeface="Calibri"/>
                        </a:rPr>
                        <a:t>Median time</a:t>
                      </a:r>
                    </a:p>
                  </a:txBody>
                  <a:tcPr marL="73152" marR="73152" anchor="ctr">
                    <a:solidFill>
                      <a:srgbClr val="EEF3FA"/>
                    </a:solidFill>
                  </a:tcPr>
                </a:tc>
                <a:tc>
                  <a:txBody>
                    <a:bodyPr wrap="square"/>
                    <a:lstStyle/>
                    <a:p>
                      <a:pPr algn="ctr"/>
                      <a:r>
                        <a:rPr sz="1500" b="0">
                          <a:solidFill>
                            <a:srgbClr val="111111"/>
                          </a:solidFill>
                          <a:latin typeface="Calibri"/>
                        </a:rPr>
                        <a:t>4 months</a:t>
                      </a:r>
                    </a:p>
                  </a:txBody>
                  <a:tcPr marL="73152" marR="73152" anchor="ctr">
                    <a:solidFill>
                      <a:srgbClr val="EEF3FA"/>
                    </a:solidFill>
                  </a:tcPr>
                </a:tc>
              </a:tr>
              <a:tr h="566928">
                <a:tc>
                  <a:txBody>
                    <a:bodyPr wrap="square"/>
                    <a:lstStyle/>
                    <a:p>
                      <a:pPr algn="l"/>
                      <a:r>
                        <a:rPr sz="1500" b="1">
                          <a:solidFill>
                            <a:srgbClr val="111111"/>
                          </a:solidFill>
                          <a:latin typeface="Calibri"/>
                        </a:rPr>
                        <a:t>SUS</a:t>
                      </a:r>
                    </a:p>
                  </a:txBody>
                  <a:tcPr marL="73152" marR="73152" anchor="ctr">
                    <a:solidFill>
                      <a:srgbClr val="FFFFFF"/>
                    </a:solidFill>
                  </a:tcPr>
                </a:tc>
                <a:tc>
                  <a:txBody>
                    <a:bodyPr wrap="square"/>
                    <a:lstStyle/>
                    <a:p>
                      <a:pPr algn="ctr"/>
                      <a:r>
                        <a:rPr sz="1500" b="0">
                          <a:solidFill>
                            <a:srgbClr val="111111"/>
                          </a:solidFill>
                          <a:latin typeface="Calibri"/>
                        </a:rPr>
                        <a:t>76.3 (69.5-83.0), 10/12 ≥ 68</a:t>
                      </a:r>
                    </a:p>
                  </a:txBody>
                  <a:tcPr marL="73152" marR="73152" anchor="ctr">
                    <a:solidFill>
                      <a:srgbClr val="FFFFFF"/>
                    </a:solidFill>
                  </a:tcPr>
                </a:tc>
                <a:tc>
                  <a:txBody>
                    <a:bodyPr wrap="square"/>
                    <a:lstStyle/>
                    <a:p>
                      <a:pPr algn="ctr"/>
                      <a:r>
                        <a:rPr sz="1500" b="0">
                          <a:solidFill>
                            <a:srgbClr val="111111"/>
                          </a:solidFill>
                          <a:latin typeface="Calibri"/>
                        </a:rPr>
                        <a:t>Cochran target</a:t>
                      </a:r>
                    </a:p>
                  </a:txBody>
                  <a:tcPr marL="73152" marR="73152" anchor="ctr">
                    <a:solidFill>
                      <a:srgbClr val="FFFFFF"/>
                    </a:solidFill>
                  </a:tcPr>
                </a:tc>
                <a:tc>
                  <a:txBody>
                    <a:bodyPr wrap="square"/>
                    <a:lstStyle/>
                    <a:p>
                      <a:pPr algn="ctr"/>
                      <a:r>
                        <a:rPr sz="1500" b="0">
                          <a:solidFill>
                            <a:srgbClr val="111111"/>
                          </a:solidFill>
                          <a:latin typeface="Calibri"/>
                        </a:rPr>
                        <a:t>n = 384</a:t>
                      </a:r>
                    </a:p>
                  </a:txBody>
                  <a:tcPr marL="73152" marR="73152"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